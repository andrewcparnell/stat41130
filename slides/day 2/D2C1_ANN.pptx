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87" r:id="rId5"/>
    <p:sldId id="284" r:id="rId6"/>
    <p:sldId id="260" r:id="rId7"/>
    <p:sldId id="261" r:id="rId8"/>
    <p:sldId id="264" r:id="rId9"/>
    <p:sldId id="288" r:id="rId10"/>
    <p:sldId id="265" r:id="rId11"/>
    <p:sldId id="283" r:id="rId12"/>
    <p:sldId id="270" r:id="rId13"/>
    <p:sldId id="271" r:id="rId14"/>
    <p:sldId id="275" r:id="rId15"/>
    <p:sldId id="277" r:id="rId16"/>
    <p:sldId id="278" r:id="rId17"/>
    <p:sldId id="289" r:id="rId18"/>
    <p:sldId id="280" r:id="rId19"/>
    <p:sldId id="281" r:id="rId20"/>
    <p:sldId id="28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55"/>
    <p:restoredTop sz="94718"/>
  </p:normalViewPr>
  <p:slideViewPr>
    <p:cSldViewPr snapToGrid="0">
      <p:cViewPr varScale="1">
        <p:scale>
          <a:sx n="113" d="100"/>
          <a:sy n="113" d="100"/>
        </p:scale>
        <p:origin x="1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In our network, if a specific input x results in z_1 = -2.5 and z_2 = 1.8, what are the values of the hidden activations h_1 and h_2?</a:t>
            </a:r>
          </a:p>
          <a:p>
            <a:r>
              <a:rPr lang="en-US"/>
              <a:t>https://www.polleverywhere.com/multiple_choice_polls/G2QogxeXGHOTBWTu8yCa0?state=opened&amp;flow=Default&amp;onscreen=persist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67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If our target y = 1 and the network predicts hat{y} = 0.99, what will happen to the magnitude of the weight updates in the next step?</a:t>
            </a:r>
          </a:p>
          <a:p>
            <a:r>
              <a:rPr lang="en-US"/>
              <a:t>https://www.polleverywhere.com/multiple_choice_polls/JZznzugwkVdpZNiwRE2Af?state=opened&amp;flow=Default&amp;onscreen=persist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873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735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Suppose we are in the middle of a forward pass. The input x and current weights result in a pre-activation at h_2 of z_2 = -1.5. Click on the single node that is preventing any gradient information from flowing back to its connected input weights</a:t>
            </a:r>
          </a:p>
          <a:p>
            <a:r>
              <a:rPr lang="en-US"/>
              <a:t>https://www.polleverywhere.com/clickable_images/yRk7j8s6JV63O3Z1SD3Is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160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18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18 February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18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919C1-44F1-12A8-FEF4-FAD54BCBD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41344-4D35-F145-B477-F6239A2130EE}" type="datetime3">
              <a:rPr lang="en-IE" smtClean="0"/>
              <a:t>18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A09E1-70FE-9852-483A-38FAC966D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96900-CA2A-2D43-9641-C5C0DD2D22D3}" type="datetime3">
              <a:rPr lang="en-IE" smtClean="0"/>
              <a:t>18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CDAEB-ECE1-93D0-4968-B0F78E228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A910-F8E0-D541-83F2-2CFD6E718762}" type="datetime3">
              <a:rPr lang="en-IE" smtClean="0"/>
              <a:t>18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C9051-66F9-6E83-2AFF-2DEEFE390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45B59-D3F3-5B43-BDD1-6C7B7CFD2AA6}" type="datetime3">
              <a:rPr lang="en-IE" smtClean="0"/>
              <a:t>18 February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D247-1B5B-5B1D-21E6-0237F292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DDCF-3644-8C44-AE36-2C59F897E125}" type="datetime3">
              <a:rPr lang="en-IE" smtClean="0"/>
              <a:t>18 February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FEAF1-3ED0-FCAD-E69C-EC71DAA88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FBAD22-D651-FB67-8C83-4CAF9A0A3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F986FE-4B27-A6DB-9980-9CBD01B42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8D5F-B017-3B47-9775-DA319F6143FF}" type="datetime3">
              <a:rPr lang="en-IE" smtClean="0"/>
              <a:t>18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B662D-1E95-F13B-D1F5-322050B10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Andrew Parnell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6EB14-149D-65D0-279D-F0479D9E1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983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2D11B-86E8-4721-E4FB-781C5E6FA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18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B28D5F-B017-3B47-9775-DA319F6143FF}" type="datetime3">
              <a:rPr lang="en-IE" smtClean="0"/>
              <a:t>18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Andrew Parnell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0.png"/><Relationship Id="rId7" Type="http://schemas.openxmlformats.org/officeDocument/2006/relationships/image" Target="../media/image8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0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0.png"/><Relationship Id="rId9" Type="http://schemas.openxmlformats.org/officeDocument/2006/relationships/image" Target="../media/image10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13" Type="http://schemas.openxmlformats.org/officeDocument/2006/relationships/image" Target="../media/image24.png"/><Relationship Id="rId18" Type="http://schemas.openxmlformats.org/officeDocument/2006/relationships/image" Target="../media/image29.png"/><Relationship Id="rId3" Type="http://schemas.openxmlformats.org/officeDocument/2006/relationships/image" Target="../media/image15.png"/><Relationship Id="rId21" Type="http://schemas.openxmlformats.org/officeDocument/2006/relationships/image" Target="../media/image31.png"/><Relationship Id="rId7" Type="http://schemas.openxmlformats.org/officeDocument/2006/relationships/image" Target="../media/image19.png"/><Relationship Id="rId12" Type="http://schemas.openxmlformats.org/officeDocument/2006/relationships/image" Target="../media/image23.png"/><Relationship Id="rId17" Type="http://schemas.openxmlformats.org/officeDocument/2006/relationships/image" Target="../media/image28.png"/><Relationship Id="rId2" Type="http://schemas.openxmlformats.org/officeDocument/2006/relationships/image" Target="../media/image140.png"/><Relationship Id="rId16" Type="http://schemas.openxmlformats.org/officeDocument/2006/relationships/image" Target="../media/image27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3: Training a Simple Neural Network by Hand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a Neural Network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Today's goal: understand how </a:t>
            </a:r>
            <a:r>
              <a:rPr lang="en-IE" dirty="0"/>
              <a:t>NNs</a:t>
            </a:r>
            <a:r>
              <a:rPr dirty="0"/>
              <a:t> learn</a:t>
            </a:r>
          </a:p>
          <a:p>
            <a:r>
              <a:rPr lang="en-IE" dirty="0"/>
              <a:t>Walk</a:t>
            </a:r>
            <a:r>
              <a:rPr dirty="0"/>
              <a:t> through forward and backward passes</a:t>
            </a:r>
          </a:p>
          <a:p>
            <a:r>
              <a:rPr lang="en-IE" dirty="0"/>
              <a:t>Update</a:t>
            </a:r>
            <a:r>
              <a:rPr dirty="0"/>
              <a:t> weights over a few steps (epochs)</a:t>
            </a:r>
          </a:p>
          <a:p>
            <a:r>
              <a:rPr dirty="0"/>
              <a:t>Manual learning = strong intuition for automation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4A7B5-2849-0FF8-EBC6-7C0C1D19F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dirty="0"/>
              <a:t>The Network Structure</a:t>
            </a:r>
            <a:r>
              <a:rPr lang="en-IE" dirty="0"/>
              <a:t> 3-2-1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2648" y="2584058"/>
                <a:ext cx="4621553" cy="3159018"/>
              </a:xfrm>
            </p:spPr>
            <p:txBody>
              <a:bodyPr>
                <a:normAutofit/>
              </a:bodyPr>
              <a:lstStyle/>
              <a:p>
                <a:r>
                  <a:rPr lang="en-IE" sz="1800" dirty="0"/>
                  <a:t>3 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1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8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IE" sz="1800" dirty="0"/>
              </a:p>
              <a:p>
                <a:r>
                  <a:rPr lang="en-IE" sz="1800" dirty="0"/>
                  <a:t>(e.g. temperature, rainfall, humidity)</a:t>
                </a:r>
                <a:endParaRPr lang="ar-AE" sz="1800" dirty="0"/>
              </a:p>
              <a:p>
                <a:r>
                  <a:rPr lang="en-IE" sz="1800" dirty="0"/>
                  <a:t>1 hidden layer: 2 neurons with </a:t>
                </a:r>
                <a:r>
                  <a:rPr lang="en-IE" sz="1800" dirty="0" err="1"/>
                  <a:t>ReLU</a:t>
                </a:r>
                <a:r>
                  <a:rPr lang="en-IE" sz="1800" dirty="0"/>
                  <a:t> activations</a:t>
                </a:r>
              </a:p>
              <a:p>
                <a:r>
                  <a:rPr lang="en-IE" sz="1800" dirty="0"/>
                  <a:t>1 output with Sigmoid activation</a:t>
                </a:r>
              </a:p>
              <a:p>
                <a:r>
                  <a:rPr lang="en-IE" sz="1800" dirty="0"/>
                  <a:t>(e.g. probability of flooding)</a:t>
                </a:r>
              </a:p>
              <a:p>
                <a:r>
                  <a:rPr lang="en-IE" sz="1800" dirty="0"/>
                  <a:t>Integer weights and biases for simplicity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2648" y="2584058"/>
                <a:ext cx="4621553" cy="3159018"/>
              </a:xfrm>
              <a:blipFill>
                <a:blip r:embed="rId2"/>
                <a:stretch>
                  <a:fillRect l="-822" t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0FE7F82-BEBB-4A74-830C-B8FAAB2BD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6529661-EACA-F8E1-D297-775A3CA6387B}"/>
                  </a:ext>
                </a:extLst>
              </p:cNvPr>
              <p:cNvSpPr/>
              <p:nvPr/>
            </p:nvSpPr>
            <p:spPr>
              <a:xfrm>
                <a:off x="5412658" y="1609983"/>
                <a:ext cx="678426" cy="67842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6529661-EACA-F8E1-D297-775A3CA638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1609983"/>
                <a:ext cx="678426" cy="67842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6C8CFEE-D74F-618C-CCBD-E80C54727F58}"/>
                  </a:ext>
                </a:extLst>
              </p:cNvPr>
              <p:cNvSpPr/>
              <p:nvPr/>
            </p:nvSpPr>
            <p:spPr>
              <a:xfrm>
                <a:off x="5412658" y="3244596"/>
                <a:ext cx="678426" cy="67842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6C8CFEE-D74F-618C-CCBD-E80C54727F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244596"/>
                <a:ext cx="678426" cy="67842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0483349-6794-896E-71F9-E2D068D8DC89}"/>
                  </a:ext>
                </a:extLst>
              </p:cNvPr>
              <p:cNvSpPr/>
              <p:nvPr/>
            </p:nvSpPr>
            <p:spPr>
              <a:xfrm>
                <a:off x="5417574" y="4879209"/>
                <a:ext cx="678426" cy="67842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0483349-6794-896E-71F9-E2D068D8DC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574" y="4879209"/>
                <a:ext cx="678426" cy="67842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C066B0-539A-C2D2-8AF9-5352CC891137}"/>
                  </a:ext>
                </a:extLst>
              </p:cNvPr>
              <p:cNvSpPr/>
              <p:nvPr/>
            </p:nvSpPr>
            <p:spPr>
              <a:xfrm>
                <a:off x="7920036" y="2381815"/>
                <a:ext cx="678426" cy="67842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FC066B0-539A-C2D2-8AF9-5352CC8911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36" y="2381815"/>
                <a:ext cx="678426" cy="67842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7D0E2BB-23B9-3AEF-E23C-B4116AD0F8EF}"/>
                  </a:ext>
                </a:extLst>
              </p:cNvPr>
              <p:cNvSpPr/>
              <p:nvPr/>
            </p:nvSpPr>
            <p:spPr>
              <a:xfrm>
                <a:off x="7920036" y="4107378"/>
                <a:ext cx="678426" cy="67842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7D0E2BB-23B9-3AEF-E23C-B4116AD0F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36" y="4107378"/>
                <a:ext cx="678426" cy="67842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34C29A4-E4D2-2D0F-C032-17B106035790}"/>
                  </a:ext>
                </a:extLst>
              </p:cNvPr>
              <p:cNvSpPr/>
              <p:nvPr/>
            </p:nvSpPr>
            <p:spPr>
              <a:xfrm>
                <a:off x="10756642" y="3244596"/>
                <a:ext cx="678426" cy="678426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34C29A4-E4D2-2D0F-C032-17B1060357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6642" y="3244596"/>
                <a:ext cx="678426" cy="678426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100714E-A20A-B882-0CB9-E2C0DFFCFBA0}"/>
              </a:ext>
            </a:extLst>
          </p:cNvPr>
          <p:cNvCxnSpPr>
            <a:cxnSpLocks/>
            <a:stCxn id="4" idx="6"/>
            <a:endCxn id="7" idx="1"/>
          </p:cNvCxnSpPr>
          <p:nvPr/>
        </p:nvCxnSpPr>
        <p:spPr>
          <a:xfrm>
            <a:off x="6091084" y="1949196"/>
            <a:ext cx="1928305" cy="531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4B8808-4657-06CE-9B11-5B43B77FA9F4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6091084" y="1949196"/>
            <a:ext cx="1928305" cy="2257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50455B7-5304-9109-307E-B4CC1A788C08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 flipV="1">
            <a:off x="6091084" y="2721028"/>
            <a:ext cx="1828952" cy="862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761320E-9684-04DC-3012-E2A02A5FFB15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6091084" y="3583809"/>
            <a:ext cx="1828952" cy="8627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6826A2-FA81-CEBC-9165-D2B3CFDBDBC5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6096000" y="2960888"/>
            <a:ext cx="1923389" cy="2257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85F0D0-B15B-1DAC-B872-1AD71274AA11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6096000" y="4686451"/>
            <a:ext cx="1923389" cy="531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997357-9325-BA12-7A24-A26B258F8ABA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8598462" y="2721028"/>
            <a:ext cx="2257533" cy="622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09F932-9C30-BC6A-D4B7-63DC2625659A}"/>
              </a:ext>
            </a:extLst>
          </p:cNvPr>
          <p:cNvCxnSpPr>
            <a:cxnSpLocks/>
            <a:stCxn id="9" idx="6"/>
            <a:endCxn id="10" idx="3"/>
          </p:cNvCxnSpPr>
          <p:nvPr/>
        </p:nvCxnSpPr>
        <p:spPr>
          <a:xfrm flipV="1">
            <a:off x="8598462" y="3823669"/>
            <a:ext cx="2257533" cy="622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280FC32-94ED-B9AF-B625-E855D072C2A4}"/>
                  </a:ext>
                </a:extLst>
              </p:cNvPr>
              <p:cNvSpPr txBox="1"/>
              <p:nvPr/>
            </p:nvSpPr>
            <p:spPr>
              <a:xfrm>
                <a:off x="10225548" y="4062200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280FC32-94ED-B9AF-B625-E855D072C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548" y="4062200"/>
                <a:ext cx="1779639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936336-335B-586F-2483-10977CE03ECD}"/>
                  </a:ext>
                </a:extLst>
              </p:cNvPr>
              <p:cNvSpPr txBox="1"/>
              <p:nvPr/>
            </p:nvSpPr>
            <p:spPr>
              <a:xfrm>
                <a:off x="7436236" y="4954772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936336-335B-586F-2483-10977CE03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6236" y="4954772"/>
                <a:ext cx="1779639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F6E41D0-EE0C-ED3C-E67D-6E28EBE49129}"/>
                  </a:ext>
                </a:extLst>
              </p:cNvPr>
              <p:cNvSpPr txBox="1"/>
              <p:nvPr/>
            </p:nvSpPr>
            <p:spPr>
              <a:xfrm>
                <a:off x="7436235" y="1899276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F6E41D0-EE0C-ED3C-E67D-6E28EBE49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6235" y="1899276"/>
                <a:ext cx="1779639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09CD5-0D27-C700-EF63-907A17D88F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B103A6-675A-6EB3-C4C7-96BAC7659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2C8D2-FA1C-474F-2FAF-9DAA037EC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8D5F-B017-3B47-9775-DA319F6143FF}" type="datetime3">
              <a:rPr lang="en-IE" smtClean="0"/>
              <a:t>18 February 2026</a:t>
            </a:fld>
            <a:endParaRPr lang="en-US" dirty="0"/>
          </a:p>
        </p:txBody>
      </p:sp>
      <p:pic>
        <p:nvPicPr>
          <p:cNvPr id="6" name="slide.url=https://www.polleverywhere.com/multiple_choice_polls/G2QogxeXGHOTBWTu8yCa0?state=opened&amp;flow=Default&amp;onscreen=persist">
            <a:extLst>
              <a:ext uri="{FF2B5EF4-FFF2-40B4-BE49-F238E27FC236}">
                <a16:creationId xmlns:a16="http://schemas.microsoft.com/office/drawing/2014/main" id="{F3CA5AB9-60E4-AD62-CD84-5F0BC4F59AE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09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52D46-41F7-C24B-8D15-AF127CC2C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00427A"/>
          </a:solidFill>
          <a:ln w="174625" cmpd="thinThick">
            <a:solidFill>
              <a:srgbClr val="009749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Now with weights!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C9BE8-9256-FA26-5E9B-5DE8D97E9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0257" y="6356350"/>
            <a:ext cx="56000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>
                <a:solidFill>
                  <a:srgbClr val="898989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rgbClr val="898989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D4B1013-FAA4-F262-DA8D-8B39355AE185}"/>
                  </a:ext>
                </a:extLst>
              </p:cNvPr>
              <p:cNvSpPr/>
              <p:nvPr/>
            </p:nvSpPr>
            <p:spPr>
              <a:xfrm>
                <a:off x="4267200" y="1455174"/>
                <a:ext cx="678426" cy="678426"/>
              </a:xfrm>
              <a:prstGeom prst="ellipse">
                <a:avLst/>
              </a:prstGeom>
              <a:solidFill>
                <a:srgbClr val="00427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D4B1013-FAA4-F262-DA8D-8B39355AE1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0" y="1455174"/>
                <a:ext cx="678426" cy="67842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A359A13-A0B7-6D4B-3EA9-8A0B3E517707}"/>
                  </a:ext>
                </a:extLst>
              </p:cNvPr>
              <p:cNvSpPr/>
              <p:nvPr/>
            </p:nvSpPr>
            <p:spPr>
              <a:xfrm>
                <a:off x="4267200" y="3089787"/>
                <a:ext cx="678426" cy="678426"/>
              </a:xfrm>
              <a:prstGeom prst="ellipse">
                <a:avLst/>
              </a:prstGeom>
              <a:solidFill>
                <a:srgbClr val="00427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A359A13-A0B7-6D4B-3EA9-8A0B3E5177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0" y="3089787"/>
                <a:ext cx="678426" cy="67842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D3DBCE7-2CA7-F0BB-D058-74D9218E2064}"/>
                  </a:ext>
                </a:extLst>
              </p:cNvPr>
              <p:cNvSpPr/>
              <p:nvPr/>
            </p:nvSpPr>
            <p:spPr>
              <a:xfrm>
                <a:off x="4272116" y="4724400"/>
                <a:ext cx="678426" cy="678426"/>
              </a:xfrm>
              <a:prstGeom prst="ellipse">
                <a:avLst/>
              </a:prstGeom>
              <a:solidFill>
                <a:srgbClr val="00427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D3DBCE7-2CA7-F0BB-D058-74D9218E20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2116" y="4724400"/>
                <a:ext cx="678426" cy="67842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4FBD487-E16E-F4CA-E137-8517812259D0}"/>
                  </a:ext>
                </a:extLst>
              </p:cNvPr>
              <p:cNvSpPr/>
              <p:nvPr/>
            </p:nvSpPr>
            <p:spPr>
              <a:xfrm>
                <a:off x="6774578" y="2227006"/>
                <a:ext cx="678426" cy="678426"/>
              </a:xfrm>
              <a:prstGeom prst="ellipse">
                <a:avLst/>
              </a:prstGeom>
              <a:solidFill>
                <a:srgbClr val="00974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4FBD487-E16E-F4CA-E137-8517812259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4578" y="2227006"/>
                <a:ext cx="678426" cy="67842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4B4E8D7-EEB8-328E-4227-96BB97D3970B}"/>
                  </a:ext>
                </a:extLst>
              </p:cNvPr>
              <p:cNvSpPr/>
              <p:nvPr/>
            </p:nvSpPr>
            <p:spPr>
              <a:xfrm>
                <a:off x="6774578" y="3952569"/>
                <a:ext cx="678426" cy="678426"/>
              </a:xfrm>
              <a:prstGeom prst="ellipse">
                <a:avLst/>
              </a:prstGeom>
              <a:solidFill>
                <a:srgbClr val="00974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4B4E8D7-EEB8-328E-4227-96BB97D397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4578" y="3952569"/>
                <a:ext cx="678426" cy="67842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BFDC2D-1900-BB4F-B97F-FA8A6F1F30C4}"/>
                  </a:ext>
                </a:extLst>
              </p:cNvPr>
              <p:cNvSpPr/>
              <p:nvPr/>
            </p:nvSpPr>
            <p:spPr>
              <a:xfrm>
                <a:off x="9611184" y="3089787"/>
                <a:ext cx="678426" cy="678426"/>
              </a:xfrm>
              <a:prstGeom prst="ellipse">
                <a:avLst/>
              </a:prstGeom>
              <a:solidFill>
                <a:srgbClr val="00959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BFDC2D-1900-BB4F-B97F-FA8A6F1F30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1184" y="3089787"/>
                <a:ext cx="678426" cy="67842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82AF5D-98A2-4408-DF78-682C9477B930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4945626" y="1794387"/>
            <a:ext cx="1928305" cy="531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787A29-74E7-12D0-B624-D8B903F52468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>
            <a:off x="4945626" y="1794387"/>
            <a:ext cx="1928305" cy="2257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4E30D6C-9640-E2DC-6C0F-EA135E5D227B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 flipV="1">
            <a:off x="4945626" y="2566219"/>
            <a:ext cx="1828952" cy="862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11302E9-4A18-96C9-B02E-75B542819E1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4945626" y="3429000"/>
            <a:ext cx="1828952" cy="8627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2924FA-3508-43C5-ACB4-2716514AB93C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4950542" y="2806079"/>
            <a:ext cx="1923389" cy="2257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110518E-0EE1-6D94-9224-965EB7523CE8}"/>
              </a:ext>
            </a:extLst>
          </p:cNvPr>
          <p:cNvCxnSpPr>
            <a:cxnSpLocks/>
            <a:stCxn id="7" idx="6"/>
            <a:endCxn id="9" idx="3"/>
          </p:cNvCxnSpPr>
          <p:nvPr/>
        </p:nvCxnSpPr>
        <p:spPr>
          <a:xfrm flipV="1">
            <a:off x="4950542" y="4531642"/>
            <a:ext cx="1923389" cy="531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2202B42-C6FE-BF2D-7608-00529F1E693F}"/>
              </a:ext>
            </a:extLst>
          </p:cNvPr>
          <p:cNvCxnSpPr>
            <a:cxnSpLocks/>
            <a:stCxn id="8" idx="6"/>
            <a:endCxn id="10" idx="1"/>
          </p:cNvCxnSpPr>
          <p:nvPr/>
        </p:nvCxnSpPr>
        <p:spPr>
          <a:xfrm>
            <a:off x="7453004" y="2566219"/>
            <a:ext cx="2257533" cy="622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B58A064-EEE9-6247-AB87-64B161C7FD2E}"/>
              </a:ext>
            </a:extLst>
          </p:cNvPr>
          <p:cNvCxnSpPr>
            <a:cxnSpLocks/>
            <a:stCxn id="9" idx="6"/>
            <a:endCxn id="10" idx="3"/>
          </p:cNvCxnSpPr>
          <p:nvPr/>
        </p:nvCxnSpPr>
        <p:spPr>
          <a:xfrm flipV="1">
            <a:off x="7453004" y="3668860"/>
            <a:ext cx="2257533" cy="622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BFABD1A-C576-7E12-8982-229B847FD72A}"/>
                  </a:ext>
                </a:extLst>
              </p:cNvPr>
              <p:cNvSpPr txBox="1"/>
              <p:nvPr/>
            </p:nvSpPr>
            <p:spPr>
              <a:xfrm>
                <a:off x="5535333" y="1648769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BFABD1A-C576-7E12-8982-229B847FD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5333" y="1648769"/>
                <a:ext cx="94389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B07C069-1168-CEC2-FFB5-1F8720C00DEF}"/>
                  </a:ext>
                </a:extLst>
              </p:cNvPr>
              <p:cNvSpPr txBox="1"/>
              <p:nvPr/>
            </p:nvSpPr>
            <p:spPr>
              <a:xfrm>
                <a:off x="5289983" y="2163719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B07C069-1168-CEC2-FFB5-1F8720C0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983" y="2163719"/>
                <a:ext cx="94389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F4626CB-8743-E5DF-9825-28B3CC3F21BA}"/>
                  </a:ext>
                </a:extLst>
              </p:cNvPr>
              <p:cNvSpPr txBox="1"/>
              <p:nvPr/>
            </p:nvSpPr>
            <p:spPr>
              <a:xfrm>
                <a:off x="5019520" y="2755072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F4626CB-8743-E5DF-9825-28B3CC3F2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9520" y="2755072"/>
                <a:ext cx="943897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FDA7C5C-F493-48B9-7EF3-12A7EFDDB59E}"/>
                  </a:ext>
                </a:extLst>
              </p:cNvPr>
              <p:cNvSpPr txBox="1"/>
              <p:nvPr/>
            </p:nvSpPr>
            <p:spPr>
              <a:xfrm>
                <a:off x="5202920" y="3321452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FDA7C5C-F493-48B9-7EF3-12A7EFDDB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920" y="3321452"/>
                <a:ext cx="94389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CA19EFA-AEDC-0EE6-B554-50DA5FADE1C9}"/>
                  </a:ext>
                </a:extLst>
              </p:cNvPr>
              <p:cNvSpPr txBox="1"/>
              <p:nvPr/>
            </p:nvSpPr>
            <p:spPr>
              <a:xfrm>
                <a:off x="4965881" y="3995380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CA19EFA-AEDC-0EE6-B554-50DA5FADE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5881" y="3995380"/>
                <a:ext cx="943897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41BF668-805A-9A88-E91A-6C7D992DFD88}"/>
                  </a:ext>
                </a:extLst>
              </p:cNvPr>
              <p:cNvSpPr txBox="1"/>
              <p:nvPr/>
            </p:nvSpPr>
            <p:spPr>
              <a:xfrm>
                <a:off x="5644535" y="4342789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41BF668-805A-9A88-E91A-6C7D992DF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535" y="4342789"/>
                <a:ext cx="943897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F64DAA7-68B5-CFE0-7948-3EE119F5F462}"/>
                  </a:ext>
                </a:extLst>
              </p:cNvPr>
              <p:cNvSpPr txBox="1"/>
              <p:nvPr/>
            </p:nvSpPr>
            <p:spPr>
              <a:xfrm>
                <a:off x="6748493" y="2909104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IE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F64DAA7-68B5-CFE0-7948-3EE119F5F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493" y="2909104"/>
                <a:ext cx="94389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1E4EF14-D158-3A36-7884-9728C3B7670D}"/>
                  </a:ext>
                </a:extLst>
              </p:cNvPr>
              <p:cNvSpPr txBox="1"/>
              <p:nvPr/>
            </p:nvSpPr>
            <p:spPr>
              <a:xfrm>
                <a:off x="6795425" y="3562144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1E4EF14-D158-3A36-7884-9728C3B76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25" y="3562144"/>
                <a:ext cx="943897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D7EE7FB-2624-28A9-7C59-343DAAD9A060}"/>
                  </a:ext>
                </a:extLst>
              </p:cNvPr>
              <p:cNvSpPr txBox="1"/>
              <p:nvPr/>
            </p:nvSpPr>
            <p:spPr>
              <a:xfrm>
                <a:off x="8117120" y="2436747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D7EE7FB-2624-28A9-7C59-343DAAD9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7120" y="2436747"/>
                <a:ext cx="94389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77A0B9E-5A41-D0D0-5495-A680562E458C}"/>
                  </a:ext>
                </a:extLst>
              </p:cNvPr>
              <p:cNvSpPr txBox="1"/>
              <p:nvPr/>
            </p:nvSpPr>
            <p:spPr>
              <a:xfrm>
                <a:off x="8117120" y="3519326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77A0B9E-5A41-D0D0-5495-A680562E4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7120" y="3519326"/>
                <a:ext cx="943897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0FA8107-47D9-020A-C400-9C0C2B624C3C}"/>
                  </a:ext>
                </a:extLst>
              </p:cNvPr>
              <p:cNvSpPr txBox="1"/>
              <p:nvPr/>
            </p:nvSpPr>
            <p:spPr>
              <a:xfrm>
                <a:off x="9611184" y="2590091"/>
                <a:ext cx="9438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0FA8107-47D9-020A-C400-9C0C2B624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1184" y="2590091"/>
                <a:ext cx="94389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997271-1B81-3E86-3B8C-86CD78E95A87}"/>
                  </a:ext>
                </a:extLst>
              </p:cNvPr>
              <p:cNvSpPr txBox="1"/>
              <p:nvPr/>
            </p:nvSpPr>
            <p:spPr>
              <a:xfrm>
                <a:off x="9061017" y="3905554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i="1" dirty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IE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IE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997271-1B81-3E86-3B8C-86CD78E95A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017" y="3905554"/>
                <a:ext cx="1779639" cy="369332"/>
              </a:xfrm>
              <a:prstGeom prst="rect">
                <a:avLst/>
              </a:prstGeom>
              <a:blipFill>
                <a:blip r:embed="rId1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825C372-7F90-354F-1E39-5D4997E92EDF}"/>
                  </a:ext>
                </a:extLst>
              </p:cNvPr>
              <p:cNvSpPr txBox="1"/>
              <p:nvPr/>
            </p:nvSpPr>
            <p:spPr>
              <a:xfrm>
                <a:off x="6319281" y="4879051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825C372-7F90-354F-1E39-5D4997E92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281" y="4879051"/>
                <a:ext cx="1779639" cy="369332"/>
              </a:xfrm>
              <a:prstGeom prst="rect">
                <a:avLst/>
              </a:prstGeom>
              <a:blipFill>
                <a:blip r:embed="rId2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ABAEC19-3C90-ED8C-722C-DADDD3428969}"/>
                  </a:ext>
                </a:extLst>
              </p:cNvPr>
              <p:cNvSpPr txBox="1"/>
              <p:nvPr/>
            </p:nvSpPr>
            <p:spPr>
              <a:xfrm>
                <a:off x="6337481" y="1689807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ABAEC19-3C90-ED8C-722C-DADDD3428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481" y="1689807"/>
                <a:ext cx="1779639" cy="369332"/>
              </a:xfrm>
              <a:prstGeom prst="rect">
                <a:avLst/>
              </a:prstGeom>
              <a:blipFill>
                <a:blip r:embed="rId21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961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and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One input vector: [1, 0, 1]</a:t>
            </a:r>
          </a:p>
          <a:p>
            <a:r>
              <a:rPr dirty="0"/>
              <a:t>Target output (label): 1</a:t>
            </a:r>
            <a:endParaRPr lang="en-IE" dirty="0"/>
          </a:p>
          <a:p>
            <a:r>
              <a:rPr lang="en-IE" dirty="0"/>
              <a:t>So this is a classification model</a:t>
            </a:r>
            <a:endParaRPr dirty="0"/>
          </a:p>
          <a:p>
            <a:r>
              <a:rPr dirty="0"/>
              <a:t>Goal: network output should approach 1 over time</a:t>
            </a:r>
            <a:endParaRPr lang="en-IE" dirty="0"/>
          </a:p>
          <a:p>
            <a:r>
              <a:rPr lang="en-IE" dirty="0">
                <a:solidFill>
                  <a:srgbClr val="009749"/>
                </a:solidFill>
              </a:rPr>
              <a:t>On the board: for given weights and biases compute the forward pass</a:t>
            </a:r>
            <a:endParaRPr dirty="0">
              <a:solidFill>
                <a:srgbClr val="009749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6FC88-4B9D-21B7-515D-3E84B3DB2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Initialize Weights and Biases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dirty="0"/>
              <a:t>Start with all weights </a:t>
            </a:r>
            <a:r>
              <a:rPr lang="en-IE" dirty="0"/>
              <a:t>small, but helpful if they’re non-zero.</a:t>
            </a:r>
          </a:p>
          <a:p>
            <a:r>
              <a:rPr dirty="0"/>
              <a:t>All biases = 0</a:t>
            </a:r>
            <a:r>
              <a:rPr lang="en-IE" dirty="0"/>
              <a:t>.</a:t>
            </a:r>
            <a:endParaRPr dirty="0"/>
          </a:p>
          <a:p>
            <a:r>
              <a:rPr dirty="0"/>
              <a:t>Will update over training using error signal</a:t>
            </a:r>
            <a:r>
              <a:rPr lang="en-IE" dirty="0"/>
              <a:t>.</a:t>
            </a:r>
            <a:endParaRPr dirty="0"/>
          </a:p>
          <a:p>
            <a:r>
              <a:rPr dirty="0"/>
              <a:t>Small integers make learning interpretable</a:t>
            </a:r>
            <a:r>
              <a:rPr lang="en-IE" dirty="0"/>
              <a:t>.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99D9B7B-51BD-492B-90EC-739EE70DCFA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IE" dirty="0"/>
                  <a:t>Hidden layer weights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IE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E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IE" dirty="0"/>
              </a:p>
              <a:p>
                <a:r>
                  <a:rPr lang="en-IE" dirty="0"/>
                  <a:t>Hidden biases: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IE" dirty="0"/>
                  <a:t> = [0, 1]</a:t>
                </a:r>
              </a:p>
              <a:p>
                <a:r>
                  <a:rPr lang="en-IE" dirty="0"/>
                  <a:t>Output weights: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IE" dirty="0"/>
                  <a:t> = [1, -1]</a:t>
                </a:r>
              </a:p>
              <a:p>
                <a:r>
                  <a:rPr lang="en-IE" dirty="0"/>
                  <a:t>Output bias: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IE" dirty="0"/>
                  <a:t>  = 0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99D9B7B-51BD-492B-90EC-739EE70DCF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A0FD5-2F11-7737-394A-3FC436F6E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Compute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E" dirty="0"/>
                  <a:t>Use Binary Cross-Entropy: </a:t>
                </a:r>
                <a:endParaRPr lang="en-I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sz="240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IE" sz="2400" i="1" dirty="0" smtClean="0">
                          <a:latin typeface="Cambria Math" panose="02040503050406030204" pitchFamily="18" charset="0"/>
                        </a:rPr>
                        <m:t> = −[</m:t>
                      </m:r>
                      <m:r>
                        <a:rPr lang="en-IE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IE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IE" sz="2400" i="1" dirty="0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IE" sz="2400" i="1" dirty="0" smtClean="0">
                          <a:latin typeface="Cambria Math" panose="02040503050406030204" pitchFamily="18" charset="0"/>
                        </a:rPr>
                        <m:t>⁡(</m:t>
                      </m:r>
                      <m:acc>
                        <m:accPr>
                          <m:chr m:val="̂"/>
                          <m:ctrlPr>
                            <a:rPr lang="ar-AE" sz="24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 sz="2400" i="1" dirty="0">
                          <a:latin typeface="Cambria Math" panose="02040503050406030204" pitchFamily="18" charset="0"/>
                        </a:rPr>
                        <m:t>) + (1−</m:t>
                      </m:r>
                      <m:r>
                        <a:rPr lang="ar-AE" sz="24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2400" i="1" dirty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IE" sz="2400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IE" sz="2400" i="1" dirty="0">
                          <a:latin typeface="Cambria Math" panose="02040503050406030204" pitchFamily="18" charset="0"/>
                        </a:rPr>
                        <m:t>⁡(1 −</m:t>
                      </m:r>
                      <m:acc>
                        <m:accPr>
                          <m:chr m:val="̂"/>
                          <m:ctrlPr>
                            <a:rPr lang="ar-AE" sz="24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 sz="2400" i="1" dirty="0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ar-AE" sz="2400" dirty="0"/>
              </a:p>
              <a:p>
                <a:r>
                  <a:rPr lang="en-IE" dirty="0"/>
                  <a:t>Compare network output to target label</a:t>
                </a:r>
              </a:p>
              <a:p>
                <a:r>
                  <a:rPr lang="en-IE" dirty="0"/>
                  <a:t>Loss is high if output far from target</a:t>
                </a:r>
              </a:p>
              <a:p>
                <a:r>
                  <a:rPr lang="en-IE" dirty="0"/>
                  <a:t>Loss tells us how ‘wrong’ the current weights and biases are</a:t>
                </a:r>
              </a:p>
              <a:p>
                <a:r>
                  <a:rPr lang="cy-GB" dirty="0"/>
                  <a:t>Loss is high → backpropagation needed</a:t>
                </a:r>
              </a:p>
              <a:p>
                <a:r>
                  <a:rPr lang="cy-GB" dirty="0"/>
                  <a:t>We will now update weights</a:t>
                </a:r>
              </a:p>
              <a:p>
                <a:endParaRPr lang="en-IE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81A75-4C57-AB65-0665-1516060D0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B4C510-3EE8-51A7-7951-2E669D0F7532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cy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05E33-C788-17B9-AEB7-BB3B1BA1E6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EED2A-42EC-7D99-E680-3641F258A7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7D45D-C834-9EE1-9949-37DD2B6E1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8D5F-B017-3B47-9775-DA319F6143FF}" type="datetime3">
              <a:rPr lang="en-IE" smtClean="0"/>
              <a:t>18 February 2026</a:t>
            </a:fld>
            <a:endParaRPr lang="en-US" dirty="0"/>
          </a:p>
        </p:txBody>
      </p:sp>
      <p:pic>
        <p:nvPicPr>
          <p:cNvPr id="6" name="slide.url=https://www.polleverywhere.com/multiple_choice_polls/JZznzugwkVdpZNiwRE2Af?state=opened&amp;flow=Default&amp;onscreen=persist">
            <a:extLst>
              <a:ext uri="{FF2B5EF4-FFF2-40B4-BE49-F238E27FC236}">
                <a16:creationId xmlns:a16="http://schemas.microsoft.com/office/drawing/2014/main" id="{1A3B9D91-11CF-5F07-7AA8-C98EB90F9E1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406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Now perform </a:t>
            </a:r>
            <a:r>
              <a:rPr lang="en-IE" dirty="0" err="1"/>
              <a:t>ba</a:t>
            </a:r>
            <a:r>
              <a:rPr dirty="0" err="1"/>
              <a:t>ckpropagation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Compute error at the output layer</a:t>
            </a:r>
          </a:p>
          <a:p>
            <a:r>
              <a:rPr dirty="0"/>
              <a:t>Adjust output weights to reduce the error</a:t>
            </a:r>
          </a:p>
          <a:p>
            <a:r>
              <a:rPr dirty="0"/>
              <a:t>Propagate error backward to hidden layer</a:t>
            </a:r>
          </a:p>
          <a:p>
            <a:r>
              <a:rPr dirty="0"/>
              <a:t>Weights are updated to reduce future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CBD1D-2B62-76C5-3E79-43A22F49C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1DDD3-A497-319C-C5EA-CBF2F66D8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EB35-771B-A3E4-44B3-D3BFB7E1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Overall algorithm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1FC48-C9ED-EB6D-32DB-DD72A1427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932469" cy="4149290"/>
          </a:xfrm>
        </p:spPr>
        <p:txBody>
          <a:bodyPr>
            <a:normAutofit lnSpcReduction="10000"/>
          </a:bodyPr>
          <a:lstStyle/>
          <a:p>
            <a:pPr marL="342900" indent="-342900">
              <a:buAutoNum type="arabicPeriod"/>
              <a:defRPr sz="1400">
                <a:latin typeface="Courier New"/>
              </a:defRPr>
            </a:pPr>
            <a:r>
              <a:rPr lang="cy-GB" sz="1600" b="1" dirty="0"/>
              <a:t>Initialize</a:t>
            </a:r>
            <a:r>
              <a:rPr lang="cy-GB" sz="1600" dirty="0"/>
              <a:t> all weights and biases (e.g., to 0 or small integers).</a:t>
            </a:r>
            <a:br>
              <a:rPr lang="cy-GB" sz="1600" dirty="0"/>
            </a:br>
            <a:r>
              <a:rPr lang="cy-GB" sz="1600" dirty="0"/>
              <a:t>2. For each epoch:</a:t>
            </a:r>
            <a:br>
              <a:rPr lang="cy-GB" sz="1600" dirty="0"/>
            </a:br>
            <a:r>
              <a:rPr lang="cy-GB" sz="1600" dirty="0"/>
              <a:t>   a. </a:t>
            </a:r>
            <a:r>
              <a:rPr lang="cy-GB" sz="1600" b="1" dirty="0"/>
              <a:t>Forward pass:</a:t>
            </a:r>
            <a:br>
              <a:rPr lang="cy-GB" sz="1600" dirty="0"/>
            </a:br>
            <a:r>
              <a:rPr lang="cy-GB" sz="1600" dirty="0"/>
              <a:t>      i.  Compute hidden layer pre-activations: z₁ = w₁·x + b₁, z₂ = w₂·x + b₂</a:t>
            </a:r>
            <a:br>
              <a:rPr lang="cy-GB" sz="1600" dirty="0"/>
            </a:br>
            <a:r>
              <a:rPr lang="cy-GB" sz="1600" dirty="0"/>
              <a:t>      ii. Apply ReLU activation: h₁ = ReLU(z₁), h₂ = ReLU(z₂)</a:t>
            </a:r>
            <a:br>
              <a:rPr lang="cy-GB" sz="1600" dirty="0"/>
            </a:br>
            <a:r>
              <a:rPr lang="cy-GB" sz="1600" dirty="0"/>
              <a:t>      iii. Compute output layer input: zₒ = wₒ·h + bₒ</a:t>
            </a:r>
            <a:br>
              <a:rPr lang="cy-GB" sz="1600" dirty="0"/>
            </a:br>
            <a:r>
              <a:rPr lang="cy-GB" sz="1600" dirty="0"/>
              <a:t>      iv. Apply Sigmoid activation to get prediction: ŷ = </a:t>
            </a:r>
            <a:r>
              <a:rPr lang="el-GR" sz="1600" dirty="0"/>
              <a:t>σ(</a:t>
            </a:r>
            <a:r>
              <a:rPr lang="cy-GB" sz="1600" dirty="0"/>
              <a:t>zₒ)</a:t>
            </a:r>
            <a:br>
              <a:rPr lang="cy-GB" sz="1600" dirty="0"/>
            </a:br>
            <a:r>
              <a:rPr lang="cy-GB" sz="1600" dirty="0"/>
              <a:t>   b. </a:t>
            </a:r>
            <a:r>
              <a:rPr lang="cy-GB" sz="1600" b="1" dirty="0"/>
              <a:t>Compute Loss:</a:t>
            </a:r>
            <a:br>
              <a:rPr lang="cy-GB" sz="1600" b="1" dirty="0"/>
            </a:br>
            <a:r>
              <a:rPr lang="cy-GB" sz="1600" dirty="0"/>
              <a:t>      i.  Use Binary Cross-Entropy: L = -[y·log(ŷ) + (1−y)·log(1−ŷ)]</a:t>
            </a:r>
            <a:br>
              <a:rPr lang="cy-GB" sz="1600" dirty="0"/>
            </a:br>
            <a:r>
              <a:rPr lang="cy-GB" sz="1600" dirty="0"/>
              <a:t>   c. </a:t>
            </a:r>
            <a:r>
              <a:rPr lang="cy-GB" sz="1600" b="1" dirty="0"/>
              <a:t>Backward pass:</a:t>
            </a:r>
            <a:br>
              <a:rPr lang="cy-GB" sz="1600" dirty="0"/>
            </a:br>
            <a:r>
              <a:rPr lang="cy-GB" sz="1600" dirty="0"/>
              <a:t>      i.  Compute gradient of loss with respect to output weights</a:t>
            </a:r>
            <a:br>
              <a:rPr lang="cy-GB" sz="1600" dirty="0"/>
            </a:br>
            <a:r>
              <a:rPr lang="cy-GB" sz="1600" dirty="0"/>
              <a:t>      ii. Backpropagate error to hidden weights only if ReLU &gt; 0</a:t>
            </a:r>
            <a:br>
              <a:rPr lang="cy-GB" sz="1600" dirty="0"/>
            </a:br>
            <a:r>
              <a:rPr lang="cy-GB" sz="1600" dirty="0"/>
              <a:t>   d. </a:t>
            </a:r>
            <a:r>
              <a:rPr lang="cy-GB" sz="1600" b="1" dirty="0"/>
              <a:t>Update parameters:</a:t>
            </a:r>
            <a:br>
              <a:rPr lang="cy-GB" sz="1600" dirty="0"/>
            </a:br>
            <a:r>
              <a:rPr lang="cy-GB" sz="1600" dirty="0"/>
              <a:t>      i.  Adjust weights and biases with gradient steps</a:t>
            </a:r>
            <a:br>
              <a:rPr lang="cy-GB" sz="1600" dirty="0"/>
            </a:br>
            <a:r>
              <a:rPr lang="cy-GB" sz="1600" dirty="0"/>
              <a:t>      ii. Stop after desired number of epochs</a:t>
            </a:r>
          </a:p>
          <a:p>
            <a:pPr marL="342900" indent="-342900">
              <a:buAutoNum type="arabicPeriod"/>
              <a:defRPr sz="1400">
                <a:latin typeface="Courier New"/>
              </a:defRPr>
            </a:pPr>
            <a:endParaRPr lang="cy-GB" sz="1600" dirty="0"/>
          </a:p>
          <a:p>
            <a:pPr>
              <a:defRPr sz="1400">
                <a:latin typeface="Courier New"/>
              </a:defRPr>
            </a:pPr>
            <a:r>
              <a:rPr lang="en-IE" sz="3200" dirty="0">
                <a:solidFill>
                  <a:srgbClr val="009749"/>
                </a:solidFill>
                <a:latin typeface="+mn-lt"/>
              </a:rPr>
              <a:t>On the board: go through all the steps!</a:t>
            </a:r>
          </a:p>
          <a:p>
            <a:pPr marL="342900" indent="-342900">
              <a:buAutoNum type="arabicPeriod"/>
              <a:defRPr sz="1400">
                <a:latin typeface="Courier New"/>
              </a:defRPr>
            </a:pPr>
            <a:endParaRPr lang="cy-GB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E9D86-5815-12FA-A1E7-B6086B52F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298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of Epoch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Forward pass completed with initialized weights</a:t>
            </a:r>
          </a:p>
          <a:p>
            <a:r>
              <a:rPr dirty="0"/>
              <a:t>Loss computed from output prediction</a:t>
            </a:r>
          </a:p>
          <a:p>
            <a:r>
              <a:rPr dirty="0"/>
              <a:t>Backward pass adjusted weights toward target</a:t>
            </a:r>
          </a:p>
          <a:p>
            <a:r>
              <a:rPr lang="en-IE" dirty="0"/>
              <a:t>R</a:t>
            </a:r>
            <a:r>
              <a:rPr dirty="0" err="1"/>
              <a:t>esults</a:t>
            </a:r>
            <a:r>
              <a:rPr dirty="0"/>
              <a:t> in noticeable parameter changes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393E1-7D58-1AFF-A718-BFDEAE37F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Epoch 2 – Forward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Run forward pass with updated weights</a:t>
            </a:r>
          </a:p>
          <a:p>
            <a:r>
              <a:rPr dirty="0"/>
              <a:t>Compute new hidden activations and output</a:t>
            </a:r>
          </a:p>
          <a:p>
            <a:r>
              <a:rPr dirty="0"/>
              <a:t>Expect output closer to target = 1</a:t>
            </a:r>
          </a:p>
          <a:p>
            <a:r>
              <a:rPr dirty="0" err="1"/>
              <a:t>ReLU</a:t>
            </a:r>
            <a:r>
              <a:rPr dirty="0"/>
              <a:t> and Sigmoid continue to </a:t>
            </a:r>
            <a:r>
              <a:rPr lang="en-IE" dirty="0"/>
              <a:t>change</a:t>
            </a:r>
            <a:r>
              <a:rPr dirty="0"/>
              <a:t> values</a:t>
            </a:r>
            <a:endParaRPr lang="en-IE" dirty="0"/>
          </a:p>
          <a:p>
            <a:r>
              <a:rPr lang="en-IE" dirty="0">
                <a:solidFill>
                  <a:srgbClr val="009749"/>
                </a:solidFill>
              </a:rPr>
              <a:t>Go through epoch 2 on the board</a:t>
            </a:r>
            <a:endParaRPr dirty="0">
              <a:solidFill>
                <a:srgbClr val="009749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6B4C2-EA69-BED9-D394-29C8ADA1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of Epoch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Output moved closer to 1</a:t>
            </a:r>
          </a:p>
          <a:p>
            <a:r>
              <a:rPr dirty="0"/>
              <a:t>Loss dropped compared to Epoch 1</a:t>
            </a:r>
          </a:p>
          <a:p>
            <a:r>
              <a:rPr dirty="0"/>
              <a:t>Learning rate was effective</a:t>
            </a:r>
          </a:p>
          <a:p>
            <a:r>
              <a:rPr dirty="0"/>
              <a:t>Track all parameter values again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7F5F1-4A8F-4E77-13FB-749F18DB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Compare Epochs – Learning Trace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Usually we display outputs of loss function over epochs</a:t>
            </a:r>
            <a:endParaRPr dirty="0"/>
          </a:p>
          <a:p>
            <a:r>
              <a:rPr lang="en-IE" dirty="0"/>
              <a:t>Can also s</a:t>
            </a:r>
            <a:r>
              <a:rPr dirty="0"/>
              <a:t>how weight evolution side-by-side</a:t>
            </a:r>
          </a:p>
          <a:p>
            <a:r>
              <a:rPr lang="en-IE" dirty="0"/>
              <a:t>B</a:t>
            </a:r>
            <a:r>
              <a:rPr dirty="0" err="1"/>
              <a:t>iggest</a:t>
            </a:r>
            <a:r>
              <a:rPr dirty="0"/>
              <a:t> changes </a:t>
            </a:r>
            <a:r>
              <a:rPr lang="en-IE" dirty="0"/>
              <a:t>usually </a:t>
            </a:r>
            <a:r>
              <a:rPr dirty="0"/>
              <a:t>in early epochs</a:t>
            </a:r>
          </a:p>
          <a:p>
            <a:r>
              <a:rPr dirty="0"/>
              <a:t>Later epochs just refine the pattern</a:t>
            </a:r>
            <a:endParaRPr lang="en-IE" dirty="0"/>
          </a:p>
          <a:p>
            <a:r>
              <a:rPr lang="en-IE" dirty="0"/>
              <a:t>(</a:t>
            </a:r>
            <a:r>
              <a:rPr lang="en-I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wandb</a:t>
            </a:r>
            <a:r>
              <a:rPr lang="en-IE" dirty="0"/>
              <a:t> package useful for monitoring runs)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46D8C-6F76-A797-6356-EC6C4978F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– What the Network Learned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E" dirty="0"/>
                  <a:t>Hidden neuron 1 became active for [1,0,1]</a:t>
                </a:r>
              </a:p>
              <a:p>
                <a:r>
                  <a:rPr lang="en-IE" dirty="0"/>
                  <a:t>(Thus could ‘feature detect’ an important meteorological aspect of the data)</a:t>
                </a:r>
              </a:p>
              <a:p>
                <a:r>
                  <a:rPr lang="en-IE" dirty="0"/>
                  <a:t>Its weights increased to drive output up</a:t>
                </a:r>
              </a:p>
              <a:p>
                <a:r>
                  <a:rPr lang="en-IE" dirty="0"/>
                  <a:t>Output weights were tuned to emphasize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IE" dirty="0"/>
              </a:p>
              <a:p>
                <a:r>
                  <a:rPr lang="en-IE" dirty="0"/>
                  <a:t>Biases adjusted to support activation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6E8C7-BF5E-A6CB-7923-6D53DB1B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17741-F36C-B628-E87A-E65B8D291C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ABFB97-8BC2-728D-8943-19B7BFF236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D7406-55CE-D843-484C-37BCA8CC2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8D5F-B017-3B47-9775-DA319F6143FF}" type="datetime3">
              <a:rPr lang="en-IE" smtClean="0"/>
              <a:t>18 February 2026</a:t>
            </a:fld>
            <a:endParaRPr lang="en-US" dirty="0"/>
          </a:p>
        </p:txBody>
      </p:sp>
      <p:pic>
        <p:nvPicPr>
          <p:cNvPr id="6" name="slide.url=https://www.polleverywhere.com/clickable_images/yRk7j8s6JV63O3Z1SD3Is">
            <a:extLst>
              <a:ext uri="{FF2B5EF4-FFF2-40B4-BE49-F238E27FC236}">
                <a16:creationId xmlns:a16="http://schemas.microsoft.com/office/drawing/2014/main" id="{B248AB35-E723-3F1F-6839-3A5E48980FC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713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Common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Forgetting to apply bias before activation</a:t>
            </a:r>
          </a:p>
          <a:p>
            <a:r>
              <a:rPr dirty="0"/>
              <a:t>Mislabeling the sign of gradient updates</a:t>
            </a:r>
          </a:p>
          <a:p>
            <a:r>
              <a:rPr dirty="0"/>
              <a:t>Applying activation at wrong stage</a:t>
            </a:r>
          </a:p>
          <a:p>
            <a:r>
              <a:rPr dirty="0" err="1"/>
              <a:t>ReLU</a:t>
            </a:r>
            <a:r>
              <a:rPr dirty="0"/>
              <a:t> 'zero-out' not handled correctly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E7DBF-4153-BEE3-68B1-9CEB810B3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 Suggestions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Change input: try [0,1,1] or [1,1,1]</a:t>
            </a:r>
          </a:p>
          <a:p>
            <a:r>
              <a:rPr dirty="0"/>
              <a:t>Try </a:t>
            </a:r>
            <a:r>
              <a:rPr lang="en-IE" dirty="0"/>
              <a:t>other </a:t>
            </a:r>
            <a:r>
              <a:rPr dirty="0"/>
              <a:t>initial weights and compare convergence</a:t>
            </a:r>
          </a:p>
          <a:p>
            <a:r>
              <a:rPr dirty="0"/>
              <a:t>Use two training examples</a:t>
            </a:r>
          </a:p>
          <a:p>
            <a:r>
              <a:rPr dirty="0"/>
              <a:t>Try tanh activation instead of </a:t>
            </a:r>
            <a:r>
              <a:rPr dirty="0" err="1"/>
              <a:t>ReLU</a:t>
            </a:r>
            <a:endParaRPr lang="en-IE" dirty="0"/>
          </a:p>
          <a:p>
            <a:r>
              <a:rPr lang="en-IE" dirty="0"/>
              <a:t>A simpler version to this (with derivatives given) will be on the exam!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0CFDDB-24B9-85F1-A0D0-1D0BB45C6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It’s a lot of work (and fiddly calculation) to go through a full forward and backward pass of even a simple 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All the calculations though are pretty straightforward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Easy to make small mistakes. Marks given for process not accuracy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</TotalTime>
  <Words>1196</Words>
  <Application>Microsoft Macintosh PowerPoint</Application>
  <PresentationFormat>Widescreen</PresentationFormat>
  <Paragraphs>147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Cambria Math</vt:lpstr>
      <vt:lpstr>Courier New</vt:lpstr>
      <vt:lpstr>Office Theme</vt:lpstr>
      <vt:lpstr>Class 3: Training a Simple Neural Network by Hand</vt:lpstr>
      <vt:lpstr>Training a Neural Network by Hand</vt:lpstr>
      <vt:lpstr>The Network Structure 3-2-1</vt:lpstr>
      <vt:lpstr>PowerPoint Presentation</vt:lpstr>
      <vt:lpstr>Now with weights!</vt:lpstr>
      <vt:lpstr>Input and Target</vt:lpstr>
      <vt:lpstr>Initialize Weights and Biases</vt:lpstr>
      <vt:lpstr>Compute Loss</vt:lpstr>
      <vt:lpstr>PowerPoint Presentation</vt:lpstr>
      <vt:lpstr>Now perform backpropagation</vt:lpstr>
      <vt:lpstr>Overall algorithm</vt:lpstr>
      <vt:lpstr>Summary of Epoch 1</vt:lpstr>
      <vt:lpstr>Epoch 2 – Forward Again</vt:lpstr>
      <vt:lpstr>Summary of Epoch 2</vt:lpstr>
      <vt:lpstr>Compare Epochs – Learning Trace</vt:lpstr>
      <vt:lpstr>Summary – What the Network Learned</vt:lpstr>
      <vt:lpstr>PowerPoint Presentation</vt:lpstr>
      <vt:lpstr>Common Mistakes</vt:lpstr>
      <vt:lpstr>Practice Suggestions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38</cp:revision>
  <dcterms:created xsi:type="dcterms:W3CDTF">2025-09-24T09:34:21Z</dcterms:created>
  <dcterms:modified xsi:type="dcterms:W3CDTF">2026-02-18T10:59:48Z</dcterms:modified>
</cp:coreProperties>
</file>