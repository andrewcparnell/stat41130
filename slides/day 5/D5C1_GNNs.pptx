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346" r:id="rId3"/>
    <p:sldId id="347" r:id="rId4"/>
    <p:sldId id="348" r:id="rId5"/>
    <p:sldId id="364" r:id="rId6"/>
    <p:sldId id="349" r:id="rId7"/>
    <p:sldId id="365" r:id="rId8"/>
    <p:sldId id="366" r:id="rId9"/>
    <p:sldId id="370" r:id="rId10"/>
    <p:sldId id="369" r:id="rId11"/>
    <p:sldId id="367" r:id="rId12"/>
    <p:sldId id="368" r:id="rId13"/>
    <p:sldId id="358" r:id="rId14"/>
    <p:sldId id="360" r:id="rId15"/>
    <p:sldId id="362" r:id="rId16"/>
    <p:sldId id="363" r:id="rId17"/>
    <p:sldId id="28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24"/>
    <p:restoredTop sz="88770"/>
  </p:normalViewPr>
  <p:slideViewPr>
    <p:cSldViewPr snapToGrid="0">
      <p:cViewPr varScale="1">
        <p:scale>
          <a:sx n="107" d="100"/>
          <a:sy n="107" d="100"/>
        </p:scale>
        <p:origin x="6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22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345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16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82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447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26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30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400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Imagine we add Dublin and have the adjacency matrix: $$A = \begin{bmatrix} 0 &amp; 1 &amp; 0.5 &amp; \mathbf{1} \\ 1 &amp; 0 &amp; 0.2 &amp; \mathbf{1} \\ 0.5 &amp; 0.2 &amp; 0 &amp; \mathbf{0} \\ \mathbf{1} &amp; \mathbf{1} &amp; \mathbf{0} &amp; 0 \end{bmatrix}$$. What is the value of $$D_{22}$$?</a:t>
            </a:r>
          </a:p>
          <a:p>
            <a:r>
              <a:rPr lang="en-US"/>
              <a:t>https://www.polleverywhere.com/multiple_choice_polls/tTcCwBG944HpO30cTGShm?state=opened&amp;flow=Default&amp;onscreen=persist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3689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In a GCN layer with a normalized adjacency matrix $$\hat{A}$$, if the edge weight between Athlone and Cork is increased while all other weights remain constant, what is the direct mathematical effect on the next layer's embeddings?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multiple_choice_polls</a:t>
            </a:r>
            <a:r>
              <a:rPr lang="en-US" dirty="0"/>
              <a:t>/clM2DHZ1dg0fR6SueU4WL?state=</a:t>
            </a:r>
            <a:r>
              <a:rPr lang="en-US" dirty="0" err="1"/>
              <a:t>opened&amp;flow</a:t>
            </a:r>
            <a:r>
              <a:rPr lang="en-US" dirty="0"/>
              <a:t>=</a:t>
            </a:r>
            <a:r>
              <a:rPr lang="en-US" dirty="0" err="1"/>
              <a:t>Default&amp;onscreen</a:t>
            </a:r>
            <a:r>
              <a:rPr lang="en-US" dirty="0"/>
              <a:t>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15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44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685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1385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3633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6218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5966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825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DF66696-21B2-D649-92A2-EEC2EDFEA99A}" type="datetime3">
              <a:rPr lang="en-IE" smtClean="0"/>
              <a:t>4 March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35050E7-7B9A-8940-BE07-8CADAADB4B25}" type="datetime3">
              <a:rPr lang="en-IE" smtClean="0"/>
              <a:t>4 March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E55273B3-F20B-8743-B0C9-5966BABF8646}" type="datetime3">
              <a:rPr lang="en-IE" smtClean="0"/>
              <a:t>4 March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5D78-8A3B-69A5-5094-B6397BFBA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C39BE9-13AD-CDCD-62B6-BEFF54595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3AC47-866E-9BB1-9690-52A9D7BF43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850B3-E916-9E14-86A0-0C9673F0D7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896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7: Graph Neural Networks for Weather Forecasting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44C1-ED47-F757-A52F-CBDCFCCE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C2D2A-5689-067A-2DB9-A2B188716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50194" cy="4149290"/>
          </a:xfrm>
        </p:spPr>
        <p:txBody>
          <a:bodyPr>
            <a:normAutofit/>
          </a:bodyPr>
          <a:lstStyle/>
          <a:p>
            <a:r>
              <a:rPr lang="en-US" dirty="0"/>
              <a:t>Motivation </a:t>
            </a:r>
          </a:p>
          <a:p>
            <a:r>
              <a:rPr lang="en-US" dirty="0"/>
              <a:t>Recap of sequence models</a:t>
            </a:r>
          </a:p>
          <a:p>
            <a:r>
              <a:rPr lang="en-US" dirty="0"/>
              <a:t>Graph basics &amp; adjacency matrices</a:t>
            </a:r>
          </a:p>
          <a:p>
            <a:r>
              <a:rPr lang="en-US" dirty="0"/>
              <a:t>Basic Graph propagation rule</a:t>
            </a:r>
          </a:p>
          <a:p>
            <a:r>
              <a:rPr lang="en-US" dirty="0"/>
              <a:t>Message passing intuition</a:t>
            </a:r>
          </a:p>
          <a:p>
            <a:r>
              <a:rPr lang="en-US" dirty="0"/>
              <a:t>Graph Attention (GAT) example</a:t>
            </a:r>
          </a:p>
        </p:txBody>
      </p:sp>
      <p:pic>
        <p:nvPicPr>
          <p:cNvPr id="4" name="Image 0" descr="/home/oai/share/fac64f8a-8ac4-44e6-810a-32d3e8025d75.png">
            <a:extLst>
              <a:ext uri="{FF2B5EF4-FFF2-40B4-BE49-F238E27FC236}">
                <a16:creationId xmlns:a16="http://schemas.microsoft.com/office/drawing/2014/main" id="{0BB6DB00-E38B-0FE6-5001-0EED744C4F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05" r="11905"/>
          <a:stretch/>
        </p:blipFill>
        <p:spPr>
          <a:xfrm>
            <a:off x="6705600" y="1219200"/>
            <a:ext cx="4876800" cy="42672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332C5-20CA-D18C-E3CC-5D07F2D5B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142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02A3C-549A-7909-7121-4780DCF57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Motivation &amp; Recap: why graphs?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A519-FB94-A653-0A7E-C21DE0480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3606" cy="414929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Sequence models (LSTMs, Transformers) capture temporal patterns but ignore spatial relationships among distributed sensors</a:t>
            </a:r>
          </a:p>
          <a:p>
            <a:r>
              <a:rPr lang="en-US" dirty="0"/>
              <a:t>Weather data form an (</a:t>
            </a:r>
            <a:r>
              <a:rPr lang="en-US" dirty="0" err="1"/>
              <a:t>ir</a:t>
            </a:r>
            <a:r>
              <a:rPr lang="en-US" dirty="0"/>
              <a:t>)regular network where nearby stations/grid points influence each other more than distant ones</a:t>
            </a:r>
          </a:p>
          <a:p>
            <a:r>
              <a:rPr lang="en-US" dirty="0"/>
              <a:t>Graph Neural Networks jointly learn from node (and edge) features and edge structure to model spatial correlations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0EF8C8C0-7EB6-B2E1-33CA-418022F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247483"/>
              </p:ext>
            </p:extLst>
          </p:nvPr>
        </p:nvGraphicFramePr>
        <p:xfrm>
          <a:off x="6770001" y="1949737"/>
          <a:ext cx="4754880" cy="3291840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Sequence Models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Graph Models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Structure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Linear (time)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Irregular (nodes &amp; edges)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Dependencies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Temporal only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Spatial &amp; temporal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Applications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Time‑series forecasting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Networks: social, transport, weather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1CBA32-C946-0A9C-0511-C84C60C2B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75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2F511-FFDE-F8D8-38A1-A6F42CCA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32B982-D039-BB92-1266-0493D0E11C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43716" cy="414929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Nodes: sensors or stations with features (temp, rain, etc.)</a:t>
                </a:r>
              </a:p>
              <a:p>
                <a:r>
                  <a:rPr lang="en-US" dirty="0"/>
                  <a:t>Edges: physical proximity or correlation between stations</a:t>
                </a:r>
              </a:p>
              <a:p>
                <a:r>
                  <a:rPr lang="en-US" dirty="0"/>
                  <a:t>Adjacency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 = distance between stations; self‑loops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) are added for stability</a:t>
                </a:r>
              </a:p>
              <a:p>
                <a:r>
                  <a:rPr lang="en-US" dirty="0"/>
                  <a:t>Degree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sum of rows + 1; used for </a:t>
                </a:r>
                <a:r>
                  <a:rPr lang="en-US" dirty="0" err="1"/>
                  <a:t>normalisation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32B982-D039-BB92-1266-0493D0E11C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43716" cy="4149290"/>
              </a:xfrm>
              <a:blipFill>
                <a:blip r:embed="rId3"/>
                <a:stretch>
                  <a:fillRect l="-2022" t="-2439" r="-2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30E38570-1181-C433-3519-81B79B00F0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724263"/>
              </p:ext>
            </p:extLst>
          </p:nvPr>
        </p:nvGraphicFramePr>
        <p:xfrm>
          <a:off x="7005484" y="1825625"/>
          <a:ext cx="4876800" cy="146304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Athlone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Belfast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Cork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Athlone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Belfast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0.2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Cork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0.2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1">
            <a:extLst>
              <a:ext uri="{FF2B5EF4-FFF2-40B4-BE49-F238E27FC236}">
                <a16:creationId xmlns:a16="http://schemas.microsoft.com/office/drawing/2014/main" id="{EDAD382C-7614-A662-B44F-171157B33380}"/>
              </a:ext>
            </a:extLst>
          </p:cNvPr>
          <p:cNvSpPr/>
          <p:nvPr/>
        </p:nvSpPr>
        <p:spPr>
          <a:xfrm flipV="1">
            <a:off x="7096432" y="3974690"/>
            <a:ext cx="1457633" cy="1114979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4C57CABA-7FEA-4345-F360-01265A78B734}"/>
              </a:ext>
            </a:extLst>
          </p:cNvPr>
          <p:cNvSpPr/>
          <p:nvPr/>
        </p:nvSpPr>
        <p:spPr>
          <a:xfrm>
            <a:off x="8803312" y="3809509"/>
            <a:ext cx="1152833" cy="1114979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842D437-4E46-450E-2CFB-83D166D28B36}"/>
              </a:ext>
            </a:extLst>
          </p:cNvPr>
          <p:cNvSpPr/>
          <p:nvPr/>
        </p:nvSpPr>
        <p:spPr>
          <a:xfrm>
            <a:off x="10083472" y="5943109"/>
            <a:ext cx="0" cy="0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1FDB4684-F261-1254-E387-52310ABE6723}"/>
              </a:ext>
            </a:extLst>
          </p:cNvPr>
          <p:cNvSpPr/>
          <p:nvPr/>
        </p:nvSpPr>
        <p:spPr>
          <a:xfrm>
            <a:off x="6791632" y="4784869"/>
            <a:ext cx="609600" cy="609600"/>
          </a:xfrm>
          <a:prstGeom prst="ellipse">
            <a:avLst/>
          </a:prstGeom>
          <a:solidFill>
            <a:srgbClr val="E8F1FA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59EDE0A-7FE6-411A-255A-C962F71A513D}"/>
              </a:ext>
            </a:extLst>
          </p:cNvPr>
          <p:cNvSpPr/>
          <p:nvPr/>
        </p:nvSpPr>
        <p:spPr>
          <a:xfrm>
            <a:off x="6791632" y="5455429"/>
            <a:ext cx="6096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DEEBA2-E1A8-FAFA-4358-45925D944A18}"/>
              </a:ext>
            </a:extLst>
          </p:cNvPr>
          <p:cNvSpPr/>
          <p:nvPr/>
        </p:nvSpPr>
        <p:spPr>
          <a:xfrm>
            <a:off x="8498512" y="3504709"/>
            <a:ext cx="609600" cy="609600"/>
          </a:xfrm>
          <a:prstGeom prst="ellipse">
            <a:avLst/>
          </a:prstGeom>
          <a:solidFill>
            <a:srgbClr val="E8F1FA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B2E12D0-B993-EADB-13EF-75F330A9CE0B}"/>
              </a:ext>
            </a:extLst>
          </p:cNvPr>
          <p:cNvSpPr/>
          <p:nvPr/>
        </p:nvSpPr>
        <p:spPr>
          <a:xfrm>
            <a:off x="8498512" y="4175269"/>
            <a:ext cx="6096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6BB6143-339D-642C-2645-0A79C741EDA4}"/>
              </a:ext>
            </a:extLst>
          </p:cNvPr>
          <p:cNvSpPr/>
          <p:nvPr/>
        </p:nvSpPr>
        <p:spPr>
          <a:xfrm>
            <a:off x="9778672" y="4900889"/>
            <a:ext cx="609600" cy="609600"/>
          </a:xfrm>
          <a:prstGeom prst="ellipse">
            <a:avLst/>
          </a:prstGeom>
          <a:solidFill>
            <a:srgbClr val="E8F1FA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DD51E938-F2D3-56A5-304D-EF47C9A9C6E7}"/>
              </a:ext>
            </a:extLst>
          </p:cNvPr>
          <p:cNvSpPr/>
          <p:nvPr/>
        </p:nvSpPr>
        <p:spPr>
          <a:xfrm>
            <a:off x="9778672" y="5571449"/>
            <a:ext cx="6096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7C60A96D-BE86-2E27-774E-2B4958EA93BD}"/>
              </a:ext>
            </a:extLst>
          </p:cNvPr>
          <p:cNvSpPr/>
          <p:nvPr/>
        </p:nvSpPr>
        <p:spPr>
          <a:xfrm>
            <a:off x="7401232" y="5184241"/>
            <a:ext cx="2347821" cy="32265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E97DB36-110A-2CD1-129C-1236A3A5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487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53594-927D-D503-E02A-5870F8E4F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56702-BFAC-A20D-EAFC-4B327E92C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set of weather observations at each station, predict the temperature at the next time point</a:t>
            </a:r>
          </a:p>
          <a:p>
            <a:r>
              <a:rPr lang="en-US" dirty="0"/>
              <a:t>Idea: use the fact that some stations are closer than others to create the predictions</a:t>
            </a:r>
          </a:p>
          <a:p>
            <a:r>
              <a:rPr lang="en-US" dirty="0"/>
              <a:t>Try and fit into the world of NNs and embeddings. We are always looking to create hidden neurons that capture the important aspects of the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5A17D-E05A-2B90-6745-5F1FE17F0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67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8BFF5-8E62-D673-A149-42221D35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Simplified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41E23B-54A2-CFC7-11CA-4A0F5F4262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8167577" cy="453020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Layer update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l-G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IE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  <m:sup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acc>
                        <m:accPr>
                          <m:chr m:val="̃"/>
                          <m:ctrlPr>
                            <a:rPr lang="en-I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sSup>
                        <m:sSupPr>
                          <m:ctrlPr>
                            <a:rPr lang="en-I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  <m:sup>
                          <m:r>
                            <a:rPr lang="en-IE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IE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IE" i="1" dirty="0">
                    <a:latin typeface="Cambria Math" panose="02040503050406030204" pitchFamily="18" charset="0"/>
                  </a:rPr>
                  <a:t> </a:t>
                </a:r>
                <a:r>
                  <a:rPr lang="en-IE" dirty="0"/>
                  <a:t>is a hidden layer neuron representing the node embeddings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I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adds self‑loops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I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degree matrix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IE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acc>
                      <m:accPr>
                        <m:chr m:val="̃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sSup>
                      <m:sSup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IE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dirty="0"/>
                  <a:t>yields the </a:t>
                </a:r>
                <a:r>
                  <a:rPr lang="en-US" dirty="0" err="1"/>
                  <a:t>normalised</a:t>
                </a:r>
                <a:r>
                  <a:rPr lang="en-US" dirty="0"/>
                  <a:t> adjacency matrix</a:t>
                </a:r>
              </a:p>
              <a:p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is a learnable weight matrix </a:t>
                </a:r>
              </a:p>
              <a:p>
                <a:r>
                  <a:rPr lang="en-US" dirty="0"/>
                  <a:t>…and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l-GR" dirty="0"/>
                  <a:t> </a:t>
                </a:r>
                <a:r>
                  <a:rPr lang="en-US" dirty="0"/>
                  <a:t>an activation function</a:t>
                </a:r>
              </a:p>
              <a:p>
                <a:r>
                  <a:rPr lang="en-US" dirty="0"/>
                  <a:t>The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message passing</a:t>
                </a:r>
                <a:r>
                  <a:rPr lang="en-US" dirty="0"/>
                  <a:t> matrix that weights all the features by the surrounding notes (more weight if closer in the network), hence ‘passing messages’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41E23B-54A2-CFC7-11CA-4A0F5F4262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8167577" cy="4530205"/>
              </a:xfrm>
              <a:blipFill>
                <a:blip r:embed="rId3"/>
                <a:stretch>
                  <a:fillRect l="-621" t="-2235" r="-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8F1F5-8ACD-3441-029D-061DDA51F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989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1F588-EB91-3AD3-304D-E1FCA3A72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A2A0-FFC5-CE55-D9BC-318D0C3EA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2F22-F9B7-CF88-1042-2600D3E55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198"/>
            <a:ext cx="8348602" cy="4149290"/>
          </a:xfrm>
        </p:spPr>
        <p:txBody>
          <a:bodyPr>
            <a:normAutofit/>
          </a:bodyPr>
          <a:lstStyle/>
          <a:p>
            <a:r>
              <a:rPr lang="en-IE" dirty="0">
                <a:solidFill>
                  <a:srgbClr val="009749"/>
                </a:solidFill>
              </a:rPr>
              <a:t>Go through on the board</a:t>
            </a:r>
            <a:endParaRPr lang="en-US" dirty="0">
              <a:solidFill>
                <a:srgbClr val="009749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E22C7-00F3-2250-3239-5C8E3FBD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73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7FAF3-4A66-AC22-D4F5-2014A95ED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about this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DF152-1CCF-BC2C-C2E3-DDFC647B0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47852" cy="414929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can predict </a:t>
            </a:r>
            <a:r>
              <a:rPr lang="en-US" b="1" dirty="0"/>
              <a:t>different</a:t>
            </a:r>
            <a:r>
              <a:rPr lang="en-US" dirty="0"/>
              <a:t> outputs from the inputs</a:t>
            </a:r>
          </a:p>
          <a:p>
            <a:r>
              <a:rPr lang="en-US" dirty="0"/>
              <a:t>For example, here we’re only predicting temperature but we’re inputting temperature and wind speed</a:t>
            </a:r>
          </a:p>
          <a:p>
            <a:r>
              <a:rPr lang="en-US" dirty="0"/>
              <a:t>We can extend all these simple NN steps to be have multiple hidden neurons and hence much more complicated relationships through the node embeddings</a:t>
            </a:r>
          </a:p>
          <a:p>
            <a:r>
              <a:rPr lang="en-US" dirty="0"/>
              <a:t>(Sometimes node embeddings can be interesting to plot / explore)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B0854-B419-5BE9-8D60-953CCABC0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097" y="2101645"/>
            <a:ext cx="4947121" cy="28589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49EA61-6418-6933-A83F-A1463863C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573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34378-2532-C579-5507-331EDD1364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8FE24-895D-D041-01FA-6F26FFD28A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EC3A3-A6E9-042A-131B-92A301EE72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  <p:pic>
        <p:nvPicPr>
          <p:cNvPr id="6" name="slide.url=https://www.polleverywhere.com/multiple_choice_polls/tTcCwBG944HpO30cTGShm?state=opened&amp;flow=Default&amp;onscreen=persist">
            <a:extLst>
              <a:ext uri="{FF2B5EF4-FFF2-40B4-BE49-F238E27FC236}">
                <a16:creationId xmlns:a16="http://schemas.microsoft.com/office/drawing/2014/main" id="{67BD5077-4494-A573-60C4-80012FC54E2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996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E4B5-DA8F-7B05-B342-D08961A1DB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1DA6A1-E993-7C5D-CE14-62AE59CA52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E715B-D607-F2FB-E153-55454048D3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  <p:pic>
        <p:nvPicPr>
          <p:cNvPr id="6" name="slide.url=https://www.polleverywhere.com/multiple_choice_polls/clM2DHZ1dg0fR6SueU4WL?state=opened&amp;flow=Default&amp;onscreen=persist">
            <a:extLst>
              <a:ext uri="{FF2B5EF4-FFF2-40B4-BE49-F238E27FC236}">
                <a16:creationId xmlns:a16="http://schemas.microsoft.com/office/drawing/2014/main" id="{D3465CCA-32F1-EB4C-7F23-1D7C42338DA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313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A89A2-1651-03B1-9F02-A18D97C0D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attention transformers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CE27B-FA3E-1628-5E7E-685AC24D8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create the node embeddings for every time step in our data set, we can then add a transformer</a:t>
            </a:r>
          </a:p>
          <a:p>
            <a:r>
              <a:rPr lang="en-US" dirty="0">
                <a:solidFill>
                  <a:srgbClr val="009749"/>
                </a:solidFill>
              </a:rPr>
              <a:t>Best explained with </a:t>
            </a:r>
            <a:r>
              <a:rPr lang="en-US" dirty="0" err="1">
                <a:solidFill>
                  <a:srgbClr val="009749"/>
                </a:solidFill>
              </a:rPr>
              <a:t>maths</a:t>
            </a:r>
            <a:r>
              <a:rPr lang="en-US" dirty="0">
                <a:solidFill>
                  <a:srgbClr val="009749"/>
                </a:solidFill>
              </a:rPr>
              <a:t> on the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3ACBE-DE99-3A38-B5EF-EFB416D59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66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C1F0-20F6-8260-3F9A-23A3DC07E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clever parts of AIFS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744F1-C1FC-5DD9-B433-93902F093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710" cy="414929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They use GELU activation functions to give smoother gradients (and removes kink at zero which helps models with more layers)</a:t>
            </a:r>
          </a:p>
          <a:p>
            <a:r>
              <a:rPr lang="en-US" dirty="0">
                <a:solidFill>
                  <a:srgbClr val="009749"/>
                </a:solidFill>
              </a:rPr>
              <a:t>They use a clever mask for the attention weights via </a:t>
            </a:r>
            <a:r>
              <a:rPr lang="en-US" b="1" dirty="0">
                <a:solidFill>
                  <a:srgbClr val="009749"/>
                </a:solidFill>
              </a:rPr>
              <a:t>latitude bands</a:t>
            </a:r>
          </a:p>
          <a:p>
            <a:r>
              <a:rPr lang="en-US" dirty="0"/>
              <a:t>This restricts the attention mechanism and reduces the number of required parameters (but potentially sacrifices some teleconnections?)</a:t>
            </a:r>
          </a:p>
          <a:p>
            <a:r>
              <a:rPr lang="en-US" dirty="0"/>
              <a:t>Not entirely clear how they link together the larger ‘observation’ grid with the smaller ‘processor’ grid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648465-6366-646D-2CE0-DB5E38E34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754" y="2204883"/>
            <a:ext cx="5041057" cy="21532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26FEFF-A767-48F3-128E-3855662DE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80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6C42B-B4C3-E1F4-E8B8-432684EC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682F7-1F14-1419-22A6-42A0AA84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59161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Our already defined GCN (1 layer) for e.g. 3 stations</a:t>
            </a:r>
          </a:p>
          <a:p>
            <a:r>
              <a:rPr lang="en-US" dirty="0"/>
              <a:t>A is the distance-based weights; self-loops are added inside</a:t>
            </a:r>
          </a:p>
          <a:p>
            <a:r>
              <a:rPr lang="en-US" dirty="0"/>
              <a:t>H are the node embeddings</a:t>
            </a:r>
          </a:p>
          <a:p>
            <a:r>
              <a:rPr lang="en-US" dirty="0"/>
              <a:t>Should really do this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torch_geometric</a:t>
            </a:r>
            <a:r>
              <a:rPr lang="en-US" dirty="0"/>
              <a:t> but too big to fit on slide!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2E7BD83-EAC7-A17C-A191-9997BFEDC725}"/>
              </a:ext>
            </a:extLst>
          </p:cNvPr>
          <p:cNvSpPr/>
          <p:nvPr/>
        </p:nvSpPr>
        <p:spPr>
          <a:xfrm>
            <a:off x="4838606" y="1983455"/>
            <a:ext cx="7166581" cy="3060494"/>
          </a:xfrm>
          <a:prstGeom prst="rect">
            <a:avLst/>
          </a:prstGeom>
          <a:solidFill>
            <a:srgbClr val="F7FAFC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37B98B7-BB5C-BE7C-A0AC-37886849E0F2}"/>
              </a:ext>
            </a:extLst>
          </p:cNvPr>
          <p:cNvSpPr/>
          <p:nvPr/>
        </p:nvSpPr>
        <p:spPr>
          <a:xfrm>
            <a:off x="4933334" y="2074147"/>
            <a:ext cx="6999917" cy="2908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TinyGCN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nn.Module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__(self, F=2, H=2): 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super().__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__();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self.mix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nn.Linear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(F, H);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self.out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nn.Linear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(H, 1)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X, A):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torch.eye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A.size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(0), device=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A.device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A = A + I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torch.diag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A.sum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(1).pow(-0.5)); Ahat = D @ A @ D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F.relu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(Ahat @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self.mix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self.out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(H)</a:t>
            </a:r>
          </a:p>
          <a:p>
            <a:endParaRPr lang="en-US" sz="1067" dirty="0">
              <a:solidFill>
                <a:srgbClr val="030A1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TinyGCN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(F=2, H=2)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torch.optim.Adam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model.parameters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=0.1)</a:t>
            </a:r>
          </a:p>
          <a:p>
            <a:endParaRPr lang="en-US" sz="1067" dirty="0">
              <a:solidFill>
                <a:srgbClr val="030A1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Train (define X, A,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y_next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elsewhere)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range(300):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yhat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model(X, A); loss = 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yhat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y_next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).pow(2).mean()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opt.zero_grad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loss.backward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opt.step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67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B84B7-9151-799C-1A41-44074EAF5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819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75D14-33A7-7514-E1F6-D297D6E8B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3A83-4DAA-9F5F-4DFA-6E5D1A78B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to extend this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DA320A-05C8-9652-86BC-E998535FDE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IE" dirty="0"/>
                  <a:t>Add extra layers to the embeddings or output layers</a:t>
                </a:r>
              </a:p>
              <a:p>
                <a:r>
                  <a:rPr lang="en-IE" dirty="0"/>
                  <a:t>Change the embedding dimension</a:t>
                </a:r>
              </a:p>
              <a:p>
                <a:r>
                  <a:rPr lang="en-IE" dirty="0"/>
                  <a:t>Try different activation functions</a:t>
                </a:r>
              </a:p>
              <a:p>
                <a:r>
                  <a:rPr lang="en-US" dirty="0"/>
                  <a:t>Graph mixing (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I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+(1−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E" dirty="0"/>
                  <a:t>) with small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Edge weights (try different ways of representing distance between nodes or self connections) – next class</a:t>
                </a:r>
              </a:p>
              <a:p>
                <a:r>
                  <a:rPr lang="en-US" dirty="0" err="1"/>
                  <a:t>Regularisation</a:t>
                </a:r>
                <a:r>
                  <a:rPr lang="en-US" dirty="0"/>
                  <a:t> / dropout or other layer norms to avoid over-fitting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DA320A-05C8-9652-86BC-E998535FDE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3354" r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E3859-81C3-6170-3AC4-2C244AE9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421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65A75-5149-42FA-99D0-301BF7E2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and disadvantages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B2C61-06FF-4889-31BE-26F8671EA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Captures spatial structure of complex systems (roads, power grids, sensor networks, weather stations)</a:t>
            </a:r>
          </a:p>
          <a:p>
            <a:pPr lvl="1"/>
            <a:r>
              <a:rPr lang="en-US" dirty="0"/>
              <a:t>Supports variable graph sizes and </a:t>
            </a:r>
            <a:r>
              <a:rPr lang="en-US" dirty="0" err="1">
                <a:solidFill>
                  <a:srgbClr val="009749"/>
                </a:solidFill>
              </a:rPr>
              <a:t>generalisation</a:t>
            </a:r>
            <a:r>
              <a:rPr lang="en-US" dirty="0">
                <a:solidFill>
                  <a:srgbClr val="009749"/>
                </a:solidFill>
              </a:rPr>
              <a:t> to new nodes</a:t>
            </a:r>
          </a:p>
          <a:p>
            <a:pPr lvl="1"/>
            <a:r>
              <a:rPr lang="en-US" dirty="0"/>
              <a:t>Reuses weights across locations for parameter efficiency</a:t>
            </a:r>
          </a:p>
          <a:p>
            <a:r>
              <a:rPr lang="en-US" dirty="0"/>
              <a:t>Challenges</a:t>
            </a:r>
          </a:p>
          <a:p>
            <a:pPr lvl="1"/>
            <a:r>
              <a:rPr lang="en-US" dirty="0"/>
              <a:t>Graph construction: deciding edges and weights</a:t>
            </a:r>
          </a:p>
          <a:p>
            <a:pPr lvl="1"/>
            <a:r>
              <a:rPr lang="en-US" dirty="0"/>
              <a:t>Scalability to large graphs (memory &amp; computation)</a:t>
            </a:r>
          </a:p>
          <a:p>
            <a:pPr lvl="1"/>
            <a:r>
              <a:rPr lang="en-US" dirty="0"/>
              <a:t>Dynamic graphs and time‑varying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9A715-5759-E587-74FC-96C8E2CD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13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15577-5ABC-E8E5-35C3-8F4AB6145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E3CD1-7275-6762-DF32-C1DB3F06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 err="1"/>
              <a:t>Normalise</a:t>
            </a:r>
            <a:r>
              <a:rPr lang="en-US" dirty="0"/>
              <a:t> features and scale adjacency weights</a:t>
            </a:r>
          </a:p>
          <a:p>
            <a:pPr lvl="1"/>
            <a:r>
              <a:rPr lang="en-US" dirty="0"/>
              <a:t>Handle missing data by imputation or masking (or use SERT)</a:t>
            </a:r>
          </a:p>
          <a:p>
            <a:pPr lvl="1"/>
            <a:r>
              <a:rPr lang="en-US" dirty="0"/>
              <a:t>Choose appropriate window sizes for temporal context</a:t>
            </a:r>
          </a:p>
          <a:p>
            <a:r>
              <a:rPr lang="en-US" dirty="0"/>
              <a:t>Training</a:t>
            </a:r>
          </a:p>
          <a:p>
            <a:pPr lvl="1"/>
            <a:r>
              <a:rPr lang="en-US" dirty="0"/>
              <a:t>Use mini‑batching with </a:t>
            </a:r>
            <a:r>
              <a:rPr lang="en-US" dirty="0" err="1"/>
              <a:t>neighbour</a:t>
            </a:r>
            <a:r>
              <a:rPr lang="en-US" dirty="0"/>
              <a:t> sampling for large graphs</a:t>
            </a:r>
          </a:p>
          <a:p>
            <a:pPr lvl="1"/>
            <a:r>
              <a:rPr lang="en-US" dirty="0"/>
              <a:t>Monitor validation metrics and avoid overfitting</a:t>
            </a:r>
          </a:p>
          <a:p>
            <a:pPr lvl="1"/>
            <a:r>
              <a:rPr lang="en-US" dirty="0"/>
              <a:t>Leverage GPUs and sparse operations for efficiency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C7D54-896E-4126-95EC-17C70A300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27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GNNs </a:t>
            </a:r>
            <a:r>
              <a:rPr lang="en-US" dirty="0" err="1"/>
              <a:t>generalise</a:t>
            </a:r>
            <a:r>
              <a:rPr lang="en-US" dirty="0"/>
              <a:t> neural networks to (irregular) graph structures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GCN layers </a:t>
            </a:r>
            <a:r>
              <a:rPr lang="en-US" dirty="0" err="1"/>
              <a:t>normalise</a:t>
            </a:r>
            <a:r>
              <a:rPr lang="en-US" dirty="0"/>
              <a:t> adjacency and aggregate </a:t>
            </a:r>
            <a:r>
              <a:rPr lang="en-US" dirty="0" err="1"/>
              <a:t>neighbour</a:t>
            </a:r>
            <a:r>
              <a:rPr lang="en-US" dirty="0"/>
              <a:t> features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Can combine with transformers to assign dynamic importance to </a:t>
            </a:r>
            <a:r>
              <a:rPr lang="en-US" dirty="0" err="1"/>
              <a:t>neighbours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Weather forecasting benefits from capturing spatial relationships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Frameworks like </a:t>
            </a:r>
            <a:r>
              <a:rPr lang="en-US" dirty="0" err="1"/>
              <a:t>PyTorch</a:t>
            </a:r>
            <a:r>
              <a:rPr lang="en-US" dirty="0"/>
              <a:t> Geometric make implementation practical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2128</TotalTime>
  <Words>1311</Words>
  <Application>Microsoft Macintosh PowerPoint</Application>
  <PresentationFormat>Widescreen</PresentationFormat>
  <Paragraphs>167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Courier New</vt:lpstr>
      <vt:lpstr>Office Theme</vt:lpstr>
      <vt:lpstr>Class 7: Graph Neural Networks for Weather Forecasting</vt:lpstr>
      <vt:lpstr>Outline</vt:lpstr>
      <vt:lpstr>Motivation &amp; Recap: why graphs?</vt:lpstr>
      <vt:lpstr>Graph basics</vt:lpstr>
      <vt:lpstr>Task</vt:lpstr>
      <vt:lpstr>Simplified method</vt:lpstr>
      <vt:lpstr>GNN example</vt:lpstr>
      <vt:lpstr>Notes about this approach</vt:lpstr>
      <vt:lpstr>PowerPoint Presentation</vt:lpstr>
      <vt:lpstr>PowerPoint Presentation</vt:lpstr>
      <vt:lpstr>Graph attention transformers </vt:lpstr>
      <vt:lpstr>Other clever parts of AIFS</vt:lpstr>
      <vt:lpstr>Pytorch implementation</vt:lpstr>
      <vt:lpstr>Ways to extend this model</vt:lpstr>
      <vt:lpstr>Advantages and disadvantages</vt:lpstr>
      <vt:lpstr>Practical tips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107</cp:revision>
  <dcterms:created xsi:type="dcterms:W3CDTF">2025-09-24T09:34:21Z</dcterms:created>
  <dcterms:modified xsi:type="dcterms:W3CDTF">2026-03-04T06:53:56Z</dcterms:modified>
</cp:coreProperties>
</file>