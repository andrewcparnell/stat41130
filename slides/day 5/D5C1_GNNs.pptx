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19"/>
  </p:notesMasterIdLst>
  <p:sldIdLst>
    <p:sldId id="256" r:id="rId2"/>
    <p:sldId id="346" r:id="rId3"/>
    <p:sldId id="347" r:id="rId4"/>
    <p:sldId id="348" r:id="rId5"/>
    <p:sldId id="364" r:id="rId6"/>
    <p:sldId id="349" r:id="rId7"/>
    <p:sldId id="365" r:id="rId8"/>
    <p:sldId id="366" r:id="rId9"/>
    <p:sldId id="370" r:id="rId10"/>
    <p:sldId id="369" r:id="rId11"/>
    <p:sldId id="367" r:id="rId12"/>
    <p:sldId id="368" r:id="rId13"/>
    <p:sldId id="358" r:id="rId14"/>
    <p:sldId id="360" r:id="rId15"/>
    <p:sldId id="362" r:id="rId16"/>
    <p:sldId id="363" r:id="rId17"/>
    <p:sldId id="285" r:id="rId1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9749"/>
    <a:srgbClr val="00427A"/>
    <a:srgbClr val="00959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9624"/>
    <p:restoredTop sz="88754"/>
  </p:normalViewPr>
  <p:slideViewPr>
    <p:cSldViewPr snapToGrid="0">
      <p:cViewPr varScale="1">
        <p:scale>
          <a:sx n="107" d="100"/>
          <a:sy n="107" d="100"/>
        </p:scale>
        <p:origin x="672" y="1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F5685EE-3D40-0A4E-BB88-46887330FC0A}" type="datetimeFigureOut">
              <a:rPr lang="en-US" smtClean="0"/>
              <a:t>2/28/26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0752F2A-FA59-1746-ABA5-28C394E5ED0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82555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752F2A-FA59-1746-ABA5-28C394E5ED08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402265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752F2A-FA59-1746-ABA5-28C394E5ED08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734562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752F2A-FA59-1746-ABA5-28C394E5ED08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61688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752F2A-FA59-1746-ABA5-28C394E5ED08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882978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752F2A-FA59-1746-ABA5-28C394E5ED08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744711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752F2A-FA59-1746-ABA5-28C394E5ED08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672672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752F2A-FA59-1746-ABA5-28C394E5ED08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853017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752F2A-FA59-1746-ABA5-28C394E5ED08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040099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Do not modify the notes in this section to avoid tampering with the Poll Everywhere activity.
More info at polleverywhere.com/support
Imagine we add Dublin and have the adjacency matrix: $$A = \begin{bmatrix} 0 &amp; 1 &amp; 0.5 &amp; \mathbf{1} \\ 1 &amp; 0 &amp; 0.2 &amp; \mathbf{1} \\ 0.5 &amp; 0.2 &amp; 0 &amp; \mathbf{0} \\ \mathbf{1} &amp; \mathbf{1} &amp; \mathbf{0} &amp; 0 \end{bmatrix}$$. What is the value of $$D_{22}$$?</a:t>
            </a:r>
          </a:p>
          <a:p>
            <a:r>
              <a:rPr lang="en-US"/>
              <a:t>https://www.polleverywhere.com/multiple_choice_polls/tTcCwBG944HpO30cTGShm?state=opened&amp;flow=Default&amp;onscreen=persist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752F2A-FA59-1746-ABA5-28C394E5ED08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736893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 not modify the notes in this section to avoid tampering with the Poll Everywhere activity.
More info at </a:t>
            </a:r>
            <a:r>
              <a:rPr lang="en-US" dirty="0" err="1"/>
              <a:t>polleverywhere.com</a:t>
            </a:r>
            <a:r>
              <a:rPr lang="en-US" dirty="0"/>
              <a:t>/support
In a GCN layer with a normalized adjacency matrix $$\hat{A}$$, if the edge weight between Athlone and Cork is increased while all other weights remain constant, what is the direct mathematical effect on the next layer's embeddings?</a:t>
            </a:r>
          </a:p>
          <a:p>
            <a:r>
              <a:rPr lang="en-US" dirty="0"/>
              <a:t>https://</a:t>
            </a:r>
            <a:r>
              <a:rPr lang="en-US" dirty="0" err="1"/>
              <a:t>www.polleverywhere.com</a:t>
            </a:r>
            <a:r>
              <a:rPr lang="en-US" dirty="0"/>
              <a:t>/</a:t>
            </a:r>
            <a:r>
              <a:rPr lang="en-US" dirty="0" err="1"/>
              <a:t>multiple_choice_polls</a:t>
            </a:r>
            <a:r>
              <a:rPr lang="en-US" dirty="0"/>
              <a:t>/clM2DHZ1dg0fR6SueU4WL?state=</a:t>
            </a:r>
            <a:r>
              <a:rPr lang="en-US" dirty="0" err="1"/>
              <a:t>opened&amp;flow</a:t>
            </a:r>
            <a:r>
              <a:rPr lang="en-US" dirty="0"/>
              <a:t>=</a:t>
            </a:r>
            <a:r>
              <a:rPr lang="en-US" dirty="0" err="1"/>
              <a:t>Default&amp;onscreen</a:t>
            </a:r>
            <a:r>
              <a:rPr lang="en-US" dirty="0"/>
              <a:t>=persist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752F2A-FA59-1746-ABA5-28C394E5ED08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211521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752F2A-FA59-1746-ABA5-28C394E5ED08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104464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752F2A-FA59-1746-ABA5-28C394E5ED08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206857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752F2A-FA59-1746-ABA5-28C394E5ED08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813852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752F2A-FA59-1746-ABA5-28C394E5ED08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4363340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752F2A-FA59-1746-ABA5-28C394E5ED08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8621802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752F2A-FA59-1746-ABA5-28C394E5ED08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5596602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752F2A-FA59-1746-ABA5-28C394E5ED08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282511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8.png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10.png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eg"/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12.png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Colour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463CE9-5A18-2F6D-2BDB-54024EE575D4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775570" y="4184850"/>
            <a:ext cx="9144000" cy="816192"/>
          </a:xfrm>
        </p:spPr>
        <p:txBody>
          <a:bodyPr anchor="b">
            <a:normAutofit/>
          </a:bodyPr>
          <a:lstStyle>
            <a:lvl1pPr algn="l">
              <a:defRPr sz="4500">
                <a:solidFill>
                  <a:schemeClr val="bg1"/>
                </a:solidFill>
              </a:defRPr>
            </a:lvl1pPr>
          </a:lstStyle>
          <a:p>
            <a:r>
              <a:rPr lang="en-GB" dirty="0"/>
              <a:t>Presentation title</a:t>
            </a:r>
            <a:endParaRPr lang="en-US" dirty="0"/>
          </a:p>
        </p:txBody>
      </p:sp>
      <p:sp>
        <p:nvSpPr>
          <p:cNvPr id="10" name="Date Placeholder 1">
            <a:extLst>
              <a:ext uri="{FF2B5EF4-FFF2-40B4-BE49-F238E27FC236}">
                <a16:creationId xmlns:a16="http://schemas.microsoft.com/office/drawing/2014/main" id="{C19BF7E5-ED45-E4D7-8DD2-E8A3757D1FA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75570" y="5901563"/>
            <a:ext cx="4077660" cy="365125"/>
          </a:xfrm>
          <a:prstGeom prst="rect">
            <a:avLst/>
          </a:prstGeom>
        </p:spPr>
        <p:txBody>
          <a:bodyPr/>
          <a:lstStyle>
            <a:lvl1pPr>
              <a:defRPr sz="200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fld id="{DDF66696-21B2-D649-92A2-EEC2EDFEA99A}" type="datetime3">
              <a:rPr lang="en-IE" smtClean="0"/>
              <a:t>28 February 2026</a:t>
            </a:fld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A48403D-CA02-EE11-96CC-8E09913F647B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775570" y="662410"/>
            <a:ext cx="4921049" cy="3023526"/>
          </a:xfrm>
          <a:prstGeom prst="rect">
            <a:avLst/>
          </a:prstGeom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ACDEDBC2-BC30-A9CA-49BA-CCA6F9CEB8A7}"/>
              </a:ext>
            </a:extLst>
          </p:cNvPr>
          <p:cNvSpPr txBox="1">
            <a:spLocks/>
          </p:cNvSpPr>
          <p:nvPr userDrawn="1"/>
        </p:nvSpPr>
        <p:spPr>
          <a:xfrm>
            <a:off x="775570" y="4975355"/>
            <a:ext cx="9144000" cy="81619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500" b="1" kern="1200">
                <a:solidFill>
                  <a:srgbClr val="00959F"/>
                </a:solidFill>
                <a:latin typeface="Calibri" panose="020F0502020204030204" pitchFamily="34" charset="0"/>
                <a:ea typeface="+mj-ea"/>
                <a:cs typeface="Calibri" panose="020F0502020204030204" pitchFamily="34" charset="0"/>
              </a:defRPr>
            </a:lvl1pPr>
          </a:lstStyle>
          <a:p>
            <a:r>
              <a:rPr lang="en-GB" sz="3500" b="0" dirty="0">
                <a:solidFill>
                  <a:schemeClr val="bg1"/>
                </a:solidFill>
              </a:rPr>
              <a:t>Andrew Parnell</a:t>
            </a:r>
            <a:endParaRPr lang="en-US" sz="3200" b="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5498784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463CE9-5A18-2F6D-2BDB-54024EE575D4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775570" y="4184850"/>
            <a:ext cx="9144000" cy="816192"/>
          </a:xfrm>
        </p:spPr>
        <p:txBody>
          <a:bodyPr anchor="b">
            <a:normAutofit/>
          </a:bodyPr>
          <a:lstStyle>
            <a:lvl1pPr algn="l">
              <a:defRPr sz="4500">
                <a:solidFill>
                  <a:schemeClr val="bg1"/>
                </a:solidFill>
              </a:defRPr>
            </a:lvl1pPr>
          </a:lstStyle>
          <a:p>
            <a:r>
              <a:rPr lang="en-GB" dirty="0"/>
              <a:t>Presentation title</a:t>
            </a:r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C95EAAC-03A2-8D88-C693-5373EC4D999E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775570" y="661140"/>
            <a:ext cx="4921049" cy="3023526"/>
          </a:xfrm>
          <a:prstGeom prst="rect">
            <a:avLst/>
          </a:prstGeom>
        </p:spPr>
      </p:pic>
      <p:sp>
        <p:nvSpPr>
          <p:cNvPr id="10" name="Date Placeholder 1">
            <a:extLst>
              <a:ext uri="{FF2B5EF4-FFF2-40B4-BE49-F238E27FC236}">
                <a16:creationId xmlns:a16="http://schemas.microsoft.com/office/drawing/2014/main" id="{C19BF7E5-ED45-E4D7-8DD2-E8A3757D1FA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75570" y="5901563"/>
            <a:ext cx="4077660" cy="365125"/>
          </a:xfrm>
          <a:prstGeom prst="rect">
            <a:avLst/>
          </a:prstGeom>
        </p:spPr>
        <p:txBody>
          <a:bodyPr/>
          <a:lstStyle>
            <a:lvl1pPr>
              <a:defRPr sz="2000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fld id="{235050E7-7B9A-8940-BE07-8CADAADB4B25}" type="datetime3">
              <a:rPr lang="en-IE" smtClean="0"/>
              <a:t>28 February 2026</a:t>
            </a:fld>
            <a:endParaRPr lang="en-US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01BF4638-05BC-68BF-F886-C5874806A86A}"/>
              </a:ext>
            </a:extLst>
          </p:cNvPr>
          <p:cNvSpPr txBox="1">
            <a:spLocks/>
          </p:cNvSpPr>
          <p:nvPr userDrawn="1"/>
        </p:nvSpPr>
        <p:spPr>
          <a:xfrm>
            <a:off x="775570" y="4975355"/>
            <a:ext cx="9144000" cy="81619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500" b="1" kern="1200">
                <a:solidFill>
                  <a:srgbClr val="00959F"/>
                </a:solidFill>
                <a:latin typeface="Calibri" panose="020F0502020204030204" pitchFamily="34" charset="0"/>
                <a:ea typeface="+mj-ea"/>
                <a:cs typeface="Calibri" panose="020F0502020204030204" pitchFamily="34" charset="0"/>
              </a:defRPr>
            </a:lvl1pPr>
          </a:lstStyle>
          <a:p>
            <a:r>
              <a:rPr lang="en-GB" sz="3500" b="0" dirty="0">
                <a:solidFill>
                  <a:schemeClr val="bg1"/>
                </a:solidFill>
              </a:rPr>
              <a:t>Presentation</a:t>
            </a:r>
            <a:r>
              <a:rPr lang="en-GB" sz="3200" b="0" dirty="0">
                <a:solidFill>
                  <a:schemeClr val="bg1"/>
                </a:solidFill>
              </a:rPr>
              <a:t> subtitle</a:t>
            </a:r>
            <a:endParaRPr lang="en-US" sz="3200" b="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5283955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Ligh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89FE3EDE-25F4-E49F-B1D6-86A03CE1B128}"/>
              </a:ext>
            </a:extLst>
          </p:cNvPr>
          <p:cNvSpPr txBox="1">
            <a:spLocks/>
          </p:cNvSpPr>
          <p:nvPr userDrawn="1"/>
        </p:nvSpPr>
        <p:spPr>
          <a:xfrm>
            <a:off x="775570" y="4975355"/>
            <a:ext cx="9144000" cy="81619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500" b="1" kern="1200">
                <a:solidFill>
                  <a:srgbClr val="00959F"/>
                </a:solidFill>
                <a:latin typeface="Calibri" panose="020F0502020204030204" pitchFamily="34" charset="0"/>
                <a:ea typeface="+mj-ea"/>
                <a:cs typeface="Calibri" panose="020F0502020204030204" pitchFamily="34" charset="0"/>
              </a:defRPr>
            </a:lvl1pPr>
          </a:lstStyle>
          <a:p>
            <a:r>
              <a:rPr lang="en-GB" sz="3500" b="0" dirty="0">
                <a:solidFill>
                  <a:srgbClr val="00427A"/>
                </a:solidFill>
              </a:rPr>
              <a:t>Presentation</a:t>
            </a:r>
            <a:r>
              <a:rPr lang="en-GB" sz="3200" b="0" dirty="0">
                <a:solidFill>
                  <a:srgbClr val="00427A"/>
                </a:solidFill>
              </a:rPr>
              <a:t> subtitle</a:t>
            </a:r>
            <a:endParaRPr lang="en-US" sz="3200" b="0" dirty="0">
              <a:solidFill>
                <a:srgbClr val="00427A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7463CE9-5A18-2F6D-2BDB-54024EE575D4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775570" y="4184850"/>
            <a:ext cx="9144000" cy="816192"/>
          </a:xfrm>
        </p:spPr>
        <p:txBody>
          <a:bodyPr anchor="b">
            <a:normAutofit/>
          </a:bodyPr>
          <a:lstStyle>
            <a:lvl1pPr algn="l">
              <a:defRPr sz="4500">
                <a:solidFill>
                  <a:srgbClr val="00959F"/>
                </a:solidFill>
              </a:defRPr>
            </a:lvl1pPr>
          </a:lstStyle>
          <a:p>
            <a:r>
              <a:rPr lang="en-GB" dirty="0"/>
              <a:t>Presentation title</a:t>
            </a:r>
            <a:endParaRPr lang="en-US" dirty="0"/>
          </a:p>
        </p:txBody>
      </p:sp>
      <p:sp>
        <p:nvSpPr>
          <p:cNvPr id="10" name="Date Placeholder 1">
            <a:extLst>
              <a:ext uri="{FF2B5EF4-FFF2-40B4-BE49-F238E27FC236}">
                <a16:creationId xmlns:a16="http://schemas.microsoft.com/office/drawing/2014/main" id="{C19BF7E5-ED45-E4D7-8DD2-E8A3757D1FA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75570" y="5901563"/>
            <a:ext cx="4077660" cy="365125"/>
          </a:xfrm>
          <a:prstGeom prst="rect">
            <a:avLst/>
          </a:prstGeom>
        </p:spPr>
        <p:txBody>
          <a:bodyPr/>
          <a:lstStyle>
            <a:lvl1pPr>
              <a:defRPr sz="2000">
                <a:solidFill>
                  <a:srgbClr val="00427A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fld id="{E55273B3-F20B-8743-B0C9-5966BABF8646}" type="datetime3">
              <a:rPr lang="en-IE" smtClean="0"/>
              <a:t>28 February 2026</a:t>
            </a:fld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FE57DE2-DEBB-B17B-3186-6B7F239D4C15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/>
        </p:blipFill>
        <p:spPr>
          <a:xfrm>
            <a:off x="870858" y="764010"/>
            <a:ext cx="4921049" cy="30235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8436640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3936AE-C30A-53BD-4925-C496BE6C46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F265C0-0ACE-3E63-95B9-D176766F2E2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631563B-497A-31DF-3662-C17ACF7D3A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0070AD6-AAEF-8A4F-2919-ED9A3F9B56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064C77-022D-3743-A04E-645624933D1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369005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4F2AFB-F4C4-719F-41DE-8454632EBC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8354952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27AA946-8443-8B80-0497-6EB6FAAD0FF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AA71E3E-2DD5-AE03-E092-6934E2C4A0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B3E6B2A-3B08-3B49-5EC6-5F1CF60C68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064C77-022D-3743-A04E-645624933D1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688371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D0CB63-89BA-5DA1-ABAC-95F6444632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7EC219-68C6-906B-6B38-F56C88CEA66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855E0A4-A8B0-2CA7-E857-19478981F70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C34EDF8-107F-48D4-9168-4085444987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FD97297-368B-D76D-B573-F2EA9B4F5D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064C77-022D-3743-A04E-645624933D1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539080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EE21E6-E145-FB62-1B42-F05F62D34D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FFA92D5-85D4-798F-6073-C1BBC39E80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A41B856-F9DF-6501-6837-20D15C2FCB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064C77-022D-3743-A04E-645624933D1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270059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36B62E2-EFD1-BADE-5ADC-CDA692DD3C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92CE0D8-9D28-4B5B-E0D8-6FD104DEDF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064C77-022D-3743-A04E-645624933D1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422457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oint Turquios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FDF105-7039-1C6D-7FC1-89C7ACEFE5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980788"/>
            <a:ext cx="8348602" cy="1325563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84C9D1A-B681-480B-51E4-53A88191885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306351"/>
            <a:ext cx="8348602" cy="3668564"/>
          </a:xfrm>
        </p:spPr>
        <p:txBody>
          <a:bodyPr/>
          <a:lstStyle>
            <a:lvl1pPr marL="0" indent="0">
              <a:buNone/>
              <a:defRPr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GB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37439093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oint medium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B8167D2C-5176-1ED3-A328-C37831632F2B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4952165" y="3305069"/>
            <a:ext cx="8928728" cy="3552931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0F83037B-3C53-AD11-3C53-4E910F029F0A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3175" y="0"/>
            <a:ext cx="12188825" cy="6859786"/>
          </a:xfrm>
          <a:prstGeom prst="rect">
            <a:avLst/>
          </a:prstGeom>
        </p:spPr>
      </p:pic>
      <p:sp>
        <p:nvSpPr>
          <p:cNvPr id="4" name="Title 1">
            <a:extLst>
              <a:ext uri="{FF2B5EF4-FFF2-40B4-BE49-F238E27FC236}">
                <a16:creationId xmlns:a16="http://schemas.microsoft.com/office/drawing/2014/main" id="{E433CFB9-3CD0-7249-3875-4CDCC32657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980788"/>
            <a:ext cx="10515600" cy="1325563"/>
          </a:xfrm>
        </p:spPr>
        <p:txBody>
          <a:bodyPr/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3604C136-FB56-3E5C-714E-C7C451450AD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306351"/>
            <a:ext cx="8348602" cy="3668564"/>
          </a:xfrm>
        </p:spPr>
        <p:txBody>
          <a:bodyPr/>
          <a:lstStyle>
            <a:lvl1pPr marL="0" indent="0">
              <a:buNone/>
              <a:defRPr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GB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46619352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oint ligh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39C7DCCB-0C89-D983-30F6-838DCED371A2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5366117" y="656799"/>
            <a:ext cx="11071312" cy="6201201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3AA480F3-BC76-00B6-24D5-C07DB00D8475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rcRect/>
          <a:stretch/>
        </p:blipFill>
        <p:spPr>
          <a:xfrm>
            <a:off x="3179" y="251012"/>
            <a:ext cx="12188821" cy="6859785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057DC5C-07B9-1D3E-E60F-4C4449E401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980788"/>
            <a:ext cx="10515600" cy="1325563"/>
          </a:xfrm>
        </p:spPr>
        <p:txBody>
          <a:bodyPr/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0138B3-4A13-4988-0617-30422C75274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306351"/>
            <a:ext cx="8348602" cy="3668564"/>
          </a:xfrm>
        </p:spPr>
        <p:txBody>
          <a:bodyPr/>
          <a:lstStyle>
            <a:lvl1pPr marL="0" indent="0">
              <a:buNone/>
              <a:defRPr>
                <a:solidFill>
                  <a:srgbClr val="00959F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GB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74013495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oint dark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D98423E0-7FF4-AD5A-A90B-2A9E4134C1AA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-1088573" y="1468037"/>
            <a:ext cx="9622971" cy="5389964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C2E33A7B-C77A-0333-901F-1F517FC12794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rcRect/>
          <a:stretch/>
        </p:blipFill>
        <p:spPr>
          <a:xfrm>
            <a:off x="3176" y="0"/>
            <a:ext cx="12188821" cy="6859784"/>
          </a:xfrm>
          <a:prstGeom prst="rect">
            <a:avLst/>
          </a:prstGeom>
        </p:spPr>
      </p:pic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CBAE34A2-289C-9C29-7331-CFD9F1AE7D9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35389" y="1060256"/>
            <a:ext cx="6336026" cy="3668564"/>
          </a:xfrm>
        </p:spPr>
        <p:txBody>
          <a:bodyPr>
            <a:normAutofit/>
          </a:bodyPr>
          <a:lstStyle>
            <a:lvl1pPr marL="0" indent="0" algn="r">
              <a:buNone/>
              <a:defRPr sz="3600" b="1">
                <a:solidFill>
                  <a:schemeClr val="bg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GB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37602313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1B5D78-8A3B-69A5-5094-B6397BFBA6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AC39BE9-13AD-CDCD-62B6-BEFF5459534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C13AC47-866E-9BB1-9690-52A9D7BF4348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25850B3-E916-9E14-86A0-0C9673F0D7EF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5A064C77-022D-3743-A04E-645624933D1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98966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1.jp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5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C5340C0-73B3-BCF7-0724-038E70BF78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7C6D448-5D41-D2C8-31F6-3E241806484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8348602" cy="414929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2A23E6A-37C4-5F0F-726D-1ACD6A23133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118356"/>
            <a:ext cx="29759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B540BB7-8BAA-0B2D-4F0A-22069252AE3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7265096" y="6118356"/>
            <a:ext cx="192170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A064C77-022D-3743-A04E-645624933D1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814496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0" r:id="rId1"/>
    <p:sldLayoutId id="2147483649" r:id="rId2"/>
    <p:sldLayoutId id="2147483661" r:id="rId3"/>
    <p:sldLayoutId id="2147483650" r:id="rId4"/>
    <p:sldLayoutId id="2147483651" r:id="rId5"/>
    <p:sldLayoutId id="2147483652" r:id="rId6"/>
    <p:sldLayoutId id="2147483654" r:id="rId7"/>
    <p:sldLayoutId id="2147483655" r:id="rId8"/>
    <p:sldLayoutId id="2147483662" r:id="rId9"/>
    <p:sldLayoutId id="2147483664" r:id="rId10"/>
    <p:sldLayoutId id="2147483665" r:id="rId11"/>
    <p:sldLayoutId id="2147483666" r:id="rId12"/>
    <p:sldLayoutId id="2147483667" r:id="rId13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1" kern="1200">
          <a:solidFill>
            <a:srgbClr val="00959F"/>
          </a:solidFill>
          <a:latin typeface="Calibri" panose="020F0502020204030204" pitchFamily="34" charset="0"/>
          <a:ea typeface="+mj-ea"/>
          <a:cs typeface="Calibri" panose="020F050202020403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rgbClr val="00427A"/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rgbClr val="00427A"/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rgbClr val="00427A"/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rgbClr val="00427A"/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rgbClr val="00427A"/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7E127A-D7C1-984F-9005-D54B2E23A76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US" sz="4800" dirty="0">
                <a:solidFill>
                  <a:srgbClr val="FFFFFF"/>
                </a:solidFill>
              </a:rPr>
              <a:t>Class 7: Graph Neural Networks for Weather Forecasting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4382491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0B44C1-ED47-F757-A52F-CBDCFCCE51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Outline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5C2D2A-5689-067A-2DB9-A2B188716C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850194" cy="4149290"/>
          </a:xfrm>
        </p:spPr>
        <p:txBody>
          <a:bodyPr>
            <a:normAutofit/>
          </a:bodyPr>
          <a:lstStyle/>
          <a:p>
            <a:r>
              <a:rPr lang="en-US" dirty="0"/>
              <a:t>Motivation &amp; recap of sequence models</a:t>
            </a:r>
          </a:p>
          <a:p>
            <a:r>
              <a:rPr lang="en-US" dirty="0"/>
              <a:t>Graph basics &amp; adjacency matrices</a:t>
            </a:r>
          </a:p>
          <a:p>
            <a:r>
              <a:rPr lang="en-US" dirty="0"/>
              <a:t>Basic Graph propagation rule</a:t>
            </a:r>
          </a:p>
          <a:p>
            <a:r>
              <a:rPr lang="en-US" dirty="0"/>
              <a:t>Message passing intuition</a:t>
            </a:r>
          </a:p>
          <a:p>
            <a:r>
              <a:rPr lang="en-US" dirty="0"/>
              <a:t>Graph Attention (GAT) example</a:t>
            </a:r>
          </a:p>
        </p:txBody>
      </p:sp>
      <p:pic>
        <p:nvPicPr>
          <p:cNvPr id="4" name="Image 0" descr="/home/oai/share/fac64f8a-8ac4-44e6-810a-32d3e8025d75.png">
            <a:extLst>
              <a:ext uri="{FF2B5EF4-FFF2-40B4-BE49-F238E27FC236}">
                <a16:creationId xmlns:a16="http://schemas.microsoft.com/office/drawing/2014/main" id="{0BB6DB00-E38B-0FE6-5001-0EED744C4F2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1905" r="11905"/>
          <a:stretch/>
        </p:blipFill>
        <p:spPr>
          <a:xfrm>
            <a:off x="6705600" y="1219200"/>
            <a:ext cx="4876800" cy="4267200"/>
          </a:xfrm>
          <a:prstGeom prst="rect">
            <a:avLst/>
          </a:prstGeom>
        </p:spPr>
      </p:pic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99332C5-20CA-D18C-E3CC-5D07F2D5B9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064C77-022D-3743-A04E-645624933D1D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614282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702A3C-549A-7909-7121-4780DCF576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Motivation &amp; Recap: why graphs?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291A519-FB94-A653-0A7E-C21DE0480A7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503606" cy="4149290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Sequence models (LSTMs, Transformers) capture temporal patterns but ignore spatial relationships among distributed sensors</a:t>
            </a:r>
          </a:p>
          <a:p>
            <a:r>
              <a:rPr lang="en-US" dirty="0"/>
              <a:t>Weather data form an (</a:t>
            </a:r>
            <a:r>
              <a:rPr lang="en-US" dirty="0" err="1"/>
              <a:t>ir</a:t>
            </a:r>
            <a:r>
              <a:rPr lang="en-US" dirty="0"/>
              <a:t>)regular network where nearby stations/grid points influence each other more than distant ones</a:t>
            </a:r>
          </a:p>
          <a:p>
            <a:r>
              <a:rPr lang="en-US" dirty="0"/>
              <a:t>Graph Neural Networks jointly learn from node (and edge) features and edge structure to model spatial correlations</a:t>
            </a:r>
          </a:p>
        </p:txBody>
      </p:sp>
      <p:graphicFrame>
        <p:nvGraphicFramePr>
          <p:cNvPr id="4" name="Table 0">
            <a:extLst>
              <a:ext uri="{FF2B5EF4-FFF2-40B4-BE49-F238E27FC236}">
                <a16:creationId xmlns:a16="http://schemas.microsoft.com/office/drawing/2014/main" id="{0EF8C8C0-7EB6-B2E1-33CA-418022F9C8C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61247483"/>
              </p:ext>
            </p:extLst>
          </p:nvPr>
        </p:nvGraphicFramePr>
        <p:xfrm>
          <a:off x="6770001" y="1949737"/>
          <a:ext cx="4754880" cy="3291840"/>
        </p:xfrm>
        <a:graphic>
          <a:graphicData uri="http://schemas.openxmlformats.org/drawingml/2006/table">
            <a:tbl>
              <a:tblPr/>
              <a:tblGrid>
                <a:gridCol w="15849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849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849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6705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600" dirty="0"/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97B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7B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7B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7B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b="1" dirty="0">
                          <a:solidFill>
                            <a:srgbClr val="000000"/>
                          </a:solidFill>
                        </a:rPr>
                        <a:t>Sequence Models</a:t>
                      </a:r>
                      <a:endParaRPr lang="en-US" sz="1600" dirty="0"/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97B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7B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7B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7B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b="1" dirty="0">
                          <a:solidFill>
                            <a:srgbClr val="000000"/>
                          </a:solidFill>
                        </a:rPr>
                        <a:t>Graph Models</a:t>
                      </a:r>
                      <a:endParaRPr lang="en-US" sz="1600" dirty="0"/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97B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7B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7B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7B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5344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b="1" dirty="0">
                          <a:solidFill>
                            <a:srgbClr val="000000"/>
                          </a:solidFill>
                        </a:rPr>
                        <a:t>Structure</a:t>
                      </a:r>
                      <a:endParaRPr lang="en-US" sz="1600" dirty="0"/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97B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7B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7B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7B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</a:rPr>
                        <a:t>Linear (time)</a:t>
                      </a:r>
                      <a:endParaRPr lang="en-US" sz="1600" dirty="0"/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97B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7B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7B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7B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</a:rPr>
                        <a:t>Irregular (nodes &amp; edges)</a:t>
                      </a:r>
                      <a:endParaRPr lang="en-US" sz="1600" dirty="0"/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97B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7B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7B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7B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705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b="1" dirty="0">
                          <a:solidFill>
                            <a:srgbClr val="000000"/>
                          </a:solidFill>
                        </a:rPr>
                        <a:t>Dependencies</a:t>
                      </a:r>
                      <a:endParaRPr lang="en-US" sz="1600" dirty="0"/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97B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7B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7B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7B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</a:rPr>
                        <a:t>Temporal only</a:t>
                      </a:r>
                      <a:endParaRPr lang="en-US" sz="1600" dirty="0"/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97B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7B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7B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7B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</a:rPr>
                        <a:t>Spatial &amp; temporal</a:t>
                      </a:r>
                      <a:endParaRPr lang="en-US" sz="1600" dirty="0"/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97B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7B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7B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7B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09728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b="1" dirty="0">
                          <a:solidFill>
                            <a:srgbClr val="000000"/>
                          </a:solidFill>
                        </a:rPr>
                        <a:t>Applications</a:t>
                      </a:r>
                      <a:endParaRPr lang="en-US" sz="1600" dirty="0"/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97B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7B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7B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7B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</a:rPr>
                        <a:t>Time‑series forecasting</a:t>
                      </a:r>
                      <a:endParaRPr lang="en-US" sz="1600" dirty="0"/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97B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7B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7B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7B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</a:rPr>
                        <a:t>Networks: social, transport, weather</a:t>
                      </a:r>
                      <a:endParaRPr lang="en-US" sz="1600" dirty="0"/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97B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7B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7B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7B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F1CBA32-C946-0A9C-0511-C84C60C2B1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064C77-022D-3743-A04E-645624933D1D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487513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D2F511-FFDE-F8D8-38A1-A6F42CCA54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Graph basics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232B982-D039-BB92-1266-0493D0E11C5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5643716" cy="4149290"/>
              </a:xfrm>
            </p:spPr>
            <p:txBody>
              <a:bodyPr>
                <a:normAutofit/>
              </a:bodyPr>
              <a:lstStyle/>
              <a:p>
                <a:r>
                  <a:rPr lang="en-US" dirty="0"/>
                  <a:t>Nodes: sensors or stations with features (temp, rain, etc.)</a:t>
                </a:r>
              </a:p>
              <a:p>
                <a:r>
                  <a:rPr lang="en-US" dirty="0"/>
                  <a:t>Edges: physical proximity or correlation between stations</a:t>
                </a:r>
              </a:p>
              <a:p>
                <a:r>
                  <a:rPr lang="en-US" dirty="0"/>
                  <a:t>Adjacency matrix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: </m:t>
                    </m:r>
                    <m:sSub>
                      <m:sSubPr>
                        <m:ctrlPr>
                          <a:rPr lang="en-US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 dirty="0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IE" b="0" i="1" dirty="0" smtClean="0">
                            <a:latin typeface="Cambria Math" panose="02040503050406030204" pitchFamily="18" charset="0"/>
                          </a:rPr>
                          <m:t>𝑖𝑗</m:t>
                        </m:r>
                      </m:sub>
                    </m:sSub>
                  </m:oMath>
                </a14:m>
                <a:r>
                  <a:rPr lang="en-US" dirty="0"/>
                  <a:t> = distance between stations; self‑loops (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𝐼</m:t>
                    </m:r>
                  </m:oMath>
                </a14:m>
                <a:r>
                  <a:rPr lang="en-US" dirty="0"/>
                  <a:t>) are added for stability</a:t>
                </a:r>
              </a:p>
              <a:p>
                <a:r>
                  <a:rPr lang="en-US" dirty="0"/>
                  <a:t>Degree matrix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𝐷</m:t>
                    </m:r>
                  </m:oMath>
                </a14:m>
                <a:r>
                  <a:rPr lang="en-US" dirty="0"/>
                  <a:t>: sum of rows + 1; used for </a:t>
                </a:r>
                <a:r>
                  <a:rPr lang="en-US" dirty="0" err="1"/>
                  <a:t>normalisation</a:t>
                </a:r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232B982-D039-BB92-1266-0493D0E11C5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5643716" cy="4149290"/>
              </a:xfrm>
              <a:blipFill>
                <a:blip r:embed="rId3"/>
                <a:stretch>
                  <a:fillRect l="-2022" t="-2439" r="-22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4" name="Table 0">
            <a:extLst>
              <a:ext uri="{FF2B5EF4-FFF2-40B4-BE49-F238E27FC236}">
                <a16:creationId xmlns:a16="http://schemas.microsoft.com/office/drawing/2014/main" id="{30E38570-1181-C433-3519-81B79B00F00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00724263"/>
              </p:ext>
            </p:extLst>
          </p:nvPr>
        </p:nvGraphicFramePr>
        <p:xfrm>
          <a:off x="7005484" y="1825625"/>
          <a:ext cx="4876800" cy="1463040"/>
        </p:xfrm>
        <a:graphic>
          <a:graphicData uri="http://schemas.openxmlformats.org/drawingml/2006/table">
            <a:tbl>
              <a:tblPr/>
              <a:tblGrid>
                <a:gridCol w="1219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19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19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192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en-US" sz="1600" dirty="0"/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97B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7B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7B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7B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b="1" dirty="0">
                          <a:solidFill>
                            <a:srgbClr val="000000"/>
                          </a:solidFill>
                        </a:rPr>
                        <a:t>Athlone</a:t>
                      </a:r>
                      <a:endParaRPr lang="en-US" sz="1600" dirty="0"/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97B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7B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7B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7B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b="1" dirty="0">
                          <a:solidFill>
                            <a:srgbClr val="000000"/>
                          </a:solidFill>
                        </a:rPr>
                        <a:t>Belfast</a:t>
                      </a:r>
                      <a:endParaRPr lang="en-US" sz="1600" dirty="0"/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97B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7B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7B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7B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b="1" dirty="0">
                          <a:solidFill>
                            <a:srgbClr val="000000"/>
                          </a:solidFill>
                        </a:rPr>
                        <a:t>Cork</a:t>
                      </a:r>
                      <a:endParaRPr lang="en-US" sz="1600" dirty="0"/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97B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7B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7B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7B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b="1" dirty="0">
                          <a:solidFill>
                            <a:srgbClr val="000000"/>
                          </a:solidFill>
                        </a:rPr>
                        <a:t>Athlone</a:t>
                      </a:r>
                      <a:endParaRPr lang="en-US" sz="1600" dirty="0"/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97B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7B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7B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7B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</a:rPr>
                        <a:t>0</a:t>
                      </a:r>
                      <a:endParaRPr lang="en-US" sz="1600" dirty="0"/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97B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7B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7B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7B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1600" dirty="0"/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97B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7B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7B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7B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</a:rPr>
                        <a:t>0.5</a:t>
                      </a:r>
                      <a:endParaRPr lang="en-US" sz="1600" dirty="0"/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97B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7B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7B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7B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b="1" dirty="0">
                          <a:solidFill>
                            <a:srgbClr val="000000"/>
                          </a:solidFill>
                        </a:rPr>
                        <a:t>Belfast</a:t>
                      </a:r>
                      <a:endParaRPr lang="en-US" sz="1600" dirty="0"/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97B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7B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7B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7B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</a:rPr>
                        <a:t>1</a:t>
                      </a:r>
                      <a:endParaRPr lang="en-US" sz="1600" dirty="0"/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97B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7B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7B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7B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</a:rPr>
                        <a:t>0</a:t>
                      </a:r>
                      <a:endParaRPr lang="en-US" sz="1600" dirty="0"/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97B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7B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7B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7B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</a:rPr>
                        <a:t>0.2</a:t>
                      </a:r>
                      <a:endParaRPr lang="en-US" sz="1600" dirty="0"/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97B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7B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7B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7B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b="1" dirty="0">
                          <a:solidFill>
                            <a:srgbClr val="000000"/>
                          </a:solidFill>
                        </a:rPr>
                        <a:t>Cork</a:t>
                      </a:r>
                      <a:endParaRPr lang="en-US" sz="1600" dirty="0"/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97B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7B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7B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7B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</a:rPr>
                        <a:t>0.5</a:t>
                      </a:r>
                      <a:endParaRPr lang="en-US" sz="1600" dirty="0"/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97B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7B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7B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7B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</a:rPr>
                        <a:t>0.2</a:t>
                      </a:r>
                      <a:endParaRPr lang="en-US" sz="1600" dirty="0"/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97B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7B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7B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7B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C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600" dirty="0">
                          <a:solidFill>
                            <a:srgbClr val="000000"/>
                          </a:solidFill>
                        </a:rPr>
                        <a:t>0</a:t>
                      </a:r>
                      <a:endParaRPr lang="en-US" sz="1600" dirty="0"/>
                    </a:p>
                  </a:txBody>
                  <a:tcPr marL="121920" marR="121920" marT="60960" marB="60960">
                    <a:lnL w="6350" cap="flat" cmpd="sng" algn="ctr">
                      <a:solidFill>
                        <a:srgbClr val="97B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7B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7B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7B1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5" name="Shape 1">
            <a:extLst>
              <a:ext uri="{FF2B5EF4-FFF2-40B4-BE49-F238E27FC236}">
                <a16:creationId xmlns:a16="http://schemas.microsoft.com/office/drawing/2014/main" id="{EDAD382C-7614-A662-B44F-171157B33380}"/>
              </a:ext>
            </a:extLst>
          </p:cNvPr>
          <p:cNvSpPr/>
          <p:nvPr/>
        </p:nvSpPr>
        <p:spPr>
          <a:xfrm flipV="1">
            <a:off x="7096432" y="3974690"/>
            <a:ext cx="1457633" cy="1114979"/>
          </a:xfrm>
          <a:prstGeom prst="line">
            <a:avLst/>
          </a:prstGeom>
          <a:noFill/>
          <a:ln w="15240">
            <a:solidFill>
              <a:srgbClr val="97B1DF"/>
            </a:solidFill>
            <a:prstDash val="solid"/>
          </a:ln>
        </p:spPr>
        <p:txBody>
          <a:bodyPr/>
          <a:lstStyle/>
          <a:p>
            <a:endParaRPr sz="2400"/>
          </a:p>
        </p:txBody>
      </p:sp>
      <p:sp>
        <p:nvSpPr>
          <p:cNvPr id="6" name="Shape 2">
            <a:extLst>
              <a:ext uri="{FF2B5EF4-FFF2-40B4-BE49-F238E27FC236}">
                <a16:creationId xmlns:a16="http://schemas.microsoft.com/office/drawing/2014/main" id="{4C57CABA-7FEA-4345-F360-01265A78B734}"/>
              </a:ext>
            </a:extLst>
          </p:cNvPr>
          <p:cNvSpPr/>
          <p:nvPr/>
        </p:nvSpPr>
        <p:spPr>
          <a:xfrm>
            <a:off x="8803312" y="3809509"/>
            <a:ext cx="1152833" cy="1114979"/>
          </a:xfrm>
          <a:prstGeom prst="line">
            <a:avLst/>
          </a:prstGeom>
          <a:noFill/>
          <a:ln w="15240">
            <a:solidFill>
              <a:srgbClr val="97B1DF"/>
            </a:solidFill>
            <a:prstDash val="solid"/>
          </a:ln>
        </p:spPr>
        <p:txBody>
          <a:bodyPr/>
          <a:lstStyle/>
          <a:p>
            <a:endParaRPr sz="2400"/>
          </a:p>
        </p:txBody>
      </p:sp>
      <p:sp>
        <p:nvSpPr>
          <p:cNvPr id="7" name="Shape 3">
            <a:extLst>
              <a:ext uri="{FF2B5EF4-FFF2-40B4-BE49-F238E27FC236}">
                <a16:creationId xmlns:a16="http://schemas.microsoft.com/office/drawing/2014/main" id="{F842D437-4E46-450E-2CFB-83D166D28B36}"/>
              </a:ext>
            </a:extLst>
          </p:cNvPr>
          <p:cNvSpPr/>
          <p:nvPr/>
        </p:nvSpPr>
        <p:spPr>
          <a:xfrm>
            <a:off x="10083472" y="5943109"/>
            <a:ext cx="0" cy="0"/>
          </a:xfrm>
          <a:prstGeom prst="line">
            <a:avLst/>
          </a:prstGeom>
          <a:noFill/>
          <a:ln w="15240">
            <a:solidFill>
              <a:srgbClr val="97B1DF"/>
            </a:solidFill>
            <a:prstDash val="solid"/>
          </a:ln>
        </p:spPr>
        <p:txBody>
          <a:bodyPr/>
          <a:lstStyle/>
          <a:p>
            <a:endParaRPr sz="2400"/>
          </a:p>
        </p:txBody>
      </p:sp>
      <p:sp>
        <p:nvSpPr>
          <p:cNvPr id="8" name="Shape 4">
            <a:extLst>
              <a:ext uri="{FF2B5EF4-FFF2-40B4-BE49-F238E27FC236}">
                <a16:creationId xmlns:a16="http://schemas.microsoft.com/office/drawing/2014/main" id="{1FDB4684-F261-1254-E387-52310ABE6723}"/>
              </a:ext>
            </a:extLst>
          </p:cNvPr>
          <p:cNvSpPr/>
          <p:nvPr/>
        </p:nvSpPr>
        <p:spPr>
          <a:xfrm>
            <a:off x="6791632" y="4784869"/>
            <a:ext cx="609600" cy="609600"/>
          </a:xfrm>
          <a:prstGeom prst="ellipse">
            <a:avLst/>
          </a:prstGeom>
          <a:solidFill>
            <a:srgbClr val="E8F1FA"/>
          </a:solidFill>
          <a:ln w="12700">
            <a:solidFill>
              <a:srgbClr val="97B1DF"/>
            </a:solidFill>
            <a:prstDash val="solid"/>
          </a:ln>
        </p:spPr>
        <p:txBody>
          <a:bodyPr/>
          <a:lstStyle/>
          <a:p>
            <a:endParaRPr sz="2400"/>
          </a:p>
        </p:txBody>
      </p:sp>
      <p:sp>
        <p:nvSpPr>
          <p:cNvPr id="9" name="Text 5">
            <a:extLst>
              <a:ext uri="{FF2B5EF4-FFF2-40B4-BE49-F238E27FC236}">
                <a16:creationId xmlns:a16="http://schemas.microsoft.com/office/drawing/2014/main" id="{459EDE0A-7FE6-411A-255A-C962F71A513D}"/>
              </a:ext>
            </a:extLst>
          </p:cNvPr>
          <p:cNvSpPr/>
          <p:nvPr/>
        </p:nvSpPr>
        <p:spPr>
          <a:xfrm>
            <a:off x="6791632" y="5455429"/>
            <a:ext cx="609600" cy="304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600" dirty="0">
                <a:solidFill>
                  <a:srgbClr val="000000"/>
                </a:solidFill>
              </a:rPr>
              <a:t>A</a:t>
            </a:r>
            <a:endParaRPr lang="en-US" sz="1600" dirty="0"/>
          </a:p>
        </p:txBody>
      </p:sp>
      <p:sp>
        <p:nvSpPr>
          <p:cNvPr id="11" name="Shape 7">
            <a:extLst>
              <a:ext uri="{FF2B5EF4-FFF2-40B4-BE49-F238E27FC236}">
                <a16:creationId xmlns:a16="http://schemas.microsoft.com/office/drawing/2014/main" id="{E0DEEBA2-E1A8-FAFA-4358-45925D944A18}"/>
              </a:ext>
            </a:extLst>
          </p:cNvPr>
          <p:cNvSpPr/>
          <p:nvPr/>
        </p:nvSpPr>
        <p:spPr>
          <a:xfrm>
            <a:off x="8498512" y="3504709"/>
            <a:ext cx="609600" cy="609600"/>
          </a:xfrm>
          <a:prstGeom prst="ellipse">
            <a:avLst/>
          </a:prstGeom>
          <a:solidFill>
            <a:srgbClr val="E8F1FA"/>
          </a:solidFill>
          <a:ln w="12700">
            <a:solidFill>
              <a:srgbClr val="97B1DF"/>
            </a:solidFill>
            <a:prstDash val="solid"/>
          </a:ln>
        </p:spPr>
        <p:txBody>
          <a:bodyPr/>
          <a:lstStyle/>
          <a:p>
            <a:endParaRPr sz="2400"/>
          </a:p>
        </p:txBody>
      </p:sp>
      <p:sp>
        <p:nvSpPr>
          <p:cNvPr id="12" name="Text 8">
            <a:extLst>
              <a:ext uri="{FF2B5EF4-FFF2-40B4-BE49-F238E27FC236}">
                <a16:creationId xmlns:a16="http://schemas.microsoft.com/office/drawing/2014/main" id="{2B2E12D0-B993-EADB-13EF-75F330A9CE0B}"/>
              </a:ext>
            </a:extLst>
          </p:cNvPr>
          <p:cNvSpPr/>
          <p:nvPr/>
        </p:nvSpPr>
        <p:spPr>
          <a:xfrm>
            <a:off x="8498512" y="4175269"/>
            <a:ext cx="609600" cy="304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600" dirty="0">
                <a:solidFill>
                  <a:srgbClr val="000000"/>
                </a:solidFill>
              </a:rPr>
              <a:t>B</a:t>
            </a:r>
            <a:endParaRPr lang="en-US" sz="1600" dirty="0"/>
          </a:p>
        </p:txBody>
      </p:sp>
      <p:sp>
        <p:nvSpPr>
          <p:cNvPr id="14" name="Shape 10">
            <a:extLst>
              <a:ext uri="{FF2B5EF4-FFF2-40B4-BE49-F238E27FC236}">
                <a16:creationId xmlns:a16="http://schemas.microsoft.com/office/drawing/2014/main" id="{06BB6143-339D-642C-2645-0A79C741EDA4}"/>
              </a:ext>
            </a:extLst>
          </p:cNvPr>
          <p:cNvSpPr/>
          <p:nvPr/>
        </p:nvSpPr>
        <p:spPr>
          <a:xfrm>
            <a:off x="9778672" y="4900889"/>
            <a:ext cx="609600" cy="609600"/>
          </a:xfrm>
          <a:prstGeom prst="ellipse">
            <a:avLst/>
          </a:prstGeom>
          <a:solidFill>
            <a:srgbClr val="E8F1FA"/>
          </a:solidFill>
          <a:ln w="12700">
            <a:solidFill>
              <a:srgbClr val="97B1DF"/>
            </a:solidFill>
            <a:prstDash val="solid"/>
          </a:ln>
        </p:spPr>
        <p:txBody>
          <a:bodyPr/>
          <a:lstStyle/>
          <a:p>
            <a:endParaRPr sz="2400"/>
          </a:p>
        </p:txBody>
      </p:sp>
      <p:sp>
        <p:nvSpPr>
          <p:cNvPr id="15" name="Text 11">
            <a:extLst>
              <a:ext uri="{FF2B5EF4-FFF2-40B4-BE49-F238E27FC236}">
                <a16:creationId xmlns:a16="http://schemas.microsoft.com/office/drawing/2014/main" id="{DD51E938-F2D3-56A5-304D-EF47C9A9C6E7}"/>
              </a:ext>
            </a:extLst>
          </p:cNvPr>
          <p:cNvSpPr/>
          <p:nvPr/>
        </p:nvSpPr>
        <p:spPr>
          <a:xfrm>
            <a:off x="9778672" y="5571449"/>
            <a:ext cx="609600" cy="304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1600" dirty="0">
                <a:solidFill>
                  <a:srgbClr val="000000"/>
                </a:solidFill>
              </a:rPr>
              <a:t>C</a:t>
            </a:r>
            <a:endParaRPr lang="en-US" sz="1600" dirty="0"/>
          </a:p>
        </p:txBody>
      </p:sp>
      <p:sp>
        <p:nvSpPr>
          <p:cNvPr id="16" name="Shape 1">
            <a:extLst>
              <a:ext uri="{FF2B5EF4-FFF2-40B4-BE49-F238E27FC236}">
                <a16:creationId xmlns:a16="http://schemas.microsoft.com/office/drawing/2014/main" id="{7C60A96D-BE86-2E27-774E-2B4958EA93BD}"/>
              </a:ext>
            </a:extLst>
          </p:cNvPr>
          <p:cNvSpPr/>
          <p:nvPr/>
        </p:nvSpPr>
        <p:spPr>
          <a:xfrm>
            <a:off x="7401232" y="5184241"/>
            <a:ext cx="2347821" cy="32265"/>
          </a:xfrm>
          <a:prstGeom prst="line">
            <a:avLst/>
          </a:prstGeom>
          <a:noFill/>
          <a:ln w="15240">
            <a:solidFill>
              <a:srgbClr val="97B1DF"/>
            </a:solidFill>
            <a:prstDash val="solid"/>
          </a:ln>
        </p:spPr>
        <p:txBody>
          <a:bodyPr/>
          <a:lstStyle/>
          <a:p>
            <a:endParaRPr sz="2400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EE97DB36-110A-2CD1-129C-1236A3A55A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064C77-022D-3743-A04E-645624933D1D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648727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E53594-927D-D503-E02A-5870F8E4FC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Task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7456702-BFAC-A20D-EAFC-4B327E92C1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Given a set of weather observations at each station, predict the temperature at the next time point</a:t>
            </a:r>
          </a:p>
          <a:p>
            <a:r>
              <a:rPr lang="en-US" dirty="0"/>
              <a:t>Idea: use the fact that some stations are closer than others to create the predictions</a:t>
            </a:r>
          </a:p>
          <a:p>
            <a:r>
              <a:rPr lang="en-US" dirty="0"/>
              <a:t>Try and fit into the world of NNs and embeddings. We are always looking to create hidden neurons that capture the important aspects of the data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6E5A17D-E05A-2B90-6745-5F1FE17F09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064C77-022D-3743-A04E-645624933D1D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766713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38BFF5-8E62-D673-A149-42221D353D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Simplified method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141E23B-54A2-CFC7-11CA-4A0F5F4262B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8167577" cy="4530205"/>
              </a:xfrm>
            </p:spPr>
            <p:txBody>
              <a:bodyPr>
                <a:normAutofit fontScale="62500" lnSpcReduction="20000"/>
              </a:bodyPr>
              <a:lstStyle/>
              <a:p>
                <a:pPr marL="0" indent="0">
                  <a:buNone/>
                </a:pPr>
                <a:r>
                  <a:rPr lang="en-US" dirty="0"/>
                  <a:t>Layer update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IE" i="1" dirty="0" smtClean="0">
                          <a:latin typeface="Cambria Math" panose="02040503050406030204" pitchFamily="18" charset="0"/>
                        </a:rPr>
                        <m:t>𝐻</m:t>
                      </m:r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 = </m:t>
                      </m:r>
                      <m:r>
                        <a:rPr lang="el-GR" i="1" dirty="0" smtClean="0">
                          <a:latin typeface="Cambria Math" panose="02040503050406030204" pitchFamily="18" charset="0"/>
                        </a:rPr>
                        <m:t>𝜎</m:t>
                      </m:r>
                      <m:d>
                        <m:dPr>
                          <m:ctrlPr>
                            <a:rPr lang="el-GR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l-GR" i="1" dirty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IE" b="0" i="1" dirty="0" smtClean="0">
                              <a:latin typeface="Cambria Math" panose="02040503050406030204" pitchFamily="18" charset="0"/>
                            </a:rPr>
                            <m:t>𝑀</m:t>
                          </m:r>
                          <m:r>
                            <a:rPr lang="en-IE" b="0" i="1" dirty="0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IE" b="0" i="1" dirty="0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en-US" i="1" dirty="0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d>
                    </m:oMath>
                  </m:oMathPara>
                </a14:m>
                <a:endParaRPr lang="en-IE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dirty="0" smtClean="0">
                          <a:latin typeface="Cambria Math" panose="02040503050406030204" pitchFamily="18" charset="0"/>
                        </a:rPr>
                        <m:t>𝑀</m:t>
                      </m:r>
                      <m:r>
                        <a:rPr lang="en-IE" b="0" i="1" dirty="0" smtClean="0">
                          <a:latin typeface="Cambria Math" panose="02040503050406030204" pitchFamily="18" charset="0"/>
                        </a:rPr>
                        <m:t>=</m:t>
                      </m:r>
                      <m:acc>
                        <m:accPr>
                          <m:chr m:val="̂"/>
                          <m:ctrlPr>
                            <a:rPr lang="en-IE" b="0" i="1" dirty="0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IE" b="0" i="1" dirty="0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acc>
                      <m:r>
                        <a:rPr lang="en-IE" b="0" i="1" dirty="0" smtClean="0">
                          <a:latin typeface="Cambria Math" panose="02040503050406030204" pitchFamily="18" charset="0"/>
                        </a:rPr>
                        <m:t>𝑆</m:t>
                      </m:r>
                    </m:oMath>
                  </m:oMathPara>
                </a14:m>
                <a:endParaRPr lang="en-IE" b="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en-IE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IE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acc>
                      <m:r>
                        <a:rPr lang="en-IE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IE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acc>
                            <m:accPr>
                              <m:chr m:val="̃"/>
                              <m:ctrlPr>
                                <a:rPr lang="en-IE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IE" b="0" i="1" smtClean="0"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</m:e>
                          </m:acc>
                        </m:e>
                        <m:sup>
                          <m:r>
                            <a:rPr lang="en-IE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en-IE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IE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IE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</m:sup>
                      </m:sSup>
                      <m:acc>
                        <m:accPr>
                          <m:chr m:val="̃"/>
                          <m:ctrlPr>
                            <a:rPr lang="en-IE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IE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</m:acc>
                      <m:sSup>
                        <m:sSupPr>
                          <m:ctrlPr>
                            <a:rPr lang="en-IE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acc>
                            <m:accPr>
                              <m:chr m:val="̃"/>
                              <m:ctrlPr>
                                <a:rPr lang="en-IE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IE" i="1">
                                  <a:latin typeface="Cambria Math" panose="02040503050406030204" pitchFamily="18" charset="0"/>
                                </a:rPr>
                                <m:t>𝐷</m:t>
                              </m:r>
                            </m:e>
                          </m:acc>
                        </m:e>
                        <m:sup>
                          <m:r>
                            <a:rPr lang="en-IE" i="1">
                              <a:latin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en-IE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IE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en-IE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</m:sup>
                      </m:sSup>
                    </m:oMath>
                  </m:oMathPara>
                </a14:m>
                <a:endParaRPr lang="en-IE" b="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IE" b="0" i="1" smtClean="0">
                          <a:latin typeface="Cambria Math" panose="02040503050406030204" pitchFamily="18" charset="0"/>
                        </a:rPr>
                        <m:t>𝑆</m:t>
                      </m:r>
                      <m:r>
                        <a:rPr lang="en-IE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IE" b="0" i="1" smtClean="0">
                          <a:latin typeface="Cambria Math" panose="02040503050406030204" pitchFamily="18" charset="0"/>
                        </a:rPr>
                        <m:t>𝑋𝑊</m:t>
                      </m:r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Where:</a:t>
                </a:r>
              </a:p>
              <a:p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𝐻</m:t>
                    </m:r>
                  </m:oMath>
                </a14:m>
                <a:r>
                  <a:rPr lang="en-IE" i="1" dirty="0">
                    <a:latin typeface="Cambria Math" panose="02040503050406030204" pitchFamily="18" charset="0"/>
                  </a:rPr>
                  <a:t> </a:t>
                </a:r>
                <a:r>
                  <a:rPr lang="en-IE" dirty="0"/>
                  <a:t>is a hidden layer neuron representing the node embeddings</a:t>
                </a:r>
              </a:p>
              <a:p>
                <a14:m>
                  <m:oMath xmlns:m="http://schemas.openxmlformats.org/officeDocument/2006/math">
                    <m:acc>
                      <m:accPr>
                        <m:chr m:val="̃"/>
                        <m:ctrlPr>
                          <a:rPr lang="en-IE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IE" i="1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acc>
                    <m:r>
                      <a:rPr lang="en-US" i="1" dirty="0" smtClean="0">
                        <a:latin typeface="Cambria Math" panose="02040503050406030204" pitchFamily="18" charset="0"/>
                      </a:rPr>
                      <m:t>= 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 + 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𝐼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adds self‑loops</a:t>
                </a:r>
              </a:p>
              <a:p>
                <a14:m>
                  <m:oMath xmlns:m="http://schemas.openxmlformats.org/officeDocument/2006/math">
                    <m:acc>
                      <m:accPr>
                        <m:chr m:val="̃"/>
                        <m:ctrlPr>
                          <a:rPr lang="en-IE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IE" i="1"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</m:acc>
                    <m:r>
                      <a:rPr lang="en-IE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is the degree matrix of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Â</m:t>
                    </m:r>
                  </m:oMath>
                </a14:m>
                <a:endParaRPr lang="en-US" dirty="0"/>
              </a:p>
              <a:p>
                <a14:m>
                  <m:oMath xmlns:m="http://schemas.openxmlformats.org/officeDocument/2006/math">
                    <m:sSup>
                      <m:sSupPr>
                        <m:ctrlPr>
                          <a:rPr lang="en-I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acc>
                          <m:accPr>
                            <m:chr m:val="̃"/>
                            <m:ctrlPr>
                              <a:rPr lang="en-IE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IE" i="1">
                                <a:latin typeface="Cambria Math" panose="02040503050406030204" pitchFamily="18" charset="0"/>
                              </a:rPr>
                              <m:t>𝐷</m:t>
                            </m:r>
                          </m:e>
                        </m:acc>
                      </m:e>
                      <m:sup>
                        <m:r>
                          <a:rPr lang="en-IE" i="1">
                            <a:latin typeface="Cambria Math" panose="02040503050406030204" pitchFamily="18" charset="0"/>
                          </a:rPr>
                          <m:t>−</m:t>
                        </m:r>
                        <m:f>
                          <m:fPr>
                            <m:ctrlPr>
                              <a:rPr lang="en-IE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IE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en-IE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den>
                        </m:f>
                      </m:sup>
                    </m:sSup>
                    <m:acc>
                      <m:accPr>
                        <m:chr m:val="̃"/>
                        <m:ctrlPr>
                          <a:rPr lang="en-IE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IE" i="1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acc>
                    <m:sSup>
                      <m:sSupPr>
                        <m:ctrlPr>
                          <a:rPr lang="en-IE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acc>
                          <m:accPr>
                            <m:chr m:val="̃"/>
                            <m:ctrlPr>
                              <a:rPr lang="en-IE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IE" i="1">
                                <a:latin typeface="Cambria Math" panose="02040503050406030204" pitchFamily="18" charset="0"/>
                              </a:rPr>
                              <m:t>𝐷</m:t>
                            </m:r>
                          </m:e>
                        </m:acc>
                      </m:e>
                      <m:sup>
                        <m:r>
                          <a:rPr lang="en-IE" i="1">
                            <a:latin typeface="Cambria Math" panose="02040503050406030204" pitchFamily="18" charset="0"/>
                          </a:rPr>
                          <m:t>−</m:t>
                        </m:r>
                        <m:f>
                          <m:fPr>
                            <m:ctrlPr>
                              <a:rPr lang="en-IE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IE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en-IE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den>
                        </m:f>
                      </m:sup>
                    </m:sSup>
                  </m:oMath>
                </a14:m>
                <a:r>
                  <a:rPr lang="en-US" dirty="0"/>
                  <a:t>yields the </a:t>
                </a:r>
                <a:r>
                  <a:rPr lang="en-US" dirty="0" err="1"/>
                  <a:t>normalised</a:t>
                </a:r>
                <a:r>
                  <a:rPr lang="en-US" dirty="0"/>
                  <a:t> adjacency matrix</a:t>
                </a:r>
              </a:p>
              <a:p>
                <a14:m>
                  <m:oMath xmlns:m="http://schemas.openxmlformats.org/officeDocument/2006/math">
                    <m:r>
                      <a:rPr lang="en-IE" i="1" dirty="0" smtClean="0">
                        <a:latin typeface="Cambria Math" panose="02040503050406030204" pitchFamily="18" charset="0"/>
                      </a:rPr>
                      <m:t>𝑊</m:t>
                    </m:r>
                  </m:oMath>
                </a14:m>
                <a:r>
                  <a:rPr lang="en-US" dirty="0"/>
                  <a:t> is a learnable weight matrix </a:t>
                </a:r>
              </a:p>
              <a:p>
                <a:r>
                  <a:rPr lang="en-US" dirty="0"/>
                  <a:t>…and </a:t>
                </a:r>
                <a14:m>
                  <m:oMath xmlns:m="http://schemas.openxmlformats.org/officeDocument/2006/math">
                    <m:r>
                      <a:rPr lang="el-GR" i="1" dirty="0" smtClean="0">
                        <a:latin typeface="Cambria Math" panose="02040503050406030204" pitchFamily="18" charset="0"/>
                      </a:rPr>
                      <m:t>𝜎</m:t>
                    </m:r>
                  </m:oMath>
                </a14:m>
                <a:r>
                  <a:rPr lang="el-GR" dirty="0"/>
                  <a:t> </a:t>
                </a:r>
                <a:r>
                  <a:rPr lang="en-US" dirty="0"/>
                  <a:t>an activation function</a:t>
                </a:r>
              </a:p>
              <a:p>
                <a:r>
                  <a:rPr lang="en-US" dirty="0"/>
                  <a:t>The matrix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𝑀</m:t>
                    </m:r>
                  </m:oMath>
                </a14:m>
                <a:r>
                  <a:rPr lang="en-US" dirty="0"/>
                  <a:t> is the </a:t>
                </a:r>
                <a:r>
                  <a:rPr lang="en-US" b="1" dirty="0"/>
                  <a:t>message passing</a:t>
                </a:r>
                <a:r>
                  <a:rPr lang="en-US" dirty="0"/>
                  <a:t> matrix that weights all the features by the surrounding notes (more weight if closer in the network), hence ‘passing messages’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141E23B-54A2-CFC7-11CA-4A0F5F4262B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8167577" cy="4530205"/>
              </a:xfrm>
              <a:blipFill>
                <a:blip r:embed="rId3"/>
                <a:stretch>
                  <a:fillRect l="-621" t="-2235" r="-46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268F1F5-8ACD-3441-029D-061DDA51F9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064C77-022D-3743-A04E-645624933D1D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798966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B1F588-EB91-3AD3-304D-E1FCA3A72C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40A2A0-FFC5-CE55-D9BC-318D0C3EA5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GNN 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1A22F22-F9B7-CF88-1042-2600D3E55BE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95198"/>
            <a:ext cx="8348602" cy="4149290"/>
          </a:xfrm>
        </p:spPr>
        <p:txBody>
          <a:bodyPr>
            <a:normAutofit/>
          </a:bodyPr>
          <a:lstStyle/>
          <a:p>
            <a:r>
              <a:rPr lang="en-IE" dirty="0">
                <a:solidFill>
                  <a:srgbClr val="009749"/>
                </a:solidFill>
              </a:rPr>
              <a:t>Go through on the board</a:t>
            </a:r>
            <a:endParaRPr lang="en-US" dirty="0">
              <a:solidFill>
                <a:srgbClr val="009749"/>
              </a:solidFill>
            </a:endParaRP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31E22C7-00F3-2250-3239-5C8E3FBDA3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064C77-022D-3743-A04E-645624933D1D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647345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47FAF3-4A66-AC22-D4F5-2014A95ED3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Notes about this approach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CDF152-1CCF-BC2C-C2E3-DDFC647B072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547852" cy="4149290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We can predict </a:t>
            </a:r>
            <a:r>
              <a:rPr lang="en-US" b="1" dirty="0"/>
              <a:t>different</a:t>
            </a:r>
            <a:r>
              <a:rPr lang="en-US" dirty="0"/>
              <a:t> outputs from the inputs</a:t>
            </a:r>
          </a:p>
          <a:p>
            <a:r>
              <a:rPr lang="en-US" dirty="0"/>
              <a:t>For example, here we’re only predicting temperature but we’re inputting temperature and wind speed</a:t>
            </a:r>
          </a:p>
          <a:p>
            <a:r>
              <a:rPr lang="en-US" dirty="0"/>
              <a:t>We can extend all these simple NN steps to be have multiple hidden neurons and hence much more complicated relationships through the node embeddings</a:t>
            </a:r>
          </a:p>
          <a:p>
            <a:r>
              <a:rPr lang="en-US" dirty="0"/>
              <a:t>(Sometimes node embeddings can be interesting to plot / explore)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BFB0854-B419-5BE9-8D60-953CCABC0D9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3097" y="2101645"/>
            <a:ext cx="4947121" cy="2858934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349EA61-6418-6933-A83F-A1463863CA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064C77-022D-3743-A04E-645624933D1D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757330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634378-2532-C579-5507-331EDD1364B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928FE24-895D-D041-01FA-6F26FFD28AD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BFEC3A3-A6E9-042A-131B-92A301EE7225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5A064C77-022D-3743-A04E-645624933D1D}" type="slidenum">
              <a:rPr lang="en-US" smtClean="0"/>
              <a:t>9</a:t>
            </a:fld>
            <a:endParaRPr lang="en-US"/>
          </a:p>
        </p:txBody>
      </p:sp>
      <p:pic>
        <p:nvPicPr>
          <p:cNvPr id="6" name="slide.url=https://www.polleverywhere.com/multiple_choice_polls/tTcCwBG944HpO30cTGShm?state=opened&amp;flow=Default&amp;onscreen=persist">
            <a:extLst>
              <a:ext uri="{FF2B5EF4-FFF2-40B4-BE49-F238E27FC236}">
                <a16:creationId xmlns:a16="http://schemas.microsoft.com/office/drawing/2014/main" id="{67BD5077-4494-A573-60C4-80012FC54E2D}"/>
              </a:ext>
            </a:extLst>
          </p:cNvPr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>
            <a:off x="63500" y="63500"/>
            <a:ext cx="12065000" cy="6731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6499607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F7E4B5-DA8F-7B05-B342-D08961A1DB1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11DA6A1-E993-7C5D-CE14-62AE59CA521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9DE715B-D607-F2FB-E153-55454048D3BB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5A064C77-022D-3743-A04E-645624933D1D}" type="slidenum">
              <a:rPr lang="en-US" smtClean="0"/>
              <a:t>10</a:t>
            </a:fld>
            <a:endParaRPr lang="en-US"/>
          </a:p>
        </p:txBody>
      </p:sp>
      <p:pic>
        <p:nvPicPr>
          <p:cNvPr id="6" name="slide.url=https://www.polleverywhere.com/multiple_choice_polls/clM2DHZ1dg0fR6SueU4WL?state=opened&amp;flow=Default&amp;onscreen=persist">
            <a:extLst>
              <a:ext uri="{FF2B5EF4-FFF2-40B4-BE49-F238E27FC236}">
                <a16:creationId xmlns:a16="http://schemas.microsoft.com/office/drawing/2014/main" id="{D3465CCA-32F1-EB4C-7F23-1D7C42338DAE}"/>
              </a:ext>
            </a:extLst>
          </p:cNvPr>
          <p:cNvPicPr>
            <a:picLocks/>
          </p:cNvPicPr>
          <p:nvPr/>
        </p:nvPicPr>
        <p:blipFill>
          <a:blip r:embed="rId3"/>
          <a:stretch>
            <a:fillRect/>
          </a:stretch>
        </p:blipFill>
        <p:spPr>
          <a:xfrm>
            <a:off x="63500" y="63500"/>
            <a:ext cx="12065000" cy="6731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731355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5A89A2-1651-03B1-9F02-A18D97C0DF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Graph attention transformers	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0CE27B-FA3E-1628-5E7E-685AC24D86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If we create the node embeddings for every time step in our data set, we can then add a transformer</a:t>
            </a:r>
          </a:p>
          <a:p>
            <a:r>
              <a:rPr lang="en-US" dirty="0">
                <a:solidFill>
                  <a:srgbClr val="009749"/>
                </a:solidFill>
              </a:rPr>
              <a:t>Best explained with </a:t>
            </a:r>
            <a:r>
              <a:rPr lang="en-US" dirty="0" err="1">
                <a:solidFill>
                  <a:srgbClr val="009749"/>
                </a:solidFill>
              </a:rPr>
              <a:t>maths</a:t>
            </a:r>
            <a:r>
              <a:rPr lang="en-US" dirty="0">
                <a:solidFill>
                  <a:srgbClr val="009749"/>
                </a:solidFill>
              </a:rPr>
              <a:t> on the board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973ACBE-DE99-3A38-B5EF-EFB416D596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064C77-022D-3743-A04E-645624933D1D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456616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ACC1F0-20F6-8260-3F9A-23A3DC07E7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Other clever parts of AIFS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24744F1-C1FC-5DD9-B433-93902F093C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702710" cy="4149290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They use GELU activation functions to give smoother gradients (and removes kink at zero which helps models with more layers)</a:t>
            </a:r>
          </a:p>
          <a:p>
            <a:r>
              <a:rPr lang="en-US" dirty="0">
                <a:solidFill>
                  <a:srgbClr val="009749"/>
                </a:solidFill>
              </a:rPr>
              <a:t>They use a clever mask for the attention weights via </a:t>
            </a:r>
            <a:r>
              <a:rPr lang="en-US" b="1" dirty="0">
                <a:solidFill>
                  <a:srgbClr val="009749"/>
                </a:solidFill>
              </a:rPr>
              <a:t>latitude bands</a:t>
            </a:r>
          </a:p>
          <a:p>
            <a:r>
              <a:rPr lang="en-US" dirty="0"/>
              <a:t>This restricts the attention mechanism and reduces the number of required parameters (but potentially sacrifices some teleconnections?)</a:t>
            </a:r>
          </a:p>
          <a:p>
            <a:r>
              <a:rPr lang="en-US" dirty="0"/>
              <a:t>Not entirely clear how they link together the larger ‘observation’ grid with the smaller ‘processor’ grid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B648465-6366-646D-2CE0-DB5E38E34FF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43754" y="2204883"/>
            <a:ext cx="5041057" cy="2153266"/>
          </a:xfrm>
          <a:prstGeom prst="rect">
            <a:avLst/>
          </a:prstGeom>
        </p:spPr>
      </p:pic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F26FEFF-A767-48F3-128E-3855662DE3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064C77-022D-3743-A04E-645624933D1D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328099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E6C42B-B4C3-E1F4-E8B8-432684EC76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Pytorch</a:t>
            </a:r>
            <a:r>
              <a:rPr lang="en-US" dirty="0"/>
              <a:t> implementation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6682F7-1F14-1419-22A6-42A0AA840B4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3859161" cy="4149290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Our already defined GCN (1 layer) for e.g. 3 stations</a:t>
            </a:r>
          </a:p>
          <a:p>
            <a:r>
              <a:rPr lang="en-US" dirty="0"/>
              <a:t>A is the distance-based weights; self-loops are added inside</a:t>
            </a:r>
          </a:p>
          <a:p>
            <a:r>
              <a:rPr lang="en-US" dirty="0"/>
              <a:t>H are the node embeddings</a:t>
            </a:r>
          </a:p>
          <a:p>
            <a:r>
              <a:rPr lang="en-US" dirty="0"/>
              <a:t>Should really do this with </a:t>
            </a:r>
            <a:r>
              <a:rPr lang="en-US" dirty="0" err="1">
                <a:latin typeface="Courier New" panose="02070309020205020404" pitchFamily="49" charset="0"/>
                <a:cs typeface="Courier New" panose="02070309020205020404" pitchFamily="49" charset="0"/>
              </a:rPr>
              <a:t>torch_geometric</a:t>
            </a:r>
            <a:r>
              <a:rPr lang="en-US" dirty="0"/>
              <a:t> but too big to fit on slide!</a:t>
            </a:r>
          </a:p>
        </p:txBody>
      </p:sp>
      <p:sp>
        <p:nvSpPr>
          <p:cNvPr id="5" name="Shape 2">
            <a:extLst>
              <a:ext uri="{FF2B5EF4-FFF2-40B4-BE49-F238E27FC236}">
                <a16:creationId xmlns:a16="http://schemas.microsoft.com/office/drawing/2014/main" id="{B2E7BD83-EAC7-A17C-A191-9997BFEDC725}"/>
              </a:ext>
            </a:extLst>
          </p:cNvPr>
          <p:cNvSpPr/>
          <p:nvPr/>
        </p:nvSpPr>
        <p:spPr>
          <a:xfrm>
            <a:off x="4838606" y="1983455"/>
            <a:ext cx="7166581" cy="3060494"/>
          </a:xfrm>
          <a:prstGeom prst="rect">
            <a:avLst/>
          </a:prstGeom>
          <a:solidFill>
            <a:srgbClr val="F7FAFC"/>
          </a:solidFill>
          <a:ln w="12700">
            <a:solidFill>
              <a:srgbClr val="97B1DF"/>
            </a:solidFill>
            <a:prstDash val="solid"/>
          </a:ln>
        </p:spPr>
        <p:txBody>
          <a:bodyPr/>
          <a:lstStyle/>
          <a:p>
            <a:endParaRPr sz="2400"/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C37B98B7-BB5C-BE7C-A0AC-37886849E0F2}"/>
              </a:ext>
            </a:extLst>
          </p:cNvPr>
          <p:cNvSpPr/>
          <p:nvPr/>
        </p:nvSpPr>
        <p:spPr>
          <a:xfrm>
            <a:off x="4933334" y="2074147"/>
            <a:ext cx="6999917" cy="2908515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067" dirty="0">
                <a:solidFill>
                  <a:srgbClr val="030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</a:t>
            </a:r>
            <a:r>
              <a:rPr lang="en-US" sz="1067" dirty="0" err="1">
                <a:solidFill>
                  <a:srgbClr val="030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TinyGCN</a:t>
            </a:r>
            <a:r>
              <a:rPr lang="en-US" sz="1067" dirty="0">
                <a:solidFill>
                  <a:srgbClr val="030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067" dirty="0" err="1">
                <a:solidFill>
                  <a:srgbClr val="030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nn.Module</a:t>
            </a:r>
            <a:r>
              <a:rPr lang="en-US" sz="1067" dirty="0">
                <a:solidFill>
                  <a:srgbClr val="030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):</a:t>
            </a:r>
          </a:p>
          <a:p>
            <a:r>
              <a:rPr lang="en-US" sz="1067" dirty="0">
                <a:solidFill>
                  <a:srgbClr val="030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def __</a:t>
            </a:r>
            <a:r>
              <a:rPr lang="en-US" sz="1067" dirty="0" err="1">
                <a:solidFill>
                  <a:srgbClr val="030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init</a:t>
            </a:r>
            <a:r>
              <a:rPr lang="en-US" sz="1067" dirty="0">
                <a:solidFill>
                  <a:srgbClr val="030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__(self, F=2, H=2): </a:t>
            </a:r>
          </a:p>
          <a:p>
            <a:r>
              <a:rPr lang="en-US" sz="1067" dirty="0">
                <a:solidFill>
                  <a:srgbClr val="030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super().__</a:t>
            </a:r>
            <a:r>
              <a:rPr lang="en-US" sz="1067" dirty="0" err="1">
                <a:solidFill>
                  <a:srgbClr val="030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init</a:t>
            </a:r>
            <a:r>
              <a:rPr lang="en-US" sz="1067" dirty="0">
                <a:solidFill>
                  <a:srgbClr val="030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__(); </a:t>
            </a:r>
            <a:r>
              <a:rPr lang="en-US" sz="1067" dirty="0" err="1">
                <a:solidFill>
                  <a:srgbClr val="030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self.mix</a:t>
            </a:r>
            <a:r>
              <a:rPr lang="en-US" sz="1067" dirty="0">
                <a:solidFill>
                  <a:srgbClr val="030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r>
              <a:rPr lang="en-US" sz="1067" dirty="0" err="1">
                <a:solidFill>
                  <a:srgbClr val="030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nn.Linear</a:t>
            </a:r>
            <a:r>
              <a:rPr lang="en-US" sz="1067" dirty="0">
                <a:solidFill>
                  <a:srgbClr val="030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(F, H); </a:t>
            </a:r>
            <a:r>
              <a:rPr lang="en-US" sz="1067" dirty="0" err="1">
                <a:solidFill>
                  <a:srgbClr val="030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self.out</a:t>
            </a:r>
            <a:r>
              <a:rPr lang="en-US" sz="1067" dirty="0">
                <a:solidFill>
                  <a:srgbClr val="030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r>
              <a:rPr lang="en-US" sz="1067" dirty="0" err="1">
                <a:solidFill>
                  <a:srgbClr val="030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nn.Linear</a:t>
            </a:r>
            <a:r>
              <a:rPr lang="en-US" sz="1067" dirty="0">
                <a:solidFill>
                  <a:srgbClr val="030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(H, 1)</a:t>
            </a:r>
          </a:p>
          <a:p>
            <a:r>
              <a:rPr lang="en-US" sz="1067" dirty="0">
                <a:solidFill>
                  <a:srgbClr val="030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def forward(self, X, A):</a:t>
            </a:r>
          </a:p>
          <a:p>
            <a:r>
              <a:rPr lang="en-US" sz="1067" dirty="0">
                <a:solidFill>
                  <a:srgbClr val="030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 = </a:t>
            </a:r>
            <a:r>
              <a:rPr lang="en-US" sz="1067" dirty="0" err="1">
                <a:solidFill>
                  <a:srgbClr val="030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torch.eye</a:t>
            </a:r>
            <a:r>
              <a:rPr lang="en-US" sz="1067" dirty="0">
                <a:solidFill>
                  <a:srgbClr val="030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067" dirty="0" err="1">
                <a:solidFill>
                  <a:srgbClr val="030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A.size</a:t>
            </a:r>
            <a:r>
              <a:rPr lang="en-US" sz="1067" dirty="0">
                <a:solidFill>
                  <a:srgbClr val="030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(0), device=</a:t>
            </a:r>
            <a:r>
              <a:rPr lang="en-US" sz="1067" dirty="0" err="1">
                <a:solidFill>
                  <a:srgbClr val="030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A.device</a:t>
            </a:r>
            <a:r>
              <a:rPr lang="en-US" sz="1067" dirty="0">
                <a:solidFill>
                  <a:srgbClr val="030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 A = A + I</a:t>
            </a:r>
          </a:p>
          <a:p>
            <a:r>
              <a:rPr lang="en-US" sz="1067" dirty="0">
                <a:solidFill>
                  <a:srgbClr val="030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D = </a:t>
            </a:r>
            <a:r>
              <a:rPr lang="en-US" sz="1067" dirty="0" err="1">
                <a:solidFill>
                  <a:srgbClr val="030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torch.diag</a:t>
            </a:r>
            <a:r>
              <a:rPr lang="en-US" sz="1067" dirty="0">
                <a:solidFill>
                  <a:srgbClr val="030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067" dirty="0" err="1">
                <a:solidFill>
                  <a:srgbClr val="030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A.sum</a:t>
            </a:r>
            <a:r>
              <a:rPr lang="en-US" sz="1067" dirty="0">
                <a:solidFill>
                  <a:srgbClr val="030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(1).pow(-0.5)); Ahat = D @ A @ D</a:t>
            </a:r>
          </a:p>
          <a:p>
            <a:r>
              <a:rPr lang="en-US" sz="1067" dirty="0">
                <a:solidFill>
                  <a:srgbClr val="030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H = </a:t>
            </a:r>
            <a:r>
              <a:rPr lang="en-US" sz="1067" dirty="0" err="1">
                <a:solidFill>
                  <a:srgbClr val="030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F.relu</a:t>
            </a:r>
            <a:r>
              <a:rPr lang="en-US" sz="1067" dirty="0">
                <a:solidFill>
                  <a:srgbClr val="030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(Ahat @ </a:t>
            </a:r>
            <a:r>
              <a:rPr lang="en-US" sz="1067" dirty="0" err="1">
                <a:solidFill>
                  <a:srgbClr val="030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self.mix</a:t>
            </a:r>
            <a:r>
              <a:rPr lang="en-US" sz="1067" dirty="0">
                <a:solidFill>
                  <a:srgbClr val="030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(X))</a:t>
            </a:r>
          </a:p>
          <a:p>
            <a:r>
              <a:rPr lang="en-US" sz="1067" dirty="0">
                <a:solidFill>
                  <a:srgbClr val="030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</a:t>
            </a:r>
            <a:r>
              <a:rPr lang="en-US" sz="1067" dirty="0" err="1">
                <a:solidFill>
                  <a:srgbClr val="030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self.out</a:t>
            </a:r>
            <a:r>
              <a:rPr lang="en-US" sz="1067" dirty="0">
                <a:solidFill>
                  <a:srgbClr val="030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(H)</a:t>
            </a:r>
          </a:p>
          <a:p>
            <a:endParaRPr lang="en-US" sz="1067" dirty="0">
              <a:solidFill>
                <a:srgbClr val="030A18"/>
              </a:solidFill>
              <a:latin typeface="Courier New" pitchFamily="34" charset="0"/>
              <a:ea typeface="Courier New" pitchFamily="34" charset="-122"/>
              <a:cs typeface="Courier New" pitchFamily="34" charset="-120"/>
            </a:endParaRPr>
          </a:p>
          <a:p>
            <a:r>
              <a:rPr lang="en-US" sz="1067" dirty="0">
                <a:solidFill>
                  <a:srgbClr val="030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 = </a:t>
            </a:r>
            <a:r>
              <a:rPr lang="en-US" sz="1067" dirty="0" err="1">
                <a:solidFill>
                  <a:srgbClr val="030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TinyGCN</a:t>
            </a:r>
            <a:r>
              <a:rPr lang="en-US" sz="1067" dirty="0">
                <a:solidFill>
                  <a:srgbClr val="030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(F=2, H=2)</a:t>
            </a:r>
          </a:p>
          <a:p>
            <a:r>
              <a:rPr lang="en-US" sz="1067" dirty="0">
                <a:solidFill>
                  <a:srgbClr val="030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opt = </a:t>
            </a:r>
            <a:r>
              <a:rPr lang="en-US" sz="1067" dirty="0" err="1">
                <a:solidFill>
                  <a:srgbClr val="030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torch.optim.Adam</a:t>
            </a:r>
            <a:r>
              <a:rPr lang="en-US" sz="1067" dirty="0">
                <a:solidFill>
                  <a:srgbClr val="030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en-US" sz="1067" dirty="0" err="1">
                <a:solidFill>
                  <a:srgbClr val="030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model.parameters</a:t>
            </a:r>
            <a:r>
              <a:rPr lang="en-US" sz="1067" dirty="0">
                <a:solidFill>
                  <a:srgbClr val="030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(), </a:t>
            </a:r>
            <a:r>
              <a:rPr lang="en-US" sz="1067" dirty="0" err="1">
                <a:solidFill>
                  <a:srgbClr val="030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lr</a:t>
            </a:r>
            <a:r>
              <a:rPr lang="en-US" sz="1067" dirty="0">
                <a:solidFill>
                  <a:srgbClr val="030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=0.1)</a:t>
            </a:r>
          </a:p>
          <a:p>
            <a:endParaRPr lang="en-US" sz="1067" dirty="0">
              <a:solidFill>
                <a:srgbClr val="030A18"/>
              </a:solidFill>
              <a:latin typeface="Courier New" pitchFamily="34" charset="0"/>
              <a:ea typeface="Courier New" pitchFamily="34" charset="-122"/>
              <a:cs typeface="Courier New" pitchFamily="34" charset="-120"/>
            </a:endParaRPr>
          </a:p>
          <a:p>
            <a:r>
              <a:rPr lang="en-US" sz="1067" dirty="0">
                <a:solidFill>
                  <a:srgbClr val="030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Train (define X, A, </a:t>
            </a:r>
            <a:r>
              <a:rPr lang="en-US" sz="1067" dirty="0" err="1">
                <a:solidFill>
                  <a:srgbClr val="030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y_next</a:t>
            </a:r>
            <a:r>
              <a:rPr lang="en-US" sz="1067" dirty="0">
                <a:solidFill>
                  <a:srgbClr val="030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elsewhere)</a:t>
            </a:r>
          </a:p>
          <a:p>
            <a:r>
              <a:rPr lang="en-US" sz="1067" dirty="0">
                <a:solidFill>
                  <a:srgbClr val="030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_ in range(300):</a:t>
            </a:r>
          </a:p>
          <a:p>
            <a:r>
              <a:rPr lang="en-US" sz="1067" dirty="0">
                <a:solidFill>
                  <a:srgbClr val="030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1067" dirty="0" err="1">
                <a:solidFill>
                  <a:srgbClr val="030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yhat</a:t>
            </a:r>
            <a:r>
              <a:rPr lang="en-US" sz="1067" dirty="0">
                <a:solidFill>
                  <a:srgbClr val="030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model(X, A); loss = (</a:t>
            </a:r>
            <a:r>
              <a:rPr lang="en-US" sz="1067" dirty="0" err="1">
                <a:solidFill>
                  <a:srgbClr val="030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yhat</a:t>
            </a:r>
            <a:r>
              <a:rPr lang="en-US" sz="1067" dirty="0">
                <a:solidFill>
                  <a:srgbClr val="030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- </a:t>
            </a:r>
            <a:r>
              <a:rPr lang="en-US" sz="1067" dirty="0" err="1">
                <a:solidFill>
                  <a:srgbClr val="030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y_next</a:t>
            </a:r>
            <a:r>
              <a:rPr lang="en-US" sz="1067" dirty="0">
                <a:solidFill>
                  <a:srgbClr val="030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).pow(2).mean()</a:t>
            </a:r>
          </a:p>
          <a:p>
            <a:r>
              <a:rPr lang="en-US" sz="1067" dirty="0">
                <a:solidFill>
                  <a:srgbClr val="030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en-US" sz="1067" dirty="0" err="1">
                <a:solidFill>
                  <a:srgbClr val="030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opt.zero_grad</a:t>
            </a:r>
            <a:r>
              <a:rPr lang="en-US" sz="1067" dirty="0">
                <a:solidFill>
                  <a:srgbClr val="030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(); </a:t>
            </a:r>
            <a:r>
              <a:rPr lang="en-US" sz="1067" dirty="0" err="1">
                <a:solidFill>
                  <a:srgbClr val="030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loss.backward</a:t>
            </a:r>
            <a:r>
              <a:rPr lang="en-US" sz="1067" dirty="0">
                <a:solidFill>
                  <a:srgbClr val="030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(); </a:t>
            </a:r>
            <a:r>
              <a:rPr lang="en-US" sz="1067" dirty="0" err="1">
                <a:solidFill>
                  <a:srgbClr val="030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opt.step</a:t>
            </a:r>
            <a:r>
              <a:rPr lang="en-US" sz="1067" dirty="0">
                <a:solidFill>
                  <a:srgbClr val="030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()</a:t>
            </a:r>
            <a:endParaRPr lang="en-US" sz="1067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3BB84B7-9151-799C-1A41-44074EAF5D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064C77-022D-3743-A04E-645624933D1D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681963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A75D14-33A7-7514-E1F6-D297D6E8BF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453A83-4DAA-9F5F-4DFA-6E5D1A78B8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Ways to extend this model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5DA320A-05C8-9652-86BC-E998535FDE8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r>
                  <a:rPr lang="en-IE" dirty="0"/>
                  <a:t>Add extra layers to the embeddings or output layers</a:t>
                </a:r>
              </a:p>
              <a:p>
                <a:r>
                  <a:rPr lang="en-IE" dirty="0"/>
                  <a:t>Change the embedding dimension</a:t>
                </a:r>
              </a:p>
              <a:p>
                <a:r>
                  <a:rPr lang="en-IE" dirty="0"/>
                  <a:t>Try different activation functions</a:t>
                </a:r>
              </a:p>
              <a:p>
                <a:r>
                  <a:rPr lang="en-US" dirty="0"/>
                  <a:t>Graph mixing (</a:t>
                </a:r>
                <a14:m>
                  <m:oMath xmlns:m="http://schemas.openxmlformats.org/officeDocument/2006/math">
                    <m:acc>
                      <m:accPr>
                        <m:chr m:val="̃"/>
                        <m:ctrlPr>
                          <a:rPr lang="en-IE" b="0" i="1" dirty="0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IE" b="0" i="1" dirty="0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acc>
                    <m:r>
                      <a:rPr lang="en-IE" i="1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l-GR" i="1" dirty="0">
                        <a:latin typeface="Cambria Math" panose="02040503050406030204" pitchFamily="18" charset="0"/>
                      </a:rPr>
                      <m:t>𝛼</m:t>
                    </m:r>
                    <m:r>
                      <a:rPr lang="en-IE" i="1" dirty="0">
                        <a:latin typeface="Cambria Math" panose="02040503050406030204" pitchFamily="18" charset="0"/>
                      </a:rPr>
                      <m:t>𝐼</m:t>
                    </m:r>
                    <m:r>
                      <a:rPr lang="en-IE" i="1" dirty="0">
                        <a:latin typeface="Cambria Math" panose="02040503050406030204" pitchFamily="18" charset="0"/>
                      </a:rPr>
                      <m:t>+(1−</m:t>
                    </m:r>
                    <m:r>
                      <a:rPr lang="el-GR" i="1" dirty="0">
                        <a:latin typeface="Cambria Math" panose="02040503050406030204" pitchFamily="18" charset="0"/>
                      </a:rPr>
                      <m:t>𝛼</m:t>
                    </m:r>
                    <m:r>
                      <a:rPr lang="el-GR" i="1" dirty="0">
                        <a:latin typeface="Cambria Math" panose="02040503050406030204" pitchFamily="18" charset="0"/>
                      </a:rPr>
                      <m:t>)</m:t>
                    </m:r>
                    <m:r>
                      <a:rPr lang="en-IE" i="1" dirty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IE" i="1" dirty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IE" dirty="0"/>
                  <a:t>) with small </a:t>
                </a:r>
                <a14:m>
                  <m:oMath xmlns:m="http://schemas.openxmlformats.org/officeDocument/2006/math">
                    <m:r>
                      <a:rPr lang="en-IE" i="1" dirty="0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endParaRPr lang="en-US" dirty="0"/>
              </a:p>
              <a:p>
                <a:r>
                  <a:rPr lang="en-US" dirty="0"/>
                  <a:t>Edge weights (try different ways of representing distance between nodes or self connections) – next class</a:t>
                </a:r>
              </a:p>
              <a:p>
                <a:r>
                  <a:rPr lang="en-US" dirty="0" err="1"/>
                  <a:t>Regularisation</a:t>
                </a:r>
                <a:r>
                  <a:rPr lang="en-US" dirty="0"/>
                  <a:t> / dropout or other layer norms to avoid over-fitting</a:t>
                </a:r>
              </a:p>
              <a:p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35DA320A-05C8-9652-86BC-E998535FDE8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1368" t="-3354" r="-106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6BE3859-81C3-6170-3AC4-2C244AE929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064C77-022D-3743-A04E-645624933D1D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142182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E65A75-5149-42FA-99D0-301BF7E277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Advantages and disadvantages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B8B2C61-06FF-4889-31BE-26F8671EA26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Advantages</a:t>
            </a:r>
          </a:p>
          <a:p>
            <a:pPr lvl="1"/>
            <a:r>
              <a:rPr lang="en-US" dirty="0"/>
              <a:t>Captures spatial structure of complex systems (roads, power grids, sensor networks, weather stations)</a:t>
            </a:r>
          </a:p>
          <a:p>
            <a:pPr lvl="1"/>
            <a:r>
              <a:rPr lang="en-US" dirty="0"/>
              <a:t>Supports variable graph sizes and </a:t>
            </a:r>
            <a:r>
              <a:rPr lang="en-US" dirty="0" err="1">
                <a:solidFill>
                  <a:srgbClr val="009749"/>
                </a:solidFill>
              </a:rPr>
              <a:t>generalisation</a:t>
            </a:r>
            <a:r>
              <a:rPr lang="en-US" dirty="0">
                <a:solidFill>
                  <a:srgbClr val="009749"/>
                </a:solidFill>
              </a:rPr>
              <a:t> to new nodes</a:t>
            </a:r>
          </a:p>
          <a:p>
            <a:pPr lvl="1"/>
            <a:r>
              <a:rPr lang="en-US" dirty="0"/>
              <a:t>Reuses weights across locations for parameter efficiency</a:t>
            </a:r>
          </a:p>
          <a:p>
            <a:r>
              <a:rPr lang="en-US" dirty="0"/>
              <a:t>Challenges</a:t>
            </a:r>
          </a:p>
          <a:p>
            <a:pPr lvl="1"/>
            <a:r>
              <a:rPr lang="en-US" dirty="0"/>
              <a:t>Graph construction: deciding edges and weights</a:t>
            </a:r>
          </a:p>
          <a:p>
            <a:pPr lvl="1"/>
            <a:r>
              <a:rPr lang="en-US" dirty="0"/>
              <a:t>Scalability to large graphs (memory &amp; computation)</a:t>
            </a:r>
          </a:p>
          <a:p>
            <a:pPr lvl="1"/>
            <a:r>
              <a:rPr lang="en-US" dirty="0"/>
              <a:t>Dynamic graphs and time‑varying edges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949A715-5759-E587-74FC-96C8E2CDA4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064C77-022D-3743-A04E-645624933D1D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021304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515577-5ABC-E8E5-35C3-8F4AB61455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Practical tips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1E3CD1-7275-6762-DF32-C1DB3F061F6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Preprocessing</a:t>
            </a:r>
          </a:p>
          <a:p>
            <a:pPr lvl="1"/>
            <a:r>
              <a:rPr lang="en-US" dirty="0" err="1"/>
              <a:t>Normalise</a:t>
            </a:r>
            <a:r>
              <a:rPr lang="en-US" dirty="0"/>
              <a:t> features and scale adjacency weights</a:t>
            </a:r>
          </a:p>
          <a:p>
            <a:pPr lvl="1"/>
            <a:r>
              <a:rPr lang="en-US" dirty="0"/>
              <a:t>Handle missing data by imputation or masking (or use SERT)</a:t>
            </a:r>
          </a:p>
          <a:p>
            <a:pPr lvl="1"/>
            <a:r>
              <a:rPr lang="en-US" dirty="0"/>
              <a:t>Choose appropriate window sizes for temporal context</a:t>
            </a:r>
          </a:p>
          <a:p>
            <a:r>
              <a:rPr lang="en-US" dirty="0"/>
              <a:t>Training</a:t>
            </a:r>
          </a:p>
          <a:p>
            <a:pPr lvl="1"/>
            <a:r>
              <a:rPr lang="en-US" dirty="0"/>
              <a:t>Use mini‑batching with </a:t>
            </a:r>
            <a:r>
              <a:rPr lang="en-US" dirty="0" err="1"/>
              <a:t>neighbour</a:t>
            </a:r>
            <a:r>
              <a:rPr lang="en-US" dirty="0"/>
              <a:t> sampling for large graphs</a:t>
            </a:r>
          </a:p>
          <a:p>
            <a:pPr lvl="1"/>
            <a:r>
              <a:rPr lang="en-US" dirty="0"/>
              <a:t>Monitor validation metrics and avoid overfitting</a:t>
            </a:r>
          </a:p>
          <a:p>
            <a:pPr lvl="1"/>
            <a:r>
              <a:rPr lang="en-US" dirty="0"/>
              <a:t>Leverage GPUs and sparse operations for efficiency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86C7D54-896E-4126-95EC-17C70A3004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064C77-022D-3743-A04E-645624933D1D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572734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52E3C7-E02A-F443-93FF-99B0D12844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2B1495C-38DD-F9F0-478E-D16C6E4C61E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dirty="0"/>
              <a:t>GNNs </a:t>
            </a:r>
            <a:r>
              <a:rPr lang="en-US" dirty="0" err="1"/>
              <a:t>generalise</a:t>
            </a:r>
            <a:r>
              <a:rPr lang="en-US" dirty="0"/>
              <a:t> neural networks to (irregular) graph structures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dirty="0"/>
              <a:t>GCN layers </a:t>
            </a:r>
            <a:r>
              <a:rPr lang="en-US" dirty="0" err="1"/>
              <a:t>normalise</a:t>
            </a:r>
            <a:r>
              <a:rPr lang="en-US" dirty="0"/>
              <a:t> adjacency and aggregate </a:t>
            </a:r>
            <a:r>
              <a:rPr lang="en-US" dirty="0" err="1"/>
              <a:t>neighbour</a:t>
            </a:r>
            <a:r>
              <a:rPr lang="en-US" dirty="0"/>
              <a:t> features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dirty="0"/>
              <a:t>Can combine with transformers to assign dynamic importance to </a:t>
            </a:r>
            <a:r>
              <a:rPr lang="en-US" dirty="0" err="1"/>
              <a:t>neighbours</a:t>
            </a:r>
            <a:endParaRPr lang="en-US" dirty="0"/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dirty="0"/>
              <a:t>Weather forecasting benefits from capturing spatial relationships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dirty="0"/>
              <a:t>Frameworks like </a:t>
            </a:r>
            <a:r>
              <a:rPr lang="en-US" dirty="0" err="1"/>
              <a:t>PyTorch</a:t>
            </a:r>
            <a:r>
              <a:rPr lang="en-US" dirty="0"/>
              <a:t> Geometric make implementation practical</a:t>
            </a:r>
          </a:p>
        </p:txBody>
      </p:sp>
    </p:spTree>
    <p:extLst>
      <p:ext uri="{BB962C8B-B14F-4D97-AF65-F5344CB8AC3E}">
        <p14:creationId xmlns:p14="http://schemas.microsoft.com/office/powerpoint/2010/main" val="290237525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Aimsir_template_2" id="{885FC850-5704-7C40-B0D5-B2BE1CAB90DE}" vid="{17F42F5C-6F7C-FD4F-918A-67665F080F4C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2120</TotalTime>
  <Words>1312</Words>
  <Application>Microsoft Macintosh PowerPoint</Application>
  <PresentationFormat>Widescreen</PresentationFormat>
  <Paragraphs>166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3" baseType="lpstr">
      <vt:lpstr>Aptos</vt:lpstr>
      <vt:lpstr>Arial</vt:lpstr>
      <vt:lpstr>Calibri</vt:lpstr>
      <vt:lpstr>Cambria Math</vt:lpstr>
      <vt:lpstr>Courier New</vt:lpstr>
      <vt:lpstr>Office Theme</vt:lpstr>
      <vt:lpstr>Class 7: Graph Neural Networks for Weather Forecasting</vt:lpstr>
      <vt:lpstr>Outline</vt:lpstr>
      <vt:lpstr>Motivation &amp; Recap: why graphs?</vt:lpstr>
      <vt:lpstr>Graph basics</vt:lpstr>
      <vt:lpstr>Task</vt:lpstr>
      <vt:lpstr>Simplified method</vt:lpstr>
      <vt:lpstr>GNN example</vt:lpstr>
      <vt:lpstr>Notes about this approach</vt:lpstr>
      <vt:lpstr>PowerPoint Presentation</vt:lpstr>
      <vt:lpstr>PowerPoint Presentation</vt:lpstr>
      <vt:lpstr>Graph attention transformers </vt:lpstr>
      <vt:lpstr>Other clever parts of AIFS</vt:lpstr>
      <vt:lpstr>Pytorch implementation</vt:lpstr>
      <vt:lpstr>Ways to extend this model</vt:lpstr>
      <vt:lpstr>Advantages and disadvantages</vt:lpstr>
      <vt:lpstr>Practical tips</vt:lpstr>
      <vt:lpstr>Summary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Andrew Parnell</dc:creator>
  <cp:lastModifiedBy>Andrew Parnell</cp:lastModifiedBy>
  <cp:revision>106</cp:revision>
  <dcterms:created xsi:type="dcterms:W3CDTF">2025-09-24T09:34:21Z</dcterms:created>
  <dcterms:modified xsi:type="dcterms:W3CDTF">2026-02-28T06:22:17Z</dcterms:modified>
</cp:coreProperties>
</file>