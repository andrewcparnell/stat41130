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346" r:id="rId3"/>
    <p:sldId id="369" r:id="rId4"/>
    <p:sldId id="370" r:id="rId5"/>
    <p:sldId id="371" r:id="rId6"/>
    <p:sldId id="372" r:id="rId7"/>
    <p:sldId id="373" r:id="rId8"/>
    <p:sldId id="392" r:id="rId9"/>
    <p:sldId id="376" r:id="rId10"/>
    <p:sldId id="395" r:id="rId11"/>
    <p:sldId id="394" r:id="rId12"/>
    <p:sldId id="393" r:id="rId13"/>
    <p:sldId id="396" r:id="rId14"/>
    <p:sldId id="377" r:id="rId15"/>
    <p:sldId id="397" r:id="rId16"/>
    <p:sldId id="398" r:id="rId17"/>
    <p:sldId id="378" r:id="rId18"/>
    <p:sldId id="380" r:id="rId19"/>
    <p:sldId id="387" r:id="rId20"/>
    <p:sldId id="382" r:id="rId21"/>
    <p:sldId id="383" r:id="rId22"/>
    <p:sldId id="388" r:id="rId23"/>
    <p:sldId id="391" r:id="rId24"/>
    <p:sldId id="28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749"/>
    <a:srgbClr val="00427A"/>
    <a:srgbClr val="0095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12"/>
    <p:restoredTop sz="94725"/>
  </p:normalViewPr>
  <p:slideViewPr>
    <p:cSldViewPr snapToGrid="0">
      <p:cViewPr>
        <p:scale>
          <a:sx n="110" d="100"/>
          <a:sy n="110" d="100"/>
        </p:scale>
        <p:origin x="488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5685EE-3D40-0A4E-BB88-46887330FC0A}" type="datetimeFigureOut">
              <a:rPr lang="en-US" smtClean="0"/>
              <a:t>2/21/26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752F2A-FA59-1746-ABA5-28C394E5E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5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359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olou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DF66696-21B2-D649-92A2-EEC2EDFEA99A}" type="datetime3">
              <a:rPr lang="en-IE" smtClean="0"/>
              <a:t>21 February 2026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8403D-CA02-EE11-96CC-8E09913F64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5570" y="662410"/>
            <a:ext cx="4921049" cy="302352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CDEDBC2-BC30-A9CA-49BA-CCA6F9CEB8A7}"/>
              </a:ext>
            </a:extLst>
          </p:cNvPr>
          <p:cNvSpPr txBox="1">
            <a:spLocks/>
          </p:cNvSpPr>
          <p:nvPr userDrawn="1"/>
        </p:nvSpPr>
        <p:spPr>
          <a:xfrm>
            <a:off x="775570" y="4975355"/>
            <a:ext cx="9144000" cy="816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rgbClr val="00959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3500" b="0" dirty="0">
                <a:solidFill>
                  <a:schemeClr val="bg1"/>
                </a:solidFill>
              </a:rPr>
              <a:t>Andrew Parnell</a:t>
            </a:r>
            <a:endParaRPr lang="en-US" sz="32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987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95EAAC-03A2-8D88-C693-5373EC4D99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5570" y="661140"/>
            <a:ext cx="4921049" cy="3023526"/>
          </a:xfrm>
          <a:prstGeom prst="rect">
            <a:avLst/>
          </a:prstGeom>
        </p:spPr>
      </p:pic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235050E7-7B9A-8940-BE07-8CADAADB4B25}" type="datetime3">
              <a:rPr lang="en-IE" smtClean="0"/>
              <a:t>21 February 2026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BF4638-05BC-68BF-F886-C5874806A86A}"/>
              </a:ext>
            </a:extLst>
          </p:cNvPr>
          <p:cNvSpPr txBox="1">
            <a:spLocks/>
          </p:cNvSpPr>
          <p:nvPr userDrawn="1"/>
        </p:nvSpPr>
        <p:spPr>
          <a:xfrm>
            <a:off x="775570" y="4975355"/>
            <a:ext cx="9144000" cy="816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rgbClr val="00959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3500" b="0" dirty="0">
                <a:solidFill>
                  <a:schemeClr val="bg1"/>
                </a:solidFill>
              </a:rPr>
              <a:t>Presentation</a:t>
            </a:r>
            <a:r>
              <a:rPr lang="en-GB" sz="3200" b="0" dirty="0">
                <a:solidFill>
                  <a:schemeClr val="bg1"/>
                </a:solidFill>
              </a:rPr>
              <a:t> subtitle</a:t>
            </a:r>
            <a:endParaRPr lang="en-US" sz="32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839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9FE3EDE-25F4-E49F-B1D6-86A03CE1B128}"/>
              </a:ext>
            </a:extLst>
          </p:cNvPr>
          <p:cNvSpPr txBox="1">
            <a:spLocks/>
          </p:cNvSpPr>
          <p:nvPr userDrawn="1"/>
        </p:nvSpPr>
        <p:spPr>
          <a:xfrm>
            <a:off x="775570" y="4975355"/>
            <a:ext cx="9144000" cy="816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rgbClr val="00959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3500" b="0" dirty="0">
                <a:solidFill>
                  <a:srgbClr val="00427A"/>
                </a:solidFill>
              </a:rPr>
              <a:t>Presentation</a:t>
            </a:r>
            <a:r>
              <a:rPr lang="en-GB" sz="3200" b="0" dirty="0">
                <a:solidFill>
                  <a:srgbClr val="00427A"/>
                </a:solidFill>
              </a:rPr>
              <a:t> subtitle</a:t>
            </a:r>
            <a:endParaRPr lang="en-US" sz="3200" b="0" dirty="0">
              <a:solidFill>
                <a:srgbClr val="00427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rgbClr val="00959F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00427A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55273B3-F20B-8743-B0C9-5966BABF8646}" type="datetime3">
              <a:rPr lang="en-IE" smtClean="0"/>
              <a:t>21 February 2026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57DE2-DEBB-B17B-3186-6B7F239D4C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70858" y="764010"/>
            <a:ext cx="4921049" cy="302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366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936AE-C30A-53BD-4925-C496BE6C4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265C0-0ACE-3E63-95B9-D176766F2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1563B-497A-31DF-3662-C17ACF7D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70AD6-AAEF-8A4F-2919-ED9A3F9B5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690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F2AFB-F4C4-719F-41DE-8454632EB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835495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AA946-8443-8B80-0497-6EB6FAAD0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71E3E-2DD5-AE03-E092-6934E2C4A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E6B2A-3B08-3B49-5EC6-5F1CF60C6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883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0CB63-89BA-5DA1-ABAC-95F644463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EC219-68C6-906B-6B38-F56C88CEA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55E0A4-A8B0-2CA7-E857-19478981F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4EDF8-107F-48D4-9168-408544498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97297-368B-D76D-B573-F2EA9B4F5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390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E21E6-E145-FB62-1B42-F05F62D34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A92D5-85D4-798F-6073-C1BBC39E8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41B856-F9DF-6501-6837-20D15C2FC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00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6B62E2-EFD1-BADE-5ADC-CDA692DD3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CE0D8-9D28-4B5B-E0D8-6FD104DED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2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Turquios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DF105-7039-1C6D-7FC1-89C7ACEFE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8348602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C9D1A-B681-480B-51E4-53A881918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4390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mediu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167D2C-5176-1ED3-A328-C37831632F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52165" y="3305069"/>
            <a:ext cx="8928728" cy="35529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83037B-3C53-AD11-3C53-4E910F029F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75" y="0"/>
            <a:ext cx="12188825" cy="685978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433CFB9-3CD0-7249-3875-4CDCC3265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10515600" cy="1325563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04C136-FB56-3E5C-714E-C7C451450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6193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C7DCCB-0C89-D983-30F6-838DCED371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66117" y="656799"/>
            <a:ext cx="11071312" cy="6201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A480F3-BC76-00B6-24D5-C07DB00D847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179" y="251012"/>
            <a:ext cx="12188821" cy="68597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57DC5C-07B9-1D3E-E60F-4C4449E40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10515600" cy="1325563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138B3-4A13-4988-0617-30422C752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rgbClr val="00959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40134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8423E0-7FF4-AD5A-A90B-2A9E4134C1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088573" y="1468037"/>
            <a:ext cx="9622971" cy="53899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E33A7B-C77A-0333-901F-1F517FC1279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176" y="0"/>
            <a:ext cx="12188821" cy="685978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BAE34A2-289C-9C29-7331-CFD9F1AE7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389" y="1060256"/>
            <a:ext cx="6336026" cy="3668564"/>
          </a:xfrm>
        </p:spPr>
        <p:txBody>
          <a:bodyPr>
            <a:normAutofit/>
          </a:bodyPr>
          <a:lstStyle>
            <a:lvl1pPr marL="0" indent="0" algn="r">
              <a:buNone/>
              <a:defRPr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76023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340C0-73B3-BCF7-0724-038E70BF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6D448-5D41-D2C8-31F6-3E2418064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8348602" cy="4149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23E6A-37C4-5F0F-726D-1ACD6A231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18356"/>
            <a:ext cx="29759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40BB7-8BAA-0B2D-4F0A-22069252A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5096" y="6118356"/>
            <a:ext cx="19217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44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62" r:id="rId9"/>
    <p:sldLayoutId id="2147483664" r:id="rId10"/>
    <p:sldLayoutId id="2147483665" r:id="rId11"/>
    <p:sldLayoutId id="2147483666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959F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E127A-D7C1-984F-9005-D54B2E23A7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Class 8: Graph Neural Networks part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824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B44C1-ED47-F757-A52F-CBDCFCCE5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C2D2A-5689-067A-2DB9-A2B188716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26896" cy="414929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Move beyond grid-based thinking</a:t>
            </a:r>
          </a:p>
          <a:p>
            <a:r>
              <a:rPr lang="en-US" dirty="0"/>
              <a:t>Extend the basic GNNs we met last class</a:t>
            </a:r>
          </a:p>
          <a:p>
            <a:r>
              <a:rPr lang="en-US" dirty="0"/>
              <a:t>Regular grids (i.e. CNNs) struggle with Earth's spherical geometry and irregular station locations</a:t>
            </a:r>
          </a:p>
          <a:p>
            <a:r>
              <a:rPr lang="en-US" dirty="0"/>
              <a:t>Real physical relationships (river flow, pressure gradients) do not follow pixel neighbors</a:t>
            </a:r>
          </a:p>
          <a:p>
            <a:r>
              <a:rPr lang="en-US" dirty="0"/>
              <a:t>GCNs allow message passing along the actual paths of physical influence.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9332C5-20CA-D18C-E3CC-5D07F2D5B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03BC84-ABE7-49BD-DE25-EA5341F60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4429" y="850900"/>
            <a:ext cx="4491768" cy="5489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42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9B702-3EAA-CD12-2695-6E8DCECB1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37523-DE30-E5A8-5DA1-B9DD82EA4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5C180-D429-F4E2-876A-7996A8D8F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21978" cy="4149290"/>
          </a:xfrm>
        </p:spPr>
        <p:txBody>
          <a:bodyPr>
            <a:normAutofit/>
          </a:bodyPr>
          <a:lstStyle/>
          <a:p>
            <a:r>
              <a:rPr lang="en-US" dirty="0"/>
              <a:t>In standard GNNs we have nodes that are joined by edges</a:t>
            </a:r>
          </a:p>
          <a:p>
            <a:r>
              <a:rPr lang="en-US" dirty="0"/>
              <a:t>The nodes have ‘features’ that we might like to predict at future time steps or generally make predictions from</a:t>
            </a:r>
          </a:p>
          <a:p>
            <a:r>
              <a:rPr lang="en-US" dirty="0"/>
              <a:t>We use message passing to work out how much information is shared between the nodes to produce the predictions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235C07-5D36-8A33-93DB-6A058AE7A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983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0D32A-D4CE-F4F7-C06C-7DCE02D2E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B48E1-5B59-17E1-DF54-7B3AA2EC6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Weather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F4807-1355-BC9D-AEAF-B2A787414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30422" cy="4149290"/>
          </a:xfrm>
        </p:spPr>
        <p:txBody>
          <a:bodyPr>
            <a:normAutofit/>
          </a:bodyPr>
          <a:lstStyle/>
          <a:p>
            <a:r>
              <a:rPr lang="en-US" dirty="0"/>
              <a:t>Nodes: Represent physical locations (e.g. stations or grid points)</a:t>
            </a:r>
          </a:p>
          <a:p>
            <a:r>
              <a:rPr lang="en-US" dirty="0"/>
              <a:t>Edges: Represent relationships (e.g. distance, angle, wind connectivity, or river flow)</a:t>
            </a:r>
          </a:p>
          <a:p>
            <a:r>
              <a:rPr lang="en-US" dirty="0"/>
              <a:t>Features: Nodes hold state (Temp, Pressure); Edges hold context (Distance, Slope)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70DA7-1F4B-97B3-9A7B-F11A60768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B61770-B36A-30E4-D2D7-DFAAAB17F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8622" y="1829254"/>
            <a:ext cx="6273085" cy="341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49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1119C-1001-F683-FBB2-DABAA9BED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Re-cap: The Weather Graph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330A2A-72CC-3E36-A7E0-39BC81B2D3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780314" cy="414929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Define the domain as a graph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=(</m:t>
                    </m:r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(Vertices): sensors, grid points, or river gauges.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(Edges): physical connections (distance, flow, or wind).</a:t>
                </a:r>
              </a:p>
              <a:p>
                <a:r>
                  <a:rPr lang="en-US" dirty="0"/>
                  <a:t>Node Features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E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  <m:r>
                          <a:rPr lang="en-IE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IE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sup>
                    </m:sSup>
                  </m:oMath>
                </a14:m>
                <a:r>
                  <a:rPr lang="en-US" dirty="0"/>
                  <a:t>: the state (Temperature, Pressure, Water Level).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dirty="0"/>
                  <a:t> Number of features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330A2A-72CC-3E36-A7E0-39BC81B2D3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780314" cy="4149290"/>
              </a:xfrm>
              <a:blipFill>
                <a:blip r:embed="rId2"/>
                <a:stretch>
                  <a:fillRect l="-1974" t="-3354" b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94E0E-AF2E-39E3-D827-A759CEF9D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8BCC8B-507E-6CAC-CDC4-1A866AF9F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5129" y="1825625"/>
            <a:ext cx="4292600" cy="372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041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AD530-E3EB-D22C-20CB-0C4E041FA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"Convolution"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E4932-2634-9814-A7E9-1F693A97F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4150"/>
            <a:ext cx="9829800" cy="2656064"/>
          </a:xfrm>
        </p:spPr>
        <p:txBody>
          <a:bodyPr/>
          <a:lstStyle/>
          <a:p>
            <a:r>
              <a:rPr lang="en-US" dirty="0"/>
              <a:t>CNNs: weighted average of pixel </a:t>
            </a:r>
            <a:r>
              <a:rPr lang="en-US" dirty="0" err="1"/>
              <a:t>neighbours</a:t>
            </a:r>
            <a:r>
              <a:rPr lang="en-US" dirty="0"/>
              <a:t> in e.g. a 3x3 grid </a:t>
            </a:r>
          </a:p>
          <a:p>
            <a:r>
              <a:rPr lang="en-US" dirty="0"/>
              <a:t>GNNs: weighted average of node neighbors in an irregular neighborhood</a:t>
            </a:r>
          </a:p>
          <a:p>
            <a:r>
              <a:rPr lang="en-US" dirty="0"/>
              <a:t>Shared weights: We use the same learned parameters across the entire graph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21AA2-687A-B358-C904-A4B2AD8F9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91255C-809B-A69F-AA80-6ECCAFEE8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705" y="3897117"/>
            <a:ext cx="7772400" cy="256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220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E9A0E-8AF9-16F8-B600-73E29EDCC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Simplest GNN Layer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9BBB5C-45E3-88B1-12FF-0B6236AB2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The simplest update: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: Adjacency Matrix (who is connected to whom)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: Hidden states (node features)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: Learnable weight matrix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 an activation function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: layer</a:t>
                </a:r>
              </a:p>
              <a:p>
                <a:r>
                  <a:rPr lang="en-US" dirty="0"/>
                  <a:t>We usually add self-loops so a node "remembers" itself: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E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</a:t>
                </a:r>
                <a:r>
                  <a:rPr lang="en-US" dirty="0" err="1"/>
                  <a:t>normalised</a:t>
                </a:r>
                <a:r>
                  <a:rPr lang="en-US" dirty="0"/>
                  <a:t> operator: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IE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I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I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E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</m:e>
                      <m:sup>
                        <m:r>
                          <a:rPr lang="en-IE" i="1">
                            <a:latin typeface="Cambria Math" panose="02040503050406030204" pitchFamily="18" charset="0"/>
                          </a:rPr>
                          <m:t>−1/2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E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IE" i="1" dirty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I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I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E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</m:e>
                      <m:sup>
                        <m:r>
                          <a:rPr lang="en-IE" i="1">
                            <a:latin typeface="Cambria Math" panose="02040503050406030204" pitchFamily="18" charset="0"/>
                          </a:rPr>
                          <m:t>−1/2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Layer update: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IE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E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IE" i="1">
                            <a:latin typeface="Cambria Math" panose="02040503050406030204" pitchFamily="18" charset="0"/>
                          </a:rPr>
                          <m:t>+1)</m:t>
                        </m:r>
                      </m:sup>
                    </m:sSup>
                    <m:r>
                      <a:rPr lang="en-I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sSup>
                      <m:sSupPr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IE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9BBB5C-45E3-88B1-12FF-0B6236AB2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68" t="-3354" b="-3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3F3AD-DAD2-3C07-BE32-38A1B31BA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212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85E74-38E3-DA98-FCB1-370123320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90B25-8EAD-CD2C-391F-626EEB205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Symmetry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A634B-6624-5F29-29D5-ED89BD55D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We need:</a:t>
            </a:r>
          </a:p>
          <a:p>
            <a:pPr lvl="1"/>
            <a:r>
              <a:rPr lang="en-IE" dirty="0"/>
              <a:t>Permutation invariance (if the NN produces a single value it should not matter which order you gives the nodes in)</a:t>
            </a:r>
          </a:p>
          <a:p>
            <a:pPr lvl="1"/>
            <a:r>
              <a:rPr lang="en-IE" dirty="0"/>
              <a:t>Permutation equivariance (if the NN produces one value for each node then it should not matter which order you give it the node values)</a:t>
            </a:r>
          </a:p>
          <a:p>
            <a:r>
              <a:rPr lang="en-IE" dirty="0"/>
              <a:t>In weather ML we usually want rotational invariance as well</a:t>
            </a:r>
          </a:p>
          <a:p>
            <a:pPr lvl="1"/>
            <a:endParaRPr lang="en-IE" dirty="0"/>
          </a:p>
          <a:p>
            <a:r>
              <a:rPr lang="en-IE" dirty="0">
                <a:solidFill>
                  <a:srgbClr val="009749"/>
                </a:solidFill>
              </a:rPr>
              <a:t>A simple example explains all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EFB21-BA39-8E44-6C59-DA0EF0789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508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C816B-2527-F6A8-21A7-A265E2D32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general GNN recipe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4A058-E819-12E2-2CBD-9E04D85BE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CBF952-6995-696F-CBBA-47B6EF7BF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2DC5C0-9DF4-9A2E-DC2F-121FE548E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49" y="1357058"/>
            <a:ext cx="10404318" cy="4761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525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BA94B-8035-EE5C-006C-797736F4D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6A069-9465-F9A3-7FB4-7EB8B514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GNN type 1: convolutional layers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C77EF-C7D1-9AF7-7AAE-D3617A4CA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ECAC8B41-F29A-F617-5507-FCB1E59E8D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874909"/>
                <a:ext cx="8348602" cy="3492024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/>
                  <a:t>  = latent node value for node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/>
                  <a:t> = all the variables for node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𝑣𝑢</m:t>
                        </m:r>
                      </m:sub>
                    </m:sSub>
                  </m:oMath>
                </a14:m>
                <a:r>
                  <a:rPr lang="en-US" dirty="0"/>
                  <a:t> = the weights associated with node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/>
                  <a:t> = all the </a:t>
                </a:r>
                <a:r>
                  <a:rPr lang="en-US" dirty="0" err="1"/>
                  <a:t>neighbours</a:t>
                </a:r>
                <a:r>
                  <a:rPr lang="en-US" dirty="0"/>
                  <a:t> of node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IE" i="1" dirty="0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/>
                  <a:t> = neural network functions</a:t>
                </a: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</m:oMath>
                </a14:m>
                <a:r>
                  <a:rPr lang="en-US" dirty="0"/>
                  <a:t>= some kind of suitable operator (sum, average, max, </a:t>
                </a:r>
                <a:r>
                  <a:rPr lang="en-US" dirty="0" err="1"/>
                  <a:t>etc</a:t>
                </a:r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ECAC8B41-F29A-F617-5507-FCB1E59E8D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874909"/>
                <a:ext cx="8348602" cy="3492024"/>
              </a:xfrm>
              <a:blipFill>
                <a:blip r:embed="rId2"/>
                <a:stretch>
                  <a:fillRect l="-1368" t="-2899" b="-2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485E9C67-B377-3960-0458-C21B6FDEB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9923" y="1690688"/>
            <a:ext cx="5125155" cy="1184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242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2868A-8A8D-C88A-F48A-161B93A9A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45117-CE62-941D-8EDC-200059C1E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GNN type 1: convolutional layers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E4507-61CB-F68B-1C29-7A5A61E97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73DF72-27FF-437F-EA29-AE08ACB3B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74909"/>
            <a:ext cx="8348602" cy="349202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9749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76973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981A8-113D-DA9D-96DB-6A9538582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34B89-A9CF-823D-EBD2-3E919034B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Types 2 and 3: attentional and message passing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9F429-0520-47C1-B411-0CF123F9F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E801E41-E40B-3FD8-53A7-649FEFCA8E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874909"/>
                <a:ext cx="8348602" cy="106284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Same as before except now: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E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E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= attention weights for nodes u and v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E801E41-E40B-3FD8-53A7-649FEFCA8E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874909"/>
                <a:ext cx="8348602" cy="1062840"/>
              </a:xfrm>
              <a:blipFill>
                <a:blip r:embed="rId2"/>
                <a:stretch>
                  <a:fillRect l="-1368" t="-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E4DA8BF-7C07-0E22-B142-8B4A0B13F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7146" y="1478114"/>
            <a:ext cx="5374454" cy="11729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AC0377-29DF-27BC-8273-6E4B2A7302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7146" y="3937749"/>
            <a:ext cx="5374454" cy="116881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5">
                <a:extLst>
                  <a:ext uri="{FF2B5EF4-FFF2-40B4-BE49-F238E27FC236}">
                    <a16:creationId xmlns:a16="http://schemas.microsoft.com/office/drawing/2014/main" id="{FA0206A4-7D7C-A910-62F9-00C051DE9AC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2604" y="5121970"/>
                <a:ext cx="8348602" cy="106284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rgbClr val="00427A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rgbClr val="00427A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rgbClr val="00427A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00427A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00427A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IE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E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IE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E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E" b="0" i="1" dirty="0" smtClean="0">
                            <a:latin typeface="Cambria Math" panose="02040503050406030204" pitchFamily="18" charset="0"/>
                          </a:rPr>
                          <m:t>𝑢𝑣</m:t>
                        </m:r>
                      </m:sub>
                    </m:sSub>
                    <m:r>
                      <a:rPr lang="en-IE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= full NN prediction across nodes and edge weights</a:t>
                </a:r>
              </a:p>
              <a:p>
                <a:r>
                  <a:rPr lang="en-US" dirty="0"/>
                  <a:t>(most general formulation)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9" name="Content Placeholder 5">
                <a:extLst>
                  <a:ext uri="{FF2B5EF4-FFF2-40B4-BE49-F238E27FC236}">
                    <a16:creationId xmlns:a16="http://schemas.microsoft.com/office/drawing/2014/main" id="{FA0206A4-7D7C-A910-62F9-00C051DE9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604" y="5121970"/>
                <a:ext cx="8348602" cy="1062840"/>
              </a:xfrm>
              <a:prstGeom prst="rect">
                <a:avLst/>
              </a:prstGeom>
              <a:blipFill>
                <a:blip r:embed="rId5"/>
                <a:stretch>
                  <a:fillRect l="-1216" t="-15294" b="-1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7494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52E06-0A63-7044-15CC-66EA4270E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915F4-AC15-583C-34CA-249BAD21C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GNN type 2 and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62421-A3E2-C43D-A409-0910D50EE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A86DC8-BC7E-A2D8-9BC1-DB81B9CFC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74909"/>
            <a:ext cx="8348602" cy="349202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9749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49788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923B9-E85D-1280-FF7E-11E964F76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Incorporating Edge Features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3330E8-F88A-5615-FDC9-B4926134B9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weather forecasting, the distance between nodes matters</a:t>
                </a:r>
              </a:p>
              <a:p>
                <a:r>
                  <a:rPr lang="en-US" dirty="0"/>
                  <a:t>Edge features can include angle, distance, or wind vector components</a:t>
                </a:r>
              </a:p>
              <a:p>
                <a:r>
                  <a:rPr lang="en-US" dirty="0"/>
                  <a:t>The function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 now takes both node </a:t>
                </a:r>
                <a:r>
                  <a:rPr lang="en-US" i="1" dirty="0"/>
                  <a:t>and</a:t>
                </a:r>
                <a:r>
                  <a:rPr lang="en-US" dirty="0"/>
                  <a:t> edge data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3330E8-F88A-5615-FDC9-B4926134B9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68" t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8ED3D-4161-48FB-3697-1290D45D1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30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0D355-9511-A782-2686-A50B29D6E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73C1D-D616-314A-2EB2-12A1FB348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can you do with these models?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09973-1A82-C794-8F49-8A456D82C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1226B-E703-308D-33B1-C23CA345D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443B96-2D1C-9A5E-89DF-CC6C8CF49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31" y="1794021"/>
            <a:ext cx="11541626" cy="373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091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82D13-BD2D-72CA-3B5D-ABC4AE378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DAAF4-B46F-91FB-8781-F4AFC9BE3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Transformers </a:t>
            </a:r>
            <a:r>
              <a:rPr lang="en-US" i="1" dirty="0"/>
              <a:t>are</a:t>
            </a:r>
            <a:r>
              <a:rPr lang="en-US" dirty="0"/>
              <a:t> GNNs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6C50E5-DCB0-69FE-447F-E65FC38EAF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With a fully connected graph (i.e.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) we just end up back at a transformer</a:t>
                </a:r>
              </a:p>
              <a:p>
                <a:r>
                  <a:rPr lang="en-US" dirty="0"/>
                  <a:t> You can see the similarity between them via: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6C50E5-DCB0-69FE-447F-E65FC38EAF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68" t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3989E-F122-6D4E-D460-635165C2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D9BD39-9164-558F-89B8-BFCBA8174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301" y="3429000"/>
            <a:ext cx="7772400" cy="183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0691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CCE9A-8202-D3C1-5DF6-9970C709D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River Flow on </a:t>
            </a:r>
            <a:r>
              <a:rPr lang="en-US" dirty="0" err="1"/>
              <a:t>waterlevel.ie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D39A16-308A-306C-E80B-48B91EBAB0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013213" cy="4149290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Directed graphs: water only flows downstream!</a:t>
                </a:r>
              </a:p>
              <a:p>
                <a:r>
                  <a:rPr lang="en-US" dirty="0"/>
                  <a:t>Nodes: 7 Gauge stations</a:t>
                </a:r>
              </a:p>
              <a:p>
                <a:r>
                  <a:rPr lang="en-US" dirty="0"/>
                  <a:t>Edges: River segments with length and slope attributes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E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IE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I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E" i="1"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E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en-IE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I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: Current water level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E" i="1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E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IE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 Accumulated precipitation over 6 hours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E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 Static station metadata (e.g., base elevation)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D39A16-308A-306C-E80B-48B91EBAB0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013213" cy="4149290"/>
              </a:xfrm>
              <a:blipFill>
                <a:blip r:embed="rId3"/>
                <a:stretch>
                  <a:fillRect l="-1772" t="-3354" r="-2025" b="-30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9E98F-10A0-7D58-AAD1-D440461D7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66DA3E-376A-5CEC-B73A-46432FA293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3573" y="1690688"/>
            <a:ext cx="6328428" cy="398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9460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B30B1-FCE4-6C8E-0FEF-C833EB239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Edge Feature Vector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2CC3CD-A213-61F7-B81D-5D4AF3DB60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E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  <m:r>
                      <a:rPr lang="en-IE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E" b="0" i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: Distance (determines lag time)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E" b="0" i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r>
                  <a:rPr lang="en-US" dirty="0"/>
                  <a:t>: Drop in height (determines flow velocity)</a:t>
                </a:r>
              </a:p>
              <a:p>
                <a:r>
                  <a:rPr lang="en-US" dirty="0"/>
                  <a:t>This allows the GCN to learn "physics-informed" messages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2CC3CD-A213-61F7-B81D-5D4AF3DB60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68" t="-1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88CAE-9363-4234-609B-155B12DC6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1366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F4F41-DDAC-2AE1-971D-C9173F654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Implementation &amp; Training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9F2B77-DC3E-A98B-D6D2-5B7370C6AB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Loss Function for Water Levels</a:t>
                </a:r>
              </a:p>
              <a:p>
                <a:r>
                  <a:rPr lang="en-US" dirty="0"/>
                  <a:t>Objective: Mean Squared Error (MSE)</a:t>
                </a:r>
              </a:p>
              <a:p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IE" b="0" i="1" smtClean="0">
                        <a:latin typeface="Cambria Math" panose="02040503050406030204" pitchFamily="18" charset="0"/>
                      </a:rPr>
                      <m:t>∑</m:t>
                    </m:r>
                    <m:sSup>
                      <m:sSupPr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  <m:t>𝑝𝑟𝑒𝑑</m:t>
                                </m:r>
                              </m:sub>
                            </m:sSub>
                            <m:r>
                              <a:rPr lang="en-IE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  <m:t>𝑡𝑟𝑢𝑒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E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We predict the level at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+6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Challenge: Floods are rare; how do we weight the loss?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009749"/>
                    </a:solidFill>
                  </a:rPr>
                  <a:t>Example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9F2B77-DC3E-A98B-D6D2-5B7370C6AB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68" t="-2439" r="-1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9ACFD-1FAE-E644-0256-9F490EB24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575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8506B-B6B2-CEF2-A25A-FD5505F80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Transitioning to Global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AAFC5-5087-B198-4DEC-BE713B275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5 water gauges to the whole planet</a:t>
            </a:r>
          </a:p>
          <a:p>
            <a:r>
              <a:rPr lang="en-US" dirty="0"/>
              <a:t>AIFS doesn't use a single grid; it uses a multi-mesh graph</a:t>
            </a:r>
          </a:p>
          <a:p>
            <a:r>
              <a:rPr lang="en-US" dirty="0"/>
              <a:t>Information needs to travel from the Pacific to Europe</a:t>
            </a:r>
          </a:p>
          <a:p>
            <a:r>
              <a:rPr lang="en-US" dirty="0"/>
              <a:t>How do we ensure fast propagation?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99E99-7546-BB74-507F-9FC9E4C99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678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FE82D-2578-B831-5236-94F089325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Encoder-Processor-Decoder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206DE-8F1F-F658-E44B-35DE00D80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High-Level AIFS Architecture</a:t>
            </a:r>
          </a:p>
          <a:p>
            <a:r>
              <a:rPr lang="en-US" dirty="0"/>
              <a:t>Encoder: Moves data from the Lat/Lon grid to the Graph</a:t>
            </a:r>
          </a:p>
          <a:p>
            <a:r>
              <a:rPr lang="en-US" dirty="0"/>
              <a:t>Processor: 15-20 GCN layers performing global message passing</a:t>
            </a:r>
          </a:p>
          <a:p>
            <a:r>
              <a:rPr lang="en-US" dirty="0"/>
              <a:t>Decoder: Moves data back to the grid for forecasting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4A531D-4A54-6053-B52D-0865F7400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2614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E3B94-1EAB-143E-DAC4-297A2C5CE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Rollout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7960F8-A8A1-3BFF-9986-3AE3AD95A1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Forecasting into the Future</a:t>
                </a:r>
              </a:p>
              <a:p>
                <a:r>
                  <a:rPr lang="en-US" dirty="0"/>
                  <a:t>We don't just want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+6</m:t>
                    </m:r>
                  </m:oMath>
                </a14:m>
                <a:r>
                  <a:rPr lang="en-US" dirty="0"/>
                  <a:t>, we want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+24, 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+48,…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We take the output of the GCN and feed it back as the new input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I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𝐺𝐶𝑁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E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𝑒𝑑𝑔𝑒𝑠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7960F8-A8A1-3BFF-9986-3AE3AD95A1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68" t="-2439" r="-7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38678-B4B9-D2CB-CF2C-C6EA8DB42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6468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89E7B-AC48-ECAB-AFDB-40A7D798F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Looking ahead to tomorrow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6D24A-2B52-7113-AACA-F14049376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Tomorrow: Starting to look at AIFS and Anemoi</a:t>
            </a:r>
          </a:p>
          <a:p>
            <a:r>
              <a:rPr lang="en-US" dirty="0"/>
              <a:t>We will explore the Anemoi library</a:t>
            </a:r>
          </a:p>
          <a:p>
            <a:r>
              <a:rPr lang="en-US" dirty="0"/>
              <a:t>How to handle 40,000+ nodes instead of 5!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CFE9DF-C4E2-7380-15C5-F6894F034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520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2E3C7-E02A-F443-93FF-99B0D1284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1495C-38DD-F9F0-478E-D16C6E4C6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GNNs </a:t>
            </a:r>
            <a:r>
              <a:rPr lang="en-US" dirty="0" err="1"/>
              <a:t>generalise</a:t>
            </a:r>
            <a:r>
              <a:rPr lang="en-US" dirty="0"/>
              <a:t> neural networks to (irregular) graph structures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Weather forecasting benefits from capturing spatial relationships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We have covered 3 different types of GNN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Can combine with transformers, convolutions and message passing to model complex interactions between </a:t>
            </a:r>
            <a:r>
              <a:rPr lang="en-US" dirty="0" err="1"/>
              <a:t>neighbours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Frameworks like </a:t>
            </a:r>
            <a:r>
              <a:rPr lang="en-US" dirty="0" err="1"/>
              <a:t>PyTorch</a:t>
            </a:r>
            <a:r>
              <a:rPr lang="en-US" dirty="0"/>
              <a:t> Geometric make implementation practical</a:t>
            </a:r>
          </a:p>
        </p:txBody>
      </p:sp>
    </p:spTree>
    <p:extLst>
      <p:ext uri="{BB962C8B-B14F-4D97-AF65-F5344CB8AC3E}">
        <p14:creationId xmlns:p14="http://schemas.microsoft.com/office/powerpoint/2010/main" val="2902375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imsir_template_2" id="{885FC850-5704-7C40-B0D5-B2BE1CAB90DE}" vid="{17F42F5C-6F7C-FD4F-918A-67665F080F4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7324</TotalTime>
  <Words>1004</Words>
  <Application>Microsoft Macintosh PowerPoint</Application>
  <PresentationFormat>Widescreen</PresentationFormat>
  <Paragraphs>137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Calibri</vt:lpstr>
      <vt:lpstr>Cambria Math</vt:lpstr>
      <vt:lpstr>Office Theme</vt:lpstr>
      <vt:lpstr>Class 8: Graph Neural Networks part 2</vt:lpstr>
      <vt:lpstr>Outline</vt:lpstr>
      <vt:lpstr>Reminder</vt:lpstr>
      <vt:lpstr>The Weather Graph</vt:lpstr>
      <vt:lpstr>Re-cap: The Weather Graph</vt:lpstr>
      <vt:lpstr>Why "Convolution"</vt:lpstr>
      <vt:lpstr>The Simplest GNN Layer</vt:lpstr>
      <vt:lpstr>Symmetry requirements</vt:lpstr>
      <vt:lpstr>The general GNN recipe</vt:lpstr>
      <vt:lpstr>GNN type 1: convolutional layers</vt:lpstr>
      <vt:lpstr>GNN type 1: convolutional layers</vt:lpstr>
      <vt:lpstr>Types 2 and 3: attentional and message passing</vt:lpstr>
      <vt:lpstr>GNN type 2 and 3</vt:lpstr>
      <vt:lpstr>Incorporating Edge Features</vt:lpstr>
      <vt:lpstr>What can you do with these models?</vt:lpstr>
      <vt:lpstr>Transformers are GNNs</vt:lpstr>
      <vt:lpstr>Case Study: River Flow on waterlevel.ie</vt:lpstr>
      <vt:lpstr>The Edge Feature Vector</vt:lpstr>
      <vt:lpstr>Practical Implementation &amp; Training</vt:lpstr>
      <vt:lpstr>Transitioning to Global Models</vt:lpstr>
      <vt:lpstr>The Encoder-Processor-Decoder</vt:lpstr>
      <vt:lpstr>Autoregressive Rollout</vt:lpstr>
      <vt:lpstr>Looking ahead to tomorrow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Parnell</dc:creator>
  <cp:lastModifiedBy>Andrew Parnell</cp:lastModifiedBy>
  <cp:revision>105</cp:revision>
  <dcterms:created xsi:type="dcterms:W3CDTF">2025-09-24T09:34:21Z</dcterms:created>
  <dcterms:modified xsi:type="dcterms:W3CDTF">2026-02-22T20:25:30Z</dcterms:modified>
</cp:coreProperties>
</file>