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346" r:id="rId3"/>
    <p:sldId id="369" r:id="rId4"/>
    <p:sldId id="400" r:id="rId5"/>
    <p:sldId id="370" r:id="rId6"/>
    <p:sldId id="371" r:id="rId7"/>
    <p:sldId id="372" r:id="rId8"/>
    <p:sldId id="392" r:id="rId9"/>
    <p:sldId id="376" r:id="rId10"/>
    <p:sldId id="395" r:id="rId11"/>
    <p:sldId id="393" r:id="rId12"/>
    <p:sldId id="396" r:id="rId13"/>
    <p:sldId id="397" r:id="rId14"/>
    <p:sldId id="377" r:id="rId15"/>
    <p:sldId id="398" r:id="rId16"/>
    <p:sldId id="402" r:id="rId17"/>
    <p:sldId id="378" r:id="rId18"/>
    <p:sldId id="380" r:id="rId19"/>
    <p:sldId id="387" r:id="rId20"/>
    <p:sldId id="382" r:id="rId21"/>
    <p:sldId id="383" r:id="rId22"/>
    <p:sldId id="388" r:id="rId23"/>
    <p:sldId id="391" r:id="rId24"/>
    <p:sldId id="285" r:id="rId25"/>
    <p:sldId id="321" r:id="rId26"/>
    <p:sldId id="32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7A"/>
    <a:srgbClr val="00959F"/>
    <a:srgbClr val="009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94707"/>
  </p:normalViewPr>
  <p:slideViewPr>
    <p:cSldViewPr snapToGrid="0">
      <p:cViewPr varScale="1">
        <p:scale>
          <a:sx n="114" d="100"/>
          <a:sy n="114" d="100"/>
        </p:scale>
        <p:origin x="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06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1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7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Why are Graph Neural Networks generally preferred over standard Convolutional Neural Networks (CNNs) for processing data from global weather station networks?</a:t>
            </a:r>
          </a:p>
          <a:p>
            <a:r>
              <a:rPr lang="en-US"/>
              <a:t>https://www.polleverywhere.com/multiple_choice_polls/epFBBTTnCl9HKEciEAFks?state=opened&amp;flow=Default&amp;onscreen=persist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29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72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41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89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1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13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68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53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2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2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In the "General GNN Recipe" ($$h_u = \phi(x_u, \bigoplus \psi(x_u, x_v))$$), what is the primary purpose of the permutation-invariant aggregator ($$\bigoplus$$)?</a:t>
            </a:r>
          </a:p>
          <a:p>
            <a:r>
              <a:rPr lang="en-US"/>
              <a:t>https://www.polleverywhere.com/multiple_choice_polls/udaQbXgbwDkstHkQ4esdk?state=opened&amp;flow=Default&amp;onscreen=persist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12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59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61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27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8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24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969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08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00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1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F66696-21B2-D649-92A2-EEC2EDFEA99A}" type="datetime3">
              <a:rPr lang="en-IE" smtClean="0"/>
              <a:t>4 March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5050E7-7B9A-8940-BE07-8CADAADB4B25}" type="datetime3">
              <a:rPr lang="en-IE" smtClean="0"/>
              <a:t>4 March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273B3-F20B-8743-B0C9-5966BABF8646}" type="datetime3">
              <a:rPr lang="en-IE" smtClean="0"/>
              <a:t>4 March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4A07-0326-EEAC-9136-94B6216DA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25832-D62A-24B3-8552-D48F8366A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F7E1E-4508-179A-20BA-D588DF1732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9B375-229C-EFD7-88AD-548FEC262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emf"/><Relationship Id="rId5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8: Graph Neural Networks part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44C1-ED47-F757-A52F-CBDCFCCE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2D2A-5689-067A-2DB9-A2B18871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6896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Move beyond grid-based thinking</a:t>
            </a:r>
          </a:p>
          <a:p>
            <a:r>
              <a:rPr lang="en-US" dirty="0"/>
              <a:t>Extend the basic GNNs we met last class</a:t>
            </a:r>
          </a:p>
          <a:p>
            <a:r>
              <a:rPr lang="en-US" dirty="0"/>
              <a:t>Regular grids (i.e. CNNs) struggle with Earth's spherical geometry and irregular station locations</a:t>
            </a:r>
          </a:p>
          <a:p>
            <a:r>
              <a:rPr lang="en-US" dirty="0"/>
              <a:t>Real physical relationships (river flow, pressure gradients) do not follow pixel neighbors</a:t>
            </a:r>
          </a:p>
          <a:p>
            <a:r>
              <a:rPr lang="en-US" dirty="0"/>
              <a:t>GCNs allow message passing along the actual paths of physical influence.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332C5-20CA-D18C-E3CC-5D07F2D5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03BC84-ABE7-49BD-DE25-EA5341F60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9" y="850900"/>
            <a:ext cx="4491768" cy="548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702-3EAA-CD12-2695-6E8DCECB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7523-DE30-E5A8-5DA1-B9DD82EA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5C180-D429-F4E2-876A-7996A8D8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21978" cy="4149290"/>
          </a:xfrm>
        </p:spPr>
        <p:txBody>
          <a:bodyPr>
            <a:normAutofit/>
          </a:bodyPr>
          <a:lstStyle/>
          <a:p>
            <a:r>
              <a:rPr lang="en-US" dirty="0"/>
              <a:t>In standard GNNs we have nodes that are joined by edges</a:t>
            </a:r>
          </a:p>
          <a:p>
            <a:r>
              <a:rPr lang="en-US" dirty="0"/>
              <a:t>The nodes have ‘features’ that we might like to predict at future time steps or generally make predictions from</a:t>
            </a:r>
          </a:p>
          <a:p>
            <a:r>
              <a:rPr lang="en-US" dirty="0"/>
              <a:t>We use graph neural networks to work out how much information is shared between the nodes to produce the predictions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35C07-5D36-8A33-93DB-6A058AE7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8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19BD-14A0-0990-0FFC-93DCCA3B50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DC5D5-DDE1-C5F5-D0A8-08685E4E7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FB6F9-139F-BCE7-A909-A4DE56D47D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  <p:pic>
        <p:nvPicPr>
          <p:cNvPr id="6" name="slide.url=https://www.polleverywhere.com/multiple_choice_polls/epFBBTTnCl9HKEciEAFks?state=opened&amp;flow=Default&amp;onscreen=persist">
            <a:extLst>
              <a:ext uri="{FF2B5EF4-FFF2-40B4-BE49-F238E27FC236}">
                <a16:creationId xmlns:a16="http://schemas.microsoft.com/office/drawing/2014/main" id="{CB614634-D5C3-C3FA-91B4-F229DB0F203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8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D32A-D4CE-F4F7-C06C-7DCE02D2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48E1-5B59-17E1-DF54-7B3AA2E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Weather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4807-1355-BC9D-AEAF-B2A78741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0422" cy="4149290"/>
          </a:xfrm>
        </p:spPr>
        <p:txBody>
          <a:bodyPr>
            <a:normAutofit/>
          </a:bodyPr>
          <a:lstStyle/>
          <a:p>
            <a:r>
              <a:rPr lang="en-US" dirty="0"/>
              <a:t>Nodes: Represent physical locations (e.g. stations or grid points)</a:t>
            </a:r>
          </a:p>
          <a:p>
            <a:r>
              <a:rPr lang="en-US" dirty="0"/>
              <a:t>Edges: Represent relationships</a:t>
            </a:r>
          </a:p>
          <a:p>
            <a:r>
              <a:rPr lang="en-US" dirty="0"/>
              <a:t>Features: Nodes hold state (Temp, Pressure); Edges hold context (Distance, Slope)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70DA7-1F4B-97B3-9A7B-F11A6076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61770-B36A-30E4-D2D7-DFAAAB17F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622" y="1829254"/>
            <a:ext cx="6273085" cy="34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119C-1001-F683-FBB2-DABAA9BE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in </a:t>
            </a:r>
            <a:r>
              <a:rPr lang="en-US" dirty="0" err="1"/>
              <a:t>maths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330A2A-72CC-3E36-A7E0-39BC81B2D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80314" cy="41492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Define the domain as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(Vertices): sensors, grid points, or river gauges.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(Edges): physical connections (distance, flow, or wind).</a:t>
                </a:r>
              </a:p>
              <a:p>
                <a:r>
                  <a:rPr lang="en-US" dirty="0"/>
                  <a:t>Node Features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  <m:r>
                          <a:rPr lang="en-I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dirty="0"/>
                  <a:t>: the state (Temperature, Pressure, Water Level).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Number of features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330A2A-72CC-3E36-A7E0-39BC81B2D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80314" cy="4149290"/>
              </a:xfrm>
              <a:blipFill>
                <a:blip r:embed="rId3"/>
                <a:stretch>
                  <a:fillRect l="-1974" t="-3354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4E0E-AF2E-39E3-D827-A759CEF9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BCC8B-507E-6CAC-CDC4-1A866AF9F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129" y="1825625"/>
            <a:ext cx="42926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4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D530-E3EB-D22C-20CB-0C4E041F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and convolutions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4932-2634-9814-A7E9-1F693A97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50"/>
            <a:ext cx="8348602" cy="2656064"/>
          </a:xfrm>
        </p:spPr>
        <p:txBody>
          <a:bodyPr/>
          <a:lstStyle/>
          <a:p>
            <a:r>
              <a:rPr lang="en-US" dirty="0"/>
              <a:t>CNNs: weighted average of pixel </a:t>
            </a:r>
            <a:r>
              <a:rPr lang="en-US" dirty="0" err="1"/>
              <a:t>neighbours</a:t>
            </a:r>
            <a:r>
              <a:rPr lang="en-US" dirty="0"/>
              <a:t> in e.g. a 3x3 grid </a:t>
            </a:r>
          </a:p>
          <a:p>
            <a:r>
              <a:rPr lang="en-US" dirty="0"/>
              <a:t>GNNs: weighted average of node neighbors in an irregular neighborhood</a:t>
            </a:r>
          </a:p>
          <a:p>
            <a:r>
              <a:rPr lang="en-US" dirty="0"/>
              <a:t>Shared weights: We use the same learned parameters across the entire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21AA2-687A-B358-C904-A4B2AD8F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20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5E74-38E3-DA98-FCB1-37012332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0B25-8EAD-CD2C-391F-626EEB20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634B-6624-5F29-29D5-ED89BD55D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 need:</a:t>
            </a:r>
          </a:p>
          <a:p>
            <a:pPr lvl="1"/>
            <a:r>
              <a:rPr lang="en-IE" dirty="0"/>
              <a:t>Permutation invariance (if the NN produces a single value it should not matter which order you gives the nodes in)</a:t>
            </a:r>
          </a:p>
          <a:p>
            <a:pPr lvl="1"/>
            <a:r>
              <a:rPr lang="en-IE" dirty="0"/>
              <a:t>Permutation equivariance (if the NN produces one value for each node then it should not matter which order you give it the node values)</a:t>
            </a:r>
          </a:p>
          <a:p>
            <a:r>
              <a:rPr lang="en-IE" dirty="0"/>
              <a:t>In weather ML we usually want rotational invariance as well</a:t>
            </a:r>
          </a:p>
          <a:p>
            <a:pPr lvl="1"/>
            <a:endParaRPr lang="en-IE" dirty="0"/>
          </a:p>
          <a:p>
            <a:r>
              <a:rPr lang="en-IE" dirty="0">
                <a:solidFill>
                  <a:srgbClr val="009749"/>
                </a:solidFill>
              </a:rPr>
              <a:t>A simple example explains all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EFB21-BA39-8E44-6C59-DA0EF078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816B-2527-F6A8-21A7-A265E2D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GNN recipe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A058-E819-12E2-2CBD-9E04D85B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BF952-6995-696F-CBBA-47B6EF7B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DC5C0-9DF4-9A2E-DC2F-121FE548E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9" y="1357058"/>
            <a:ext cx="10404318" cy="476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2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A94B-8035-EE5C-006C-797736F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A069-9465-F9A3-7FB4-7EB8B514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type 1: convolutional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C77EF-C7D1-9AF7-7AAE-D3617A4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CAC8B41-F29A-F617-5507-FCB1E59E8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74909"/>
                <a:ext cx="8348602" cy="3492024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 = latent node value for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= all the features for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= edge features between node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𝑣𝑢</m:t>
                        </m:r>
                      </m:sub>
                    </m:sSub>
                  </m:oMath>
                </a14:m>
                <a:r>
                  <a:rPr lang="en-US" dirty="0"/>
                  <a:t> = the weights associated with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= all the </a:t>
                </a:r>
                <a:r>
                  <a:rPr lang="en-US" dirty="0" err="1"/>
                  <a:t>neighbours</a:t>
                </a:r>
                <a:r>
                  <a:rPr lang="en-US" dirty="0"/>
                  <a:t> of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= neural network functions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dirty="0"/>
                  <a:t>= some kind of suitable operator (sum, average, max, </a:t>
                </a:r>
                <a:r>
                  <a:rPr lang="en-US" dirty="0" err="1"/>
                  <a:t>etc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CAC8B41-F29A-F617-5507-FCB1E59E8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74909"/>
                <a:ext cx="8348602" cy="3492024"/>
              </a:xfrm>
              <a:blipFill>
                <a:blip r:embed="rId3"/>
                <a:stretch>
                  <a:fillRect l="-1216" t="-3623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17D1841-B7F4-70FA-50FF-C9210BE2C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451" y="1398303"/>
            <a:ext cx="6388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4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81A8-113D-DA9D-96DB-6A953858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4B89-A9CF-823D-EBD2-3E919034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2 and 3: attentional and message passing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9F429-0520-47C1-B411-0CF123F9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801E41-E40B-3FD8-53A7-649FEFCA8E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74909"/>
                <a:ext cx="8348602" cy="106284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Same as before except now: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attention weights for nodes u and v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801E41-E40B-3FD8-53A7-649FEFCA8E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74909"/>
                <a:ext cx="8348602" cy="1062840"/>
              </a:xfrm>
              <a:blipFill>
                <a:blip r:embed="rId3"/>
                <a:stretch>
                  <a:fillRect l="-1368" t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FA0206A4-7D7C-A910-62F9-00C051DE9A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604" y="5121970"/>
                <a:ext cx="8348602" cy="10628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427A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IE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  <m:r>
                      <a:rPr lang="en-I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full NN prediction across nodes and edge weights</a:t>
                </a:r>
              </a:p>
              <a:p>
                <a:r>
                  <a:rPr lang="en-US" dirty="0"/>
                  <a:t>(most general formulation)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FA0206A4-7D7C-A910-62F9-00C051DE9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04" y="5121970"/>
                <a:ext cx="8348602" cy="1062840"/>
              </a:xfrm>
              <a:prstGeom prst="rect">
                <a:avLst/>
              </a:prstGeom>
              <a:blipFill>
                <a:blip r:embed="rId5"/>
                <a:stretch>
                  <a:fillRect l="-1216" t="-15294" b="-1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6530E0-3368-B60F-4894-7DF6D39BE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8806" y="1445565"/>
            <a:ext cx="7772400" cy="1307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1295C-C1E7-011A-7244-0A67D24B17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3746" y="3962621"/>
            <a:ext cx="4451350" cy="97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9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2E06-0A63-7044-15CC-66EA4270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15F4-AC15-583C-34CA-249BAD21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2421-A3E2-C43D-A409-0910D50E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86DC8-BC7E-A2D8-9BC1-DB81B9CF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997"/>
            <a:ext cx="8348602" cy="34920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9749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4978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D355-9511-A782-2686-A50B29D6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3C1D-D616-314A-2EB2-12A1FB34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can you do with these models?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1226B-E703-308D-33B1-C23CA345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43B96-2D1C-9A5E-89DF-CC6C8CF49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31" y="1794021"/>
            <a:ext cx="11541626" cy="373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91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23B9-E85D-1280-FF7E-11E964F7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Incorporating Edge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330E8-F88A-5615-FDC9-B4926134B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weather forecasting, the distance between nodes matters</a:t>
                </a:r>
              </a:p>
              <a:p>
                <a:r>
                  <a:rPr lang="en-US" dirty="0"/>
                  <a:t>Edge features can include angle, distance, or wind vector components</a:t>
                </a:r>
              </a:p>
              <a:p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can take both node </a:t>
                </a:r>
                <a:r>
                  <a:rPr lang="en-US" i="1" dirty="0"/>
                  <a:t>and</a:t>
                </a:r>
                <a:r>
                  <a:rPr lang="en-US" dirty="0"/>
                  <a:t> edge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330E8-F88A-5615-FDC9-B4926134B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8ED3D-4161-48FB-3697-1290D45D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0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2D13-BD2D-72CA-3B5D-ABC4AE37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AAF4-B46F-91FB-8781-F4AFC9BE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 </a:t>
            </a:r>
            <a:r>
              <a:rPr lang="en-US" i="1" dirty="0"/>
              <a:t>are</a:t>
            </a:r>
            <a:r>
              <a:rPr lang="en-US" dirty="0"/>
              <a:t> GNNs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C50E5-DCB0-69FE-447F-E65FC38EA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a fully connected graph (i.e.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) we just end up back at a transformer</a:t>
                </a:r>
              </a:p>
              <a:p>
                <a:r>
                  <a:rPr lang="en-US" dirty="0"/>
                  <a:t> You can see the similarity between them via: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C50E5-DCB0-69FE-447F-E65FC38EA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3989E-F122-6D4E-D460-635165C2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9BD39-9164-558F-89B8-BFCBA8174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301" y="3429000"/>
            <a:ext cx="7772400" cy="183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6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524F-E5DB-1BC6-DC96-A8698C691F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4A1BA-6C93-0F59-D790-6A0387B420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54262-2B8A-8F81-BA3E-823B4552B4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  <p:pic>
        <p:nvPicPr>
          <p:cNvPr id="6" name="slide.url=https://www.polleverywhere.com/multiple_choice_polls/udaQbXgbwDkstHkQ4esdk?state=opened&amp;flow=Default&amp;onscreen=persist">
            <a:extLst>
              <a:ext uri="{FF2B5EF4-FFF2-40B4-BE49-F238E27FC236}">
                <a16:creationId xmlns:a16="http://schemas.microsoft.com/office/drawing/2014/main" id="{71C4320A-E51A-8363-1784-1CDA91C4AD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81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CE9A-8202-D3C1-5DF6-9970C709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River Flow on </a:t>
            </a:r>
            <a:r>
              <a:rPr lang="en-US" dirty="0" err="1"/>
              <a:t>waterlevel.ie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9A16-308A-306C-E80B-48B91EBAB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13213" cy="414929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Directed graphs: water only flows downstream!</a:t>
                </a:r>
              </a:p>
              <a:p>
                <a:r>
                  <a:rPr lang="en-US" dirty="0"/>
                  <a:t>Nodes: 7 Gauge stations</a:t>
                </a:r>
              </a:p>
              <a:p>
                <a:r>
                  <a:rPr lang="en-US" dirty="0"/>
                  <a:t>Edges: River segments with length and slope attributes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E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I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I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Current water level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I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Accumulated precipitation over 6 hours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Static station metadata (e.g., base elevation)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9A16-308A-306C-E80B-48B91EBAB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13213" cy="4149290"/>
              </a:xfrm>
              <a:blipFill>
                <a:blip r:embed="rId3"/>
                <a:stretch>
                  <a:fillRect l="-1772" t="-3354" r="-2025" b="-3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9E98F-10A0-7D58-AAD1-D440461D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6DA3E-376A-5CEC-B73A-46432FA29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73" y="1690688"/>
            <a:ext cx="6328428" cy="39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46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30B1-FCE4-6C8E-0FEF-C833EB23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Edge Feature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CC3CD-A213-61F7-B81D-5D4AF3DB60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E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: Distance (determines lag time)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E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: Drop in height (determines flow velocity)</a:t>
                </a:r>
              </a:p>
              <a:p>
                <a:r>
                  <a:rPr lang="en-US" dirty="0"/>
                  <a:t>This allows the GCN to learn "physics-informed" messages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CC3CD-A213-61F7-B81D-5D4AF3DB60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88CAE-9363-4234-609B-155B12DC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4F41-DDAC-2AE1-971D-C9173F65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Implementation &amp;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F2B77-DC3E-A98B-D6D2-5B7370C6A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Loss Function for Water Levels</a:t>
                </a:r>
              </a:p>
              <a:p>
                <a:r>
                  <a:rPr lang="en-US" dirty="0"/>
                  <a:t>Objective: Mean Squared Error (MSE)</a:t>
                </a:r>
              </a:p>
              <a:p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IE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𝑝𝑟𝑒𝑑</m:t>
                                </m:r>
                              </m:sub>
                            </m:sSub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predict the level at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Challenge: Floods are rare; how do we weight the loss?</a:t>
                </a:r>
              </a:p>
              <a:p>
                <a:endParaRPr lang="en-US" dirty="0"/>
              </a:p>
              <a:p>
                <a:r>
                  <a:rPr lang="en-US" dirty="0"/>
                  <a:t>See example code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F2B77-DC3E-A98B-D6D2-5B7370C6A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 r="-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9ACFD-1FAE-E644-0256-9F490EB2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75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506B-B6B2-CEF2-A25A-FD5505F8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Transitioning to Global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AAFC5-5087-B198-4DEC-BE713B27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5 water gauges to the whole planet</a:t>
            </a:r>
          </a:p>
          <a:p>
            <a:r>
              <a:rPr lang="en-US" dirty="0"/>
              <a:t>AIFS doesn't use a single grid; it uses a multi-mesh graph</a:t>
            </a:r>
          </a:p>
          <a:p>
            <a:r>
              <a:rPr lang="en-US" dirty="0"/>
              <a:t>Information needs to travel from the Pacific to Europe</a:t>
            </a:r>
          </a:p>
          <a:p>
            <a:r>
              <a:rPr lang="en-US" dirty="0"/>
              <a:t>How do we ensure fast propagation?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99E99-7546-BB74-507F-9FC9E4C9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7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E82D-2578-B831-5236-94F08932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Encoder-Processor-Decoder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06DE-8F1F-F658-E44B-35DE00D80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High-Level AIFS Architecture</a:t>
            </a:r>
          </a:p>
          <a:p>
            <a:r>
              <a:rPr lang="en-US" dirty="0"/>
              <a:t>Encoder: Moves data from the Lat/Lon grid to the Graph</a:t>
            </a:r>
          </a:p>
          <a:p>
            <a:r>
              <a:rPr lang="en-US" dirty="0"/>
              <a:t>Processor: 15-20 GCN layers performing global message passing</a:t>
            </a:r>
          </a:p>
          <a:p>
            <a:r>
              <a:rPr lang="en-US" dirty="0"/>
              <a:t>Decoder: Moves data back to the grid for forecasting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A531D-4A54-6053-B52D-0865F740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61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3B94-1EAB-143E-DAC4-297A2C5C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Rollout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7960F8-A8A1-3BFF-9986-3AE3AD95A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Forecasting into the Future</a:t>
                </a:r>
              </a:p>
              <a:p>
                <a:r>
                  <a:rPr lang="en-US" dirty="0"/>
                  <a:t>We don't just want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dirty="0"/>
                  <a:t>, we want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+24, 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+48,…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take the output of the GCN and feed it back as the new input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𝐺𝐶𝑁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𝑒𝑑𝑔𝑒𝑠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7960F8-A8A1-3BFF-9986-3AE3AD95A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 r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38678-B4B9-D2CB-CF2C-C6EA8DB4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46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9E7B-AC48-ECAB-AFDB-40A7D798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D24A-2B52-7113-AACA-F14049376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to look at AIFS and Anemoi</a:t>
            </a:r>
          </a:p>
          <a:p>
            <a:r>
              <a:rPr lang="en-US" dirty="0"/>
              <a:t>We will explore the Anemoi library</a:t>
            </a:r>
          </a:p>
          <a:p>
            <a:r>
              <a:rPr lang="en-US" dirty="0"/>
              <a:t>How to handle 40,000+ nodes instead of 5!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FE9DF-C4E2-7380-15C5-F6894F03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2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GNNs </a:t>
            </a:r>
            <a:r>
              <a:rPr lang="en-US" dirty="0" err="1"/>
              <a:t>generalise</a:t>
            </a:r>
            <a:r>
              <a:rPr lang="en-US" dirty="0"/>
              <a:t> neural networks to (irregular) graph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Weather forecasting benefits from capturing spatial relationships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have covered 3 different types of GNN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combine with transformers, convolutions and message passing to model complex interactions between </a:t>
            </a:r>
            <a:r>
              <a:rPr lang="en-US" dirty="0" err="1"/>
              <a:t>neighbours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Frameworks like </a:t>
            </a:r>
            <a:r>
              <a:rPr lang="en-US" dirty="0" err="1"/>
              <a:t>PyTorch</a:t>
            </a:r>
            <a:r>
              <a:rPr lang="en-US" dirty="0"/>
              <a:t> Geometric make implementation practical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Irish_ERA5_GNNs.ipynb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water_level_example.ipynb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0"/>
            <a:ext cx="4866249" cy="4171821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Go and download some more water stations from </a:t>
            </a:r>
            <a:r>
              <a:rPr lang="en-US" dirty="0" err="1"/>
              <a:t>waterlevel.ie</a:t>
            </a:r>
            <a:r>
              <a:rPr lang="en-US" dirty="0"/>
              <a:t> (click on Full Record at the top)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a basin (or multiple </a:t>
            </a:r>
            <a:r>
              <a:rPr lang="en-US" dirty="0" err="1"/>
              <a:t>neighbouring</a:t>
            </a:r>
            <a:r>
              <a:rPr lang="en-US" dirty="0"/>
              <a:t> basins) and take a year or more of data from all the stations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Fit some more models and see how far you can push the accuracy/richness of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your results in 5 minutes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8408</TotalTime>
  <Words>1196</Words>
  <Application>Microsoft Macintosh PowerPoint</Application>
  <PresentationFormat>Widescreen</PresentationFormat>
  <Paragraphs>163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Courier New</vt:lpstr>
      <vt:lpstr>Office Theme</vt:lpstr>
      <vt:lpstr>Class 8: Graph Neural Networks part 2</vt:lpstr>
      <vt:lpstr>Outline</vt:lpstr>
      <vt:lpstr>Reminder</vt:lpstr>
      <vt:lpstr>PowerPoint Presentation</vt:lpstr>
      <vt:lpstr>The Weather Graph</vt:lpstr>
      <vt:lpstr>Graphs in maths</vt:lpstr>
      <vt:lpstr>Graphs and convolutions</vt:lpstr>
      <vt:lpstr>Symmetry requirements</vt:lpstr>
      <vt:lpstr>The general GNN recipe</vt:lpstr>
      <vt:lpstr>GNN type 1: convolutional layers</vt:lpstr>
      <vt:lpstr>Types 2 and 3: attentional and message passing</vt:lpstr>
      <vt:lpstr>GNN layers</vt:lpstr>
      <vt:lpstr>What can you do with these models?</vt:lpstr>
      <vt:lpstr>Incorporating Edge Features</vt:lpstr>
      <vt:lpstr>Transformers are GNNs</vt:lpstr>
      <vt:lpstr>PowerPoint Presentation</vt:lpstr>
      <vt:lpstr>Case Study: River Flow on waterlevel.ie</vt:lpstr>
      <vt:lpstr>The Edge Feature Vector</vt:lpstr>
      <vt:lpstr>Practical Implementation &amp; Training</vt:lpstr>
      <vt:lpstr>Transitioning to Global Models</vt:lpstr>
      <vt:lpstr>The Encoder-Processor-Decoder</vt:lpstr>
      <vt:lpstr>Autoregressive Rollout</vt:lpstr>
      <vt:lpstr>Looking ahead</vt:lpstr>
      <vt:lpstr>Summary</vt:lpstr>
      <vt:lpstr>Relevant code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112</cp:revision>
  <dcterms:created xsi:type="dcterms:W3CDTF">2025-09-24T09:34:21Z</dcterms:created>
  <dcterms:modified xsi:type="dcterms:W3CDTF">2026-03-04T12:43:27Z</dcterms:modified>
</cp:coreProperties>
</file>