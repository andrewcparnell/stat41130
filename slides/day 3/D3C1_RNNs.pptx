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charts/chart1.xml" ContentType="application/vnd.openxmlformats-officedocument.drawingml.chart+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charts/chart2.xml" ContentType="application/vnd.openxmlformats-officedocument.drawingml.chart+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8"/>
  </p:notesMasterIdLst>
  <p:sldIdLst>
    <p:sldId id="256" r:id="rId2"/>
    <p:sldId id="257" r:id="rId3"/>
    <p:sldId id="323" r:id="rId4"/>
    <p:sldId id="324" r:id="rId5"/>
    <p:sldId id="325" r:id="rId6"/>
    <p:sldId id="333" r:id="rId7"/>
    <p:sldId id="336" r:id="rId8"/>
    <p:sldId id="335" r:id="rId9"/>
    <p:sldId id="347" r:id="rId10"/>
    <p:sldId id="344" r:id="rId11"/>
    <p:sldId id="263" r:id="rId12"/>
    <p:sldId id="326" r:id="rId13"/>
    <p:sldId id="328" r:id="rId14"/>
    <p:sldId id="345" r:id="rId15"/>
    <p:sldId id="346" r:id="rId16"/>
    <p:sldId id="332" r:id="rId17"/>
    <p:sldId id="334" r:id="rId18"/>
    <p:sldId id="337" r:id="rId19"/>
    <p:sldId id="338" r:id="rId20"/>
    <p:sldId id="339" r:id="rId21"/>
    <p:sldId id="340" r:id="rId22"/>
    <p:sldId id="341" r:id="rId23"/>
    <p:sldId id="342" r:id="rId24"/>
    <p:sldId id="343" r:id="rId25"/>
    <p:sldId id="348" r:id="rId26"/>
    <p:sldId id="285" r:id="rId2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9749"/>
    <a:srgbClr val="00427A"/>
    <a:srgbClr val="00959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6959"/>
    <p:restoredTop sz="94699"/>
  </p:normalViewPr>
  <p:slideViewPr>
    <p:cSldViewPr snapToGrid="0">
      <p:cViewPr varScale="1">
        <p:scale>
          <a:sx n="115" d="100"/>
          <a:sy n="115" d="100"/>
        </p:scale>
        <p:origin x="1216" y="18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viewProps" Target="viewProp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1"/>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lineChart>
        <c:grouping val="standard"/>
        <c:varyColors val="0"/>
        <c:ser>
          <c:idx val="0"/>
          <c:order val="0"/>
          <c:tx>
            <c:strRef>
              <c:f>Sheet1!$B$1</c:f>
              <c:strCache>
                <c:ptCount val="1"/>
                <c:pt idx="0">
                  <c:v>Gradient magnitude</c:v>
                </c:pt>
              </c:strCache>
            </c:strRef>
          </c:tx>
          <c:spPr>
            <a:ln w="25400" cap="flat">
              <a:solidFill>
                <a:srgbClr val="C0504D"/>
              </a:solidFill>
              <a:prstDash val="solid"/>
              <a:round/>
            </a:ln>
            <a:effectLst/>
          </c:spPr>
          <c:marker>
            <c:symbol val="circle"/>
            <c:size val="6"/>
            <c:spPr>
              <a:solidFill>
                <a:srgbClr val="C0504D"/>
              </a:solidFill>
              <a:ln w="9525" cap="flat">
                <a:solidFill>
                  <a:srgbClr val="C0504D"/>
                </a:solidFill>
                <a:prstDash val="solid"/>
                <a:round/>
              </a:ln>
              <a:effectLst/>
            </c:spPr>
          </c:marker>
          <c:cat>
            <c:strRef>
              <c:f>Sheet1!$A$2:$A$11</c:f>
              <c:strCache>
                <c:ptCount val="10"/>
                <c:pt idx="0">
                  <c:v>t1</c:v>
                </c:pt>
                <c:pt idx="1">
                  <c:v>t2</c:v>
                </c:pt>
                <c:pt idx="2">
                  <c:v>t3</c:v>
                </c:pt>
                <c:pt idx="3">
                  <c:v>t4</c:v>
                </c:pt>
                <c:pt idx="4">
                  <c:v>t5</c:v>
                </c:pt>
                <c:pt idx="5">
                  <c:v>t6</c:v>
                </c:pt>
                <c:pt idx="6">
                  <c:v>t7</c:v>
                </c:pt>
                <c:pt idx="7">
                  <c:v>t8</c:v>
                </c:pt>
                <c:pt idx="8">
                  <c:v>t9</c:v>
                </c:pt>
                <c:pt idx="9">
                  <c:v>t10</c:v>
                </c:pt>
              </c:strCache>
            </c:strRef>
          </c:cat>
          <c:val>
            <c:numRef>
              <c:f>Sheet1!$B$2:$B$11</c:f>
              <c:numCache>
                <c:formatCode>General</c:formatCode>
                <c:ptCount val="10"/>
                <c:pt idx="0">
                  <c:v>1</c:v>
                </c:pt>
                <c:pt idx="1">
                  <c:v>0.60653065971263342</c:v>
                </c:pt>
                <c:pt idx="2">
                  <c:v>0.36787944117144233</c:v>
                </c:pt>
                <c:pt idx="3">
                  <c:v>0.22313016014842982</c:v>
                </c:pt>
                <c:pt idx="4">
                  <c:v>0.1353352832366127</c:v>
                </c:pt>
                <c:pt idx="5">
                  <c:v>8.20849986238988E-2</c:v>
                </c:pt>
                <c:pt idx="6">
                  <c:v>4.9787068367863944E-2</c:v>
                </c:pt>
                <c:pt idx="7">
                  <c:v>3.0197383422318501E-2</c:v>
                </c:pt>
                <c:pt idx="8">
                  <c:v>1.8315638888734179E-2</c:v>
                </c:pt>
                <c:pt idx="9">
                  <c:v>1.1108996538242306E-2</c:v>
                </c:pt>
              </c:numCache>
            </c:numRef>
          </c:val>
          <c:smooth val="0"/>
          <c:extLst>
            <c:ext xmlns:c16="http://schemas.microsoft.com/office/drawing/2014/chart" uri="{C3380CC4-5D6E-409C-BE32-E72D297353CC}">
              <c16:uniqueId val="{00000000-4906-484E-A7CC-79EBEC86E5CB}"/>
            </c:ext>
          </c:extLst>
        </c:ser>
        <c:dLbls>
          <c:showLegendKey val="0"/>
          <c:showVal val="0"/>
          <c:showCatName val="0"/>
          <c:showSerName val="0"/>
          <c:showPercent val="0"/>
          <c:showBubbleSize val="0"/>
        </c:dLbls>
        <c:marker val="1"/>
        <c:smooth val="0"/>
        <c:axId val="2094734554"/>
        <c:axId val="2094734552"/>
      </c:lineChart>
      <c:catAx>
        <c:axId val="2094734554"/>
        <c:scaling>
          <c:orientation val="minMax"/>
        </c:scaling>
        <c:delete val="0"/>
        <c:axPos val="b"/>
        <c:title>
          <c:tx>
            <c:rich>
              <a:bodyPr/>
              <a:lstStyle/>
              <a:p>
                <a:pPr>
                  <a:defRPr b="0" i="0" u="none" strike="noStrike">
                    <a:solidFill>
                      <a:srgbClr val="000000"/>
                    </a:solidFill>
                    <a:latin typeface="Arial"/>
                  </a:defRPr>
                </a:pPr>
                <a:r>
                  <a:rPr lang="en-IE" b="0" i="0" u="none" strike="noStrike">
                    <a:solidFill>
                      <a:srgbClr val="000000"/>
                    </a:solidFill>
                    <a:latin typeface="Arial"/>
                  </a:rPr>
                  <a:t>Time step</a:t>
                </a:r>
              </a:p>
            </c:rich>
          </c:tx>
          <c:overlay val="0"/>
        </c:title>
        <c:numFmt formatCode="General" sourceLinked="1"/>
        <c:majorTickMark val="out"/>
        <c:minorTickMark val="none"/>
        <c:tickLblPos val="low"/>
        <c:spPr>
          <a:ln w="12700" cap="flat">
            <a:solidFill>
              <a:srgbClr val="888888"/>
            </a:solidFill>
            <a:prstDash val="solid"/>
            <a:round/>
          </a:ln>
        </c:spPr>
        <c:txPr>
          <a:bodyPr/>
          <a:lstStyle/>
          <a:p>
            <a:pPr>
              <a:defRPr sz="800" b="0" i="0" u="none" strike="noStrike">
                <a:solidFill>
                  <a:srgbClr val="000000"/>
                </a:solidFill>
                <a:latin typeface="Arial"/>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12700" cap="flat">
              <a:solidFill>
                <a:srgbClr val="888888"/>
              </a:solidFill>
              <a:prstDash val="solid"/>
              <a:round/>
            </a:ln>
          </c:spPr>
        </c:majorGridlines>
        <c:title>
          <c:tx>
            <c:rich>
              <a:bodyPr/>
              <a:lstStyle/>
              <a:p>
                <a:pPr>
                  <a:defRPr b="0" i="0" u="none" strike="noStrike">
                    <a:solidFill>
                      <a:srgbClr val="000000"/>
                    </a:solidFill>
                    <a:latin typeface="Arial"/>
                  </a:defRPr>
                </a:pPr>
                <a:r>
                  <a:rPr lang="en-IE" b="0" i="0" u="none" strike="noStrike">
                    <a:solidFill>
                      <a:srgbClr val="000000"/>
                    </a:solidFill>
                    <a:latin typeface="Arial"/>
                  </a:rPr>
                  <a:t>Gradient magnitude</a:t>
                </a:r>
              </a:p>
            </c:rich>
          </c:tx>
          <c:overlay val="0"/>
        </c:title>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showDLblsOverMax val="1"/>
  </c:chart>
  <c:spPr>
    <a:solidFill>
      <a:schemeClr val="bg1"/>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1"/>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lineChart>
        <c:grouping val="standard"/>
        <c:varyColors val="0"/>
        <c:ser>
          <c:idx val="0"/>
          <c:order val="0"/>
          <c:tx>
            <c:strRef>
              <c:f>Sheet1!$B$1</c:f>
              <c:strCache>
                <c:ptCount val="1"/>
                <c:pt idx="0">
                  <c:v>Actual temp</c:v>
                </c:pt>
              </c:strCache>
            </c:strRef>
          </c:tx>
          <c:spPr>
            <a:ln w="25400" cap="flat">
              <a:solidFill>
                <a:srgbClr val="C0504D"/>
              </a:solidFill>
              <a:prstDash val="solid"/>
              <a:round/>
            </a:ln>
            <a:effectLst/>
          </c:spPr>
          <c:marker>
            <c:symbol val="circle"/>
            <c:size val="6"/>
            <c:spPr>
              <a:solidFill>
                <a:srgbClr val="C0504D"/>
              </a:solidFill>
              <a:ln w="9525" cap="flat">
                <a:solidFill>
                  <a:srgbClr val="C0504D"/>
                </a:solidFill>
                <a:prstDash val="solid"/>
                <a:round/>
              </a:ln>
              <a:effectLst/>
            </c:spPr>
          </c:marker>
          <c:cat>
            <c:strRef>
              <c:f>Sheet1!$A$2:$A$21</c:f>
              <c:strCache>
                <c:ptCount val="20"/>
                <c:pt idx="0">
                  <c:v>D1</c:v>
                </c:pt>
                <c:pt idx="1">
                  <c:v>D2</c:v>
                </c:pt>
                <c:pt idx="2">
                  <c:v>D3</c:v>
                </c:pt>
                <c:pt idx="3">
                  <c:v>D4</c:v>
                </c:pt>
                <c:pt idx="4">
                  <c:v>D5</c:v>
                </c:pt>
                <c:pt idx="5">
                  <c:v>D6</c:v>
                </c:pt>
                <c:pt idx="6">
                  <c:v>D7</c:v>
                </c:pt>
                <c:pt idx="7">
                  <c:v>D8</c:v>
                </c:pt>
                <c:pt idx="8">
                  <c:v>D9</c:v>
                </c:pt>
                <c:pt idx="9">
                  <c:v>D10</c:v>
                </c:pt>
                <c:pt idx="10">
                  <c:v>D11</c:v>
                </c:pt>
                <c:pt idx="11">
                  <c:v>D12</c:v>
                </c:pt>
                <c:pt idx="12">
                  <c:v>D13</c:v>
                </c:pt>
                <c:pt idx="13">
                  <c:v>D14</c:v>
                </c:pt>
                <c:pt idx="14">
                  <c:v>D15</c:v>
                </c:pt>
                <c:pt idx="15">
                  <c:v>D16</c:v>
                </c:pt>
                <c:pt idx="16">
                  <c:v>D17</c:v>
                </c:pt>
                <c:pt idx="17">
                  <c:v>D18</c:v>
                </c:pt>
                <c:pt idx="18">
                  <c:v>D19</c:v>
                </c:pt>
                <c:pt idx="19">
                  <c:v>D20</c:v>
                </c:pt>
              </c:strCache>
            </c:strRef>
          </c:cat>
          <c:val>
            <c:numRef>
              <c:f>Sheet1!$B$2:$B$21</c:f>
              <c:numCache>
                <c:formatCode>General</c:formatCode>
                <c:ptCount val="20"/>
                <c:pt idx="0">
                  <c:v>20.88</c:v>
                </c:pt>
                <c:pt idx="1">
                  <c:v>20.46</c:v>
                </c:pt>
                <c:pt idx="2">
                  <c:v>21.02</c:v>
                </c:pt>
                <c:pt idx="3">
                  <c:v>21.91</c:v>
                </c:pt>
                <c:pt idx="4">
                  <c:v>21.99</c:v>
                </c:pt>
                <c:pt idx="5">
                  <c:v>20.83</c:v>
                </c:pt>
                <c:pt idx="6">
                  <c:v>22.05</c:v>
                </c:pt>
                <c:pt idx="7">
                  <c:v>21.77</c:v>
                </c:pt>
                <c:pt idx="8">
                  <c:v>22.05</c:v>
                </c:pt>
                <c:pt idx="9">
                  <c:v>22.57</c:v>
                </c:pt>
                <c:pt idx="10">
                  <c:v>22.7</c:v>
                </c:pt>
                <c:pt idx="11">
                  <c:v>23.62</c:v>
                </c:pt>
                <c:pt idx="12">
                  <c:v>23.54</c:v>
                </c:pt>
                <c:pt idx="13">
                  <c:v>23.48</c:v>
                </c:pt>
                <c:pt idx="14">
                  <c:v>23.91</c:v>
                </c:pt>
                <c:pt idx="15">
                  <c:v>24.11</c:v>
                </c:pt>
                <c:pt idx="16">
                  <c:v>24.96</c:v>
                </c:pt>
                <c:pt idx="17">
                  <c:v>24.37</c:v>
                </c:pt>
                <c:pt idx="18">
                  <c:v>24.89</c:v>
                </c:pt>
                <c:pt idx="19">
                  <c:v>24.57</c:v>
                </c:pt>
              </c:numCache>
            </c:numRef>
          </c:val>
          <c:smooth val="0"/>
          <c:extLst>
            <c:ext xmlns:c16="http://schemas.microsoft.com/office/drawing/2014/chart" uri="{C3380CC4-5D6E-409C-BE32-E72D297353CC}">
              <c16:uniqueId val="{00000000-9A30-B440-A247-F9FC672FF2DA}"/>
            </c:ext>
          </c:extLst>
        </c:ser>
        <c:ser>
          <c:idx val="1"/>
          <c:order val="1"/>
          <c:tx>
            <c:strRef>
              <c:f>Sheet1!$C$1</c:f>
              <c:strCache>
                <c:ptCount val="1"/>
                <c:pt idx="0">
                  <c:v>Predicted temp</c:v>
                </c:pt>
              </c:strCache>
            </c:strRef>
          </c:tx>
          <c:spPr>
            <a:ln w="25400" cap="flat">
              <a:solidFill>
                <a:srgbClr val="4F81BD"/>
              </a:solidFill>
              <a:prstDash val="solid"/>
              <a:round/>
            </a:ln>
            <a:effectLst/>
          </c:spPr>
          <c:marker>
            <c:symbol val="circle"/>
            <c:size val="6"/>
            <c:spPr>
              <a:solidFill>
                <a:srgbClr val="4F81BD"/>
              </a:solidFill>
              <a:ln w="9525" cap="flat">
                <a:solidFill>
                  <a:srgbClr val="4F81BD"/>
                </a:solidFill>
                <a:prstDash val="solid"/>
                <a:round/>
              </a:ln>
              <a:effectLst/>
            </c:spPr>
          </c:marker>
          <c:cat>
            <c:strRef>
              <c:f>Sheet1!$A$2:$A$21</c:f>
              <c:strCache>
                <c:ptCount val="20"/>
                <c:pt idx="0">
                  <c:v>D1</c:v>
                </c:pt>
                <c:pt idx="1">
                  <c:v>D2</c:v>
                </c:pt>
                <c:pt idx="2">
                  <c:v>D3</c:v>
                </c:pt>
                <c:pt idx="3">
                  <c:v>D4</c:v>
                </c:pt>
                <c:pt idx="4">
                  <c:v>D5</c:v>
                </c:pt>
                <c:pt idx="5">
                  <c:v>D6</c:v>
                </c:pt>
                <c:pt idx="6">
                  <c:v>D7</c:v>
                </c:pt>
                <c:pt idx="7">
                  <c:v>D8</c:v>
                </c:pt>
                <c:pt idx="8">
                  <c:v>D9</c:v>
                </c:pt>
                <c:pt idx="9">
                  <c:v>D10</c:v>
                </c:pt>
                <c:pt idx="10">
                  <c:v>D11</c:v>
                </c:pt>
                <c:pt idx="11">
                  <c:v>D12</c:v>
                </c:pt>
                <c:pt idx="12">
                  <c:v>D13</c:v>
                </c:pt>
                <c:pt idx="13">
                  <c:v>D14</c:v>
                </c:pt>
                <c:pt idx="14">
                  <c:v>D15</c:v>
                </c:pt>
                <c:pt idx="15">
                  <c:v>D16</c:v>
                </c:pt>
                <c:pt idx="16">
                  <c:v>D17</c:v>
                </c:pt>
                <c:pt idx="17">
                  <c:v>D18</c:v>
                </c:pt>
                <c:pt idx="18">
                  <c:v>D19</c:v>
                </c:pt>
                <c:pt idx="19">
                  <c:v>D20</c:v>
                </c:pt>
              </c:strCache>
            </c:strRef>
          </c:cat>
          <c:val>
            <c:numRef>
              <c:f>Sheet1!$C$2:$C$21</c:f>
              <c:numCache>
                <c:formatCode>General</c:formatCode>
                <c:ptCount val="20"/>
                <c:pt idx="0">
                  <c:v>20.21</c:v>
                </c:pt>
                <c:pt idx="1">
                  <c:v>20.100000000000001</c:v>
                </c:pt>
                <c:pt idx="2">
                  <c:v>20.2</c:v>
                </c:pt>
                <c:pt idx="3">
                  <c:v>20.18</c:v>
                </c:pt>
                <c:pt idx="4">
                  <c:v>22.16</c:v>
                </c:pt>
                <c:pt idx="5">
                  <c:v>20.43</c:v>
                </c:pt>
                <c:pt idx="6">
                  <c:v>20.420000000000002</c:v>
                </c:pt>
                <c:pt idx="7">
                  <c:v>22.23</c:v>
                </c:pt>
                <c:pt idx="8">
                  <c:v>21.15</c:v>
                </c:pt>
                <c:pt idx="9">
                  <c:v>22.63</c:v>
                </c:pt>
                <c:pt idx="10">
                  <c:v>23.43</c:v>
                </c:pt>
                <c:pt idx="11">
                  <c:v>23.75</c:v>
                </c:pt>
                <c:pt idx="12">
                  <c:v>24.68</c:v>
                </c:pt>
                <c:pt idx="13">
                  <c:v>22.25</c:v>
                </c:pt>
                <c:pt idx="14">
                  <c:v>24.31</c:v>
                </c:pt>
                <c:pt idx="15">
                  <c:v>23.43</c:v>
                </c:pt>
                <c:pt idx="16">
                  <c:v>24.09</c:v>
                </c:pt>
                <c:pt idx="17">
                  <c:v>23.79</c:v>
                </c:pt>
                <c:pt idx="18">
                  <c:v>24.58</c:v>
                </c:pt>
                <c:pt idx="19">
                  <c:v>24.63</c:v>
                </c:pt>
              </c:numCache>
            </c:numRef>
          </c:val>
          <c:smooth val="0"/>
          <c:extLst>
            <c:ext xmlns:c16="http://schemas.microsoft.com/office/drawing/2014/chart" uri="{C3380CC4-5D6E-409C-BE32-E72D297353CC}">
              <c16:uniqueId val="{00000001-9A30-B440-A247-F9FC672FF2DA}"/>
            </c:ext>
          </c:extLst>
        </c:ser>
        <c:dLbls>
          <c:showLegendKey val="0"/>
          <c:showVal val="0"/>
          <c:showCatName val="0"/>
          <c:showSerName val="0"/>
          <c:showPercent val="0"/>
          <c:showBubbleSize val="0"/>
        </c:dLbls>
        <c:marker val="1"/>
        <c:smooth val="0"/>
        <c:axId val="2094734554"/>
        <c:axId val="2094734552"/>
      </c:lineChart>
      <c:catAx>
        <c:axId val="2094734554"/>
        <c:scaling>
          <c:orientation val="minMax"/>
        </c:scaling>
        <c:delete val="0"/>
        <c:axPos val="b"/>
        <c:title>
          <c:tx>
            <c:rich>
              <a:bodyPr/>
              <a:lstStyle/>
              <a:p>
                <a:pPr>
                  <a:defRPr b="0" i="0" u="none" strike="noStrike">
                    <a:solidFill>
                      <a:srgbClr val="000000"/>
                    </a:solidFill>
                    <a:latin typeface="Arial"/>
                  </a:defRPr>
                </a:pPr>
                <a:r>
                  <a:rPr lang="en-IE" b="0" i="0" u="none" strike="noStrike">
                    <a:solidFill>
                      <a:srgbClr val="000000"/>
                    </a:solidFill>
                    <a:latin typeface="Arial"/>
                  </a:rPr>
                  <a:t>Day</a:t>
                </a:r>
              </a:p>
            </c:rich>
          </c:tx>
          <c:overlay val="0"/>
        </c:title>
        <c:numFmt formatCode="General" sourceLinked="1"/>
        <c:majorTickMark val="out"/>
        <c:minorTickMark val="none"/>
        <c:tickLblPos val="low"/>
        <c:spPr>
          <a:ln w="12700" cap="flat">
            <a:solidFill>
              <a:srgbClr val="888888"/>
            </a:solidFill>
            <a:prstDash val="solid"/>
            <a:round/>
          </a:ln>
        </c:spPr>
        <c:txPr>
          <a:bodyPr/>
          <a:lstStyle/>
          <a:p>
            <a:pPr>
              <a:defRPr sz="800" b="0" i="0" u="none" strike="noStrike">
                <a:solidFill>
                  <a:srgbClr val="000000"/>
                </a:solidFill>
                <a:latin typeface="Arial"/>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12700" cap="flat">
              <a:solidFill>
                <a:srgbClr val="888888"/>
              </a:solidFill>
              <a:prstDash val="solid"/>
              <a:round/>
            </a:ln>
          </c:spPr>
        </c:majorGridlines>
        <c:title>
          <c:tx>
            <c:rich>
              <a:bodyPr/>
              <a:lstStyle/>
              <a:p>
                <a:pPr>
                  <a:defRPr b="0" i="0" u="none" strike="noStrike">
                    <a:solidFill>
                      <a:srgbClr val="000000"/>
                    </a:solidFill>
                    <a:latin typeface="Arial"/>
                  </a:defRPr>
                </a:pPr>
                <a:r>
                  <a:rPr lang="en-IE" b="0" i="0" u="none" strike="noStrike">
                    <a:solidFill>
                      <a:srgbClr val="000000"/>
                    </a:solidFill>
                    <a:latin typeface="Arial"/>
                  </a:rPr>
                  <a:t>Temperature (°C)</a:t>
                </a:r>
              </a:p>
            </c:rich>
          </c:tx>
          <c:overlay val="0"/>
        </c:title>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legend>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F5685EE-3D40-0A4E-BB88-46887330FC0A}" type="datetimeFigureOut">
              <a:rPr lang="en-US" smtClean="0"/>
              <a:t>2/25/26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0752F2A-FA59-1746-ABA5-28C394E5ED08}" type="slidenum">
              <a:rPr lang="en-US" smtClean="0"/>
              <a:t>‹#›</a:t>
            </a:fld>
            <a:endParaRPr lang="en-US"/>
          </a:p>
        </p:txBody>
      </p:sp>
    </p:spTree>
    <p:extLst>
      <p:ext uri="{BB962C8B-B14F-4D97-AF65-F5344CB8AC3E}">
        <p14:creationId xmlns:p14="http://schemas.microsoft.com/office/powerpoint/2010/main" val="18282555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Re-create this picture to match my notation</a:t>
            </a:r>
          </a:p>
        </p:txBody>
      </p:sp>
      <p:sp>
        <p:nvSpPr>
          <p:cNvPr id="4" name="Slide Number Placeholder 3"/>
          <p:cNvSpPr>
            <a:spLocks noGrp="1"/>
          </p:cNvSpPr>
          <p:nvPr>
            <p:ph type="sldNum" sz="quarter" idx="5"/>
          </p:nvPr>
        </p:nvSpPr>
        <p:spPr/>
        <p:txBody>
          <a:bodyPr/>
          <a:lstStyle/>
          <a:p>
            <a:fld id="{30752F2A-FA59-1746-ABA5-28C394E5ED08}" type="slidenum">
              <a:rPr lang="en-US" smtClean="0"/>
              <a:t>4</a:t>
            </a:fld>
            <a:endParaRPr lang="en-US"/>
          </a:p>
        </p:txBody>
      </p:sp>
    </p:spTree>
    <p:extLst>
      <p:ext uri="{BB962C8B-B14F-4D97-AF65-F5344CB8AC3E}">
        <p14:creationId xmlns:p14="http://schemas.microsoft.com/office/powerpoint/2010/main" val="372499399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Do not modify the notes in this section to avoid tampering with the Poll Everywhere activity.
More info at polleverywhere.com/support
Which of the following properties allows a standard Recurrent Neural Network to handle input sequences of varying lengths while keeping the number of trainable parameters constant?</a:t>
            </a:r>
          </a:p>
          <a:p>
            <a:r>
              <a:rPr lang="en-US"/>
              <a:t>https://www.polleverywhere.com/multiple_choice_polls/SlUK7xUZGy47LKoc5TzCU?state=opened&amp;flow=Default&amp;onscreen=persist</a:t>
            </a:r>
          </a:p>
        </p:txBody>
      </p:sp>
      <p:sp>
        <p:nvSpPr>
          <p:cNvPr id="4" name="Slide Number Placeholder 3"/>
          <p:cNvSpPr>
            <a:spLocks noGrp="1"/>
          </p:cNvSpPr>
          <p:nvPr>
            <p:ph type="sldNum" sz="quarter" idx="5"/>
          </p:nvPr>
        </p:nvSpPr>
        <p:spPr/>
        <p:txBody>
          <a:bodyPr/>
          <a:lstStyle/>
          <a:p>
            <a:fld id="{30752F2A-FA59-1746-ABA5-28C394E5ED08}" type="slidenum">
              <a:rPr lang="en-US" smtClean="0"/>
              <a:t>9</a:t>
            </a:fld>
            <a:endParaRPr lang="en-US"/>
          </a:p>
        </p:txBody>
      </p:sp>
    </p:spTree>
    <p:extLst>
      <p:ext uri="{BB962C8B-B14F-4D97-AF65-F5344CB8AC3E}">
        <p14:creationId xmlns:p14="http://schemas.microsoft.com/office/powerpoint/2010/main" val="127643350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30752F2A-FA59-1746-ABA5-28C394E5ED08}" type="slidenum">
              <a:rPr lang="en-US" smtClean="0"/>
              <a:t>19</a:t>
            </a:fld>
            <a:endParaRPr lang="en-US"/>
          </a:p>
        </p:txBody>
      </p:sp>
    </p:spTree>
    <p:extLst>
      <p:ext uri="{BB962C8B-B14F-4D97-AF65-F5344CB8AC3E}">
        <p14:creationId xmlns:p14="http://schemas.microsoft.com/office/powerpoint/2010/main" val="73527457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Do not modify the notes in this section to avoid tampering with the Poll Everywhere activity.
More info at polleverywhere.com/support
The LSTM cell state update is governed by the equation $$c_t = f_t c_{t-1} + i_t \tilde{c}_t$$. What is the primary mathematical role of the input gate ($$i_t$$) in this calculation?</a:t>
            </a:r>
          </a:p>
          <a:p>
            <a:r>
              <a:rPr lang="en-US"/>
              <a:t>https://www.polleverywhere.com/multiple_choice_polls/RvcVhsLYmkHmKcquKPsgk?state=opened&amp;flow=Default&amp;onscreen=persist</a:t>
            </a:r>
          </a:p>
        </p:txBody>
      </p:sp>
      <p:sp>
        <p:nvSpPr>
          <p:cNvPr id="4" name="Slide Number Placeholder 3"/>
          <p:cNvSpPr>
            <a:spLocks noGrp="1"/>
          </p:cNvSpPr>
          <p:nvPr>
            <p:ph type="sldNum" sz="quarter" idx="5"/>
          </p:nvPr>
        </p:nvSpPr>
        <p:spPr/>
        <p:txBody>
          <a:bodyPr/>
          <a:lstStyle/>
          <a:p>
            <a:fld id="{30752F2A-FA59-1746-ABA5-28C394E5ED08}" type="slidenum">
              <a:rPr lang="en-US" smtClean="0"/>
              <a:t>25</a:t>
            </a:fld>
            <a:endParaRPr lang="en-US"/>
          </a:p>
        </p:txBody>
      </p:sp>
    </p:spTree>
    <p:extLst>
      <p:ext uri="{BB962C8B-B14F-4D97-AF65-F5344CB8AC3E}">
        <p14:creationId xmlns:p14="http://schemas.microsoft.com/office/powerpoint/2010/main" val="3815800444"/>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6.jp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image" Target="../media/image2.jpg"/><Relationship Id="rId1" Type="http://schemas.openxmlformats.org/officeDocument/2006/relationships/slideMaster" Target="../slideMasters/slideMaster1.xml"/><Relationship Id="rId4" Type="http://schemas.openxmlformats.org/officeDocument/2006/relationships/image" Target="../media/image8.png"/></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9.jpeg"/><Relationship Id="rId2" Type="http://schemas.openxmlformats.org/officeDocument/2006/relationships/image" Target="../media/image2.jpg"/><Relationship Id="rId1" Type="http://schemas.openxmlformats.org/officeDocument/2006/relationships/slideMaster" Target="../slideMasters/slideMaster1.xml"/><Relationship Id="rId4" Type="http://schemas.openxmlformats.org/officeDocument/2006/relationships/image" Target="../media/image10.png"/></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image" Target="../media/image2.jpg"/><Relationship Id="rId1" Type="http://schemas.openxmlformats.org/officeDocument/2006/relationships/slideMaster" Target="../slideMasters/slideMaster1.xml"/><Relationship Id="rId4" Type="http://schemas.openxmlformats.org/officeDocument/2006/relationships/image" Target="../media/image12.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Colour">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463CE9-5A18-2F6D-2BDB-54024EE575D4}"/>
              </a:ext>
            </a:extLst>
          </p:cNvPr>
          <p:cNvSpPr>
            <a:spLocks noGrp="1"/>
          </p:cNvSpPr>
          <p:nvPr>
            <p:ph type="ctrTitle" hasCustomPrompt="1"/>
          </p:nvPr>
        </p:nvSpPr>
        <p:spPr>
          <a:xfrm>
            <a:off x="775570" y="4184850"/>
            <a:ext cx="9144000" cy="816192"/>
          </a:xfrm>
        </p:spPr>
        <p:txBody>
          <a:bodyPr anchor="b">
            <a:normAutofit/>
          </a:bodyPr>
          <a:lstStyle>
            <a:lvl1pPr algn="l">
              <a:defRPr sz="4500">
                <a:solidFill>
                  <a:schemeClr val="bg1"/>
                </a:solidFill>
              </a:defRPr>
            </a:lvl1pPr>
          </a:lstStyle>
          <a:p>
            <a:r>
              <a:rPr lang="en-GB" dirty="0"/>
              <a:t>Presentation title</a:t>
            </a:r>
            <a:endParaRPr lang="en-US" dirty="0"/>
          </a:p>
        </p:txBody>
      </p:sp>
      <p:sp>
        <p:nvSpPr>
          <p:cNvPr id="10" name="Date Placeholder 1">
            <a:extLst>
              <a:ext uri="{FF2B5EF4-FFF2-40B4-BE49-F238E27FC236}">
                <a16:creationId xmlns:a16="http://schemas.microsoft.com/office/drawing/2014/main" id="{C19BF7E5-ED45-E4D7-8DD2-E8A3757D1FA3}"/>
              </a:ext>
            </a:extLst>
          </p:cNvPr>
          <p:cNvSpPr>
            <a:spLocks noGrp="1"/>
          </p:cNvSpPr>
          <p:nvPr>
            <p:ph type="dt" sz="half" idx="10"/>
          </p:nvPr>
        </p:nvSpPr>
        <p:spPr>
          <a:xfrm>
            <a:off x="775570" y="5901563"/>
            <a:ext cx="4077660" cy="365125"/>
          </a:xfrm>
          <a:prstGeom prst="rect">
            <a:avLst/>
          </a:prstGeom>
        </p:spPr>
        <p:txBody>
          <a:bodyPr/>
          <a:lstStyle>
            <a:lvl1pPr>
              <a:defRPr sz="2000">
                <a:solidFill>
                  <a:schemeClr val="bg1"/>
                </a:solidFill>
                <a:latin typeface="Calibri" panose="020F0502020204030204" pitchFamily="34" charset="0"/>
                <a:cs typeface="Calibri" panose="020F0502020204030204" pitchFamily="34" charset="0"/>
              </a:defRPr>
            </a:lvl1pPr>
          </a:lstStyle>
          <a:p>
            <a:fld id="{16F2FB5F-D553-C945-B874-A642CC0C851F}" type="datetime3">
              <a:rPr lang="en-IE" smtClean="0"/>
              <a:pPr/>
              <a:t>25 February 2026</a:t>
            </a:fld>
            <a:endParaRPr lang="en-US" dirty="0"/>
          </a:p>
        </p:txBody>
      </p:sp>
      <p:pic>
        <p:nvPicPr>
          <p:cNvPr id="4" name="Picture 3">
            <a:extLst>
              <a:ext uri="{FF2B5EF4-FFF2-40B4-BE49-F238E27FC236}">
                <a16:creationId xmlns:a16="http://schemas.microsoft.com/office/drawing/2014/main" id="{9A48403D-CA02-EE11-96CC-8E09913F647B}"/>
              </a:ext>
            </a:extLst>
          </p:cNvPr>
          <p:cNvPicPr>
            <a:picLocks noChangeAspect="1"/>
          </p:cNvPicPr>
          <p:nvPr userDrawn="1"/>
        </p:nvPicPr>
        <p:blipFill>
          <a:blip r:embed="rId3"/>
          <a:stretch>
            <a:fillRect/>
          </a:stretch>
        </p:blipFill>
        <p:spPr>
          <a:xfrm>
            <a:off x="775570" y="662410"/>
            <a:ext cx="4921049" cy="3023526"/>
          </a:xfrm>
          <a:prstGeom prst="rect">
            <a:avLst/>
          </a:prstGeom>
        </p:spPr>
      </p:pic>
      <p:sp>
        <p:nvSpPr>
          <p:cNvPr id="6" name="Title 1">
            <a:extLst>
              <a:ext uri="{FF2B5EF4-FFF2-40B4-BE49-F238E27FC236}">
                <a16:creationId xmlns:a16="http://schemas.microsoft.com/office/drawing/2014/main" id="{ACDEDBC2-BC30-A9CA-49BA-CCA6F9CEB8A7}"/>
              </a:ext>
            </a:extLst>
          </p:cNvPr>
          <p:cNvSpPr txBox="1">
            <a:spLocks/>
          </p:cNvSpPr>
          <p:nvPr userDrawn="1"/>
        </p:nvSpPr>
        <p:spPr>
          <a:xfrm>
            <a:off x="775570" y="4975355"/>
            <a:ext cx="9144000" cy="816192"/>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500" b="1" kern="1200">
                <a:solidFill>
                  <a:srgbClr val="00959F"/>
                </a:solidFill>
                <a:latin typeface="Calibri" panose="020F0502020204030204" pitchFamily="34" charset="0"/>
                <a:ea typeface="+mj-ea"/>
                <a:cs typeface="Calibri" panose="020F0502020204030204" pitchFamily="34" charset="0"/>
              </a:defRPr>
            </a:lvl1pPr>
          </a:lstStyle>
          <a:p>
            <a:r>
              <a:rPr lang="en-GB" sz="3500" b="0" dirty="0">
                <a:solidFill>
                  <a:schemeClr val="bg1"/>
                </a:solidFill>
              </a:rPr>
              <a:t>Andrew Parnell</a:t>
            </a:r>
            <a:endParaRPr lang="en-US" sz="3200" b="0" dirty="0">
              <a:solidFill>
                <a:schemeClr val="bg1"/>
              </a:solidFill>
            </a:endParaRPr>
          </a:p>
        </p:txBody>
      </p:sp>
    </p:spTree>
    <p:extLst>
      <p:ext uri="{BB962C8B-B14F-4D97-AF65-F5344CB8AC3E}">
        <p14:creationId xmlns:p14="http://schemas.microsoft.com/office/powerpoint/2010/main" val="295498784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463CE9-5A18-2F6D-2BDB-54024EE575D4}"/>
              </a:ext>
            </a:extLst>
          </p:cNvPr>
          <p:cNvSpPr>
            <a:spLocks noGrp="1"/>
          </p:cNvSpPr>
          <p:nvPr>
            <p:ph type="ctrTitle" hasCustomPrompt="1"/>
          </p:nvPr>
        </p:nvSpPr>
        <p:spPr>
          <a:xfrm>
            <a:off x="775570" y="4184850"/>
            <a:ext cx="9144000" cy="816192"/>
          </a:xfrm>
        </p:spPr>
        <p:txBody>
          <a:bodyPr anchor="b">
            <a:normAutofit/>
          </a:bodyPr>
          <a:lstStyle>
            <a:lvl1pPr algn="l">
              <a:defRPr sz="4500">
                <a:solidFill>
                  <a:schemeClr val="bg1"/>
                </a:solidFill>
              </a:defRPr>
            </a:lvl1pPr>
          </a:lstStyle>
          <a:p>
            <a:r>
              <a:rPr lang="en-GB" dirty="0"/>
              <a:t>Presentation title</a:t>
            </a:r>
            <a:endParaRPr lang="en-US" dirty="0"/>
          </a:p>
        </p:txBody>
      </p:sp>
      <p:pic>
        <p:nvPicPr>
          <p:cNvPr id="7" name="Picture 6">
            <a:extLst>
              <a:ext uri="{FF2B5EF4-FFF2-40B4-BE49-F238E27FC236}">
                <a16:creationId xmlns:a16="http://schemas.microsoft.com/office/drawing/2014/main" id="{8C95EAAC-03A2-8D88-C693-5373EC4D999E}"/>
              </a:ext>
            </a:extLst>
          </p:cNvPr>
          <p:cNvPicPr>
            <a:picLocks noChangeAspect="1"/>
          </p:cNvPicPr>
          <p:nvPr userDrawn="1"/>
        </p:nvPicPr>
        <p:blipFill>
          <a:blip r:embed="rId3"/>
          <a:stretch>
            <a:fillRect/>
          </a:stretch>
        </p:blipFill>
        <p:spPr>
          <a:xfrm>
            <a:off x="775570" y="661140"/>
            <a:ext cx="4921049" cy="3023526"/>
          </a:xfrm>
          <a:prstGeom prst="rect">
            <a:avLst/>
          </a:prstGeom>
        </p:spPr>
      </p:pic>
      <p:sp>
        <p:nvSpPr>
          <p:cNvPr id="10" name="Date Placeholder 1">
            <a:extLst>
              <a:ext uri="{FF2B5EF4-FFF2-40B4-BE49-F238E27FC236}">
                <a16:creationId xmlns:a16="http://schemas.microsoft.com/office/drawing/2014/main" id="{C19BF7E5-ED45-E4D7-8DD2-E8A3757D1FA3}"/>
              </a:ext>
            </a:extLst>
          </p:cNvPr>
          <p:cNvSpPr>
            <a:spLocks noGrp="1"/>
          </p:cNvSpPr>
          <p:nvPr>
            <p:ph type="dt" sz="half" idx="10"/>
          </p:nvPr>
        </p:nvSpPr>
        <p:spPr>
          <a:xfrm>
            <a:off x="775570" y="5901563"/>
            <a:ext cx="4077660" cy="365125"/>
          </a:xfrm>
          <a:prstGeom prst="rect">
            <a:avLst/>
          </a:prstGeom>
        </p:spPr>
        <p:txBody>
          <a:bodyPr/>
          <a:lstStyle>
            <a:lvl1pPr>
              <a:defRPr sz="2000">
                <a:solidFill>
                  <a:schemeClr val="bg1"/>
                </a:solidFill>
                <a:latin typeface="Calibri" panose="020F0502020204030204" pitchFamily="34" charset="0"/>
                <a:cs typeface="Calibri" panose="020F0502020204030204" pitchFamily="34" charset="0"/>
              </a:defRPr>
            </a:lvl1pPr>
          </a:lstStyle>
          <a:p>
            <a:fld id="{16F2FB5F-D553-C945-B874-A642CC0C851F}" type="datetime3">
              <a:rPr lang="en-IE" smtClean="0"/>
              <a:pPr/>
              <a:t>25 February 2026</a:t>
            </a:fld>
            <a:endParaRPr lang="en-US" dirty="0"/>
          </a:p>
        </p:txBody>
      </p:sp>
      <p:sp>
        <p:nvSpPr>
          <p:cNvPr id="4" name="Title 1">
            <a:extLst>
              <a:ext uri="{FF2B5EF4-FFF2-40B4-BE49-F238E27FC236}">
                <a16:creationId xmlns:a16="http://schemas.microsoft.com/office/drawing/2014/main" id="{01BF4638-05BC-68BF-F886-C5874806A86A}"/>
              </a:ext>
            </a:extLst>
          </p:cNvPr>
          <p:cNvSpPr txBox="1">
            <a:spLocks/>
          </p:cNvSpPr>
          <p:nvPr userDrawn="1"/>
        </p:nvSpPr>
        <p:spPr>
          <a:xfrm>
            <a:off x="775570" y="4975355"/>
            <a:ext cx="9144000" cy="816192"/>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500" b="1" kern="1200">
                <a:solidFill>
                  <a:srgbClr val="00959F"/>
                </a:solidFill>
                <a:latin typeface="Calibri" panose="020F0502020204030204" pitchFamily="34" charset="0"/>
                <a:ea typeface="+mj-ea"/>
                <a:cs typeface="Calibri" panose="020F0502020204030204" pitchFamily="34" charset="0"/>
              </a:defRPr>
            </a:lvl1pPr>
          </a:lstStyle>
          <a:p>
            <a:r>
              <a:rPr lang="en-GB" sz="3500" b="0" dirty="0">
                <a:solidFill>
                  <a:schemeClr val="bg1"/>
                </a:solidFill>
              </a:rPr>
              <a:t>Presentation</a:t>
            </a:r>
            <a:r>
              <a:rPr lang="en-GB" sz="3200" b="0" dirty="0">
                <a:solidFill>
                  <a:schemeClr val="bg1"/>
                </a:solidFill>
              </a:rPr>
              <a:t> subtitle</a:t>
            </a:r>
            <a:endParaRPr lang="en-US" sz="3200" b="0" dirty="0">
              <a:solidFill>
                <a:schemeClr val="bg1"/>
              </a:solidFill>
            </a:endParaRPr>
          </a:p>
        </p:txBody>
      </p:sp>
    </p:spTree>
    <p:extLst>
      <p:ext uri="{BB962C8B-B14F-4D97-AF65-F5344CB8AC3E}">
        <p14:creationId xmlns:p14="http://schemas.microsoft.com/office/powerpoint/2010/main" val="415283955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Slide Ligh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89FE3EDE-25F4-E49F-B1D6-86A03CE1B128}"/>
              </a:ext>
            </a:extLst>
          </p:cNvPr>
          <p:cNvSpPr txBox="1">
            <a:spLocks/>
          </p:cNvSpPr>
          <p:nvPr userDrawn="1"/>
        </p:nvSpPr>
        <p:spPr>
          <a:xfrm>
            <a:off x="775570" y="4975355"/>
            <a:ext cx="9144000" cy="816192"/>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500" b="1" kern="1200">
                <a:solidFill>
                  <a:srgbClr val="00959F"/>
                </a:solidFill>
                <a:latin typeface="Calibri" panose="020F0502020204030204" pitchFamily="34" charset="0"/>
                <a:ea typeface="+mj-ea"/>
                <a:cs typeface="Calibri" panose="020F0502020204030204" pitchFamily="34" charset="0"/>
              </a:defRPr>
            </a:lvl1pPr>
          </a:lstStyle>
          <a:p>
            <a:r>
              <a:rPr lang="en-GB" sz="3500" b="0" dirty="0">
                <a:solidFill>
                  <a:srgbClr val="00427A"/>
                </a:solidFill>
              </a:rPr>
              <a:t>Presentation</a:t>
            </a:r>
            <a:r>
              <a:rPr lang="en-GB" sz="3200" b="0" dirty="0">
                <a:solidFill>
                  <a:srgbClr val="00427A"/>
                </a:solidFill>
              </a:rPr>
              <a:t> subtitle</a:t>
            </a:r>
            <a:endParaRPr lang="en-US" sz="3200" b="0" dirty="0">
              <a:solidFill>
                <a:srgbClr val="00427A"/>
              </a:solidFill>
            </a:endParaRPr>
          </a:p>
        </p:txBody>
      </p:sp>
      <p:sp>
        <p:nvSpPr>
          <p:cNvPr id="2" name="Title 1">
            <a:extLst>
              <a:ext uri="{FF2B5EF4-FFF2-40B4-BE49-F238E27FC236}">
                <a16:creationId xmlns:a16="http://schemas.microsoft.com/office/drawing/2014/main" id="{47463CE9-5A18-2F6D-2BDB-54024EE575D4}"/>
              </a:ext>
            </a:extLst>
          </p:cNvPr>
          <p:cNvSpPr>
            <a:spLocks noGrp="1"/>
          </p:cNvSpPr>
          <p:nvPr>
            <p:ph type="ctrTitle" hasCustomPrompt="1"/>
          </p:nvPr>
        </p:nvSpPr>
        <p:spPr>
          <a:xfrm>
            <a:off x="775570" y="4184850"/>
            <a:ext cx="9144000" cy="816192"/>
          </a:xfrm>
        </p:spPr>
        <p:txBody>
          <a:bodyPr anchor="b">
            <a:normAutofit/>
          </a:bodyPr>
          <a:lstStyle>
            <a:lvl1pPr algn="l">
              <a:defRPr sz="4500">
                <a:solidFill>
                  <a:srgbClr val="00959F"/>
                </a:solidFill>
              </a:defRPr>
            </a:lvl1pPr>
          </a:lstStyle>
          <a:p>
            <a:r>
              <a:rPr lang="en-GB" dirty="0"/>
              <a:t>Presentation title</a:t>
            </a:r>
            <a:endParaRPr lang="en-US" dirty="0"/>
          </a:p>
        </p:txBody>
      </p:sp>
      <p:sp>
        <p:nvSpPr>
          <p:cNvPr id="10" name="Date Placeholder 1">
            <a:extLst>
              <a:ext uri="{FF2B5EF4-FFF2-40B4-BE49-F238E27FC236}">
                <a16:creationId xmlns:a16="http://schemas.microsoft.com/office/drawing/2014/main" id="{C19BF7E5-ED45-E4D7-8DD2-E8A3757D1FA3}"/>
              </a:ext>
            </a:extLst>
          </p:cNvPr>
          <p:cNvSpPr>
            <a:spLocks noGrp="1"/>
          </p:cNvSpPr>
          <p:nvPr>
            <p:ph type="dt" sz="half" idx="10"/>
          </p:nvPr>
        </p:nvSpPr>
        <p:spPr>
          <a:xfrm>
            <a:off x="775570" y="5901563"/>
            <a:ext cx="4077660" cy="365125"/>
          </a:xfrm>
          <a:prstGeom prst="rect">
            <a:avLst/>
          </a:prstGeom>
        </p:spPr>
        <p:txBody>
          <a:bodyPr/>
          <a:lstStyle>
            <a:lvl1pPr>
              <a:defRPr sz="2000">
                <a:solidFill>
                  <a:srgbClr val="00427A"/>
                </a:solidFill>
                <a:latin typeface="Calibri" panose="020F0502020204030204" pitchFamily="34" charset="0"/>
                <a:cs typeface="Calibri" panose="020F0502020204030204" pitchFamily="34" charset="0"/>
              </a:defRPr>
            </a:lvl1pPr>
          </a:lstStyle>
          <a:p>
            <a:fld id="{16F2FB5F-D553-C945-B874-A642CC0C851F}" type="datetime3">
              <a:rPr lang="en-IE" smtClean="0"/>
              <a:pPr/>
              <a:t>25 February 2026</a:t>
            </a:fld>
            <a:endParaRPr lang="en-US" dirty="0"/>
          </a:p>
        </p:txBody>
      </p:sp>
      <p:pic>
        <p:nvPicPr>
          <p:cNvPr id="5" name="Picture 4">
            <a:extLst>
              <a:ext uri="{FF2B5EF4-FFF2-40B4-BE49-F238E27FC236}">
                <a16:creationId xmlns:a16="http://schemas.microsoft.com/office/drawing/2014/main" id="{8FE57DE2-DEBB-B17B-3186-6B7F239D4C15}"/>
              </a:ext>
            </a:extLst>
          </p:cNvPr>
          <p:cNvPicPr>
            <a:picLocks noChangeAspect="1"/>
          </p:cNvPicPr>
          <p:nvPr userDrawn="1"/>
        </p:nvPicPr>
        <p:blipFill>
          <a:blip r:embed="rId3"/>
          <a:srcRect/>
          <a:stretch/>
        </p:blipFill>
        <p:spPr>
          <a:xfrm>
            <a:off x="870858" y="764010"/>
            <a:ext cx="4921049" cy="3023525"/>
          </a:xfrm>
          <a:prstGeom prst="rect">
            <a:avLst/>
          </a:prstGeom>
        </p:spPr>
      </p:pic>
    </p:spTree>
    <p:extLst>
      <p:ext uri="{BB962C8B-B14F-4D97-AF65-F5344CB8AC3E}">
        <p14:creationId xmlns:p14="http://schemas.microsoft.com/office/powerpoint/2010/main" val="48436640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3936AE-C30A-53BD-4925-C496BE6C46FF}"/>
              </a:ext>
            </a:extLst>
          </p:cNvPr>
          <p:cNvSpPr>
            <a:spLocks noGrp="1"/>
          </p:cNvSpPr>
          <p:nvPr>
            <p:ph type="title"/>
          </p:nvPr>
        </p:nvSpPr>
        <p:spPr/>
        <p:txBody>
          <a:bodyPr/>
          <a:lstStyle/>
          <a:p>
            <a:r>
              <a:rPr lang="en-GB"/>
              <a:t>Click to edit Master title style</a:t>
            </a:r>
            <a:endParaRPr lang="en-US"/>
          </a:p>
        </p:txBody>
      </p:sp>
      <p:sp>
        <p:nvSpPr>
          <p:cNvPr id="3" name="Content Placeholder 2">
            <a:extLst>
              <a:ext uri="{FF2B5EF4-FFF2-40B4-BE49-F238E27FC236}">
                <a16:creationId xmlns:a16="http://schemas.microsoft.com/office/drawing/2014/main" id="{42F265C0-0ACE-3E63-95B9-D176766F2E2B}"/>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Footer Placeholder 4">
            <a:extLst>
              <a:ext uri="{FF2B5EF4-FFF2-40B4-BE49-F238E27FC236}">
                <a16:creationId xmlns:a16="http://schemas.microsoft.com/office/drawing/2014/main" id="{7631563B-497A-31DF-3662-C17ACF7D3AF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0070AD6-AAEF-8A4F-2919-ED9A3F9B5643}"/>
              </a:ext>
            </a:extLst>
          </p:cNvPr>
          <p:cNvSpPr>
            <a:spLocks noGrp="1"/>
          </p:cNvSpPr>
          <p:nvPr>
            <p:ph type="sldNum" sz="quarter" idx="12"/>
          </p:nvPr>
        </p:nvSpPr>
        <p:spPr/>
        <p:txBody>
          <a:bodyPr/>
          <a:lstStyle/>
          <a:p>
            <a:fld id="{5A064C77-022D-3743-A04E-645624933D1D}" type="slidenum">
              <a:rPr lang="en-US" smtClean="0"/>
              <a:t>‹#›</a:t>
            </a:fld>
            <a:endParaRPr lang="en-US"/>
          </a:p>
        </p:txBody>
      </p:sp>
    </p:spTree>
    <p:extLst>
      <p:ext uri="{BB962C8B-B14F-4D97-AF65-F5344CB8AC3E}">
        <p14:creationId xmlns:p14="http://schemas.microsoft.com/office/powerpoint/2010/main" val="407369005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4F2AFB-F4C4-719F-41DE-8454632EBC60}"/>
              </a:ext>
            </a:extLst>
          </p:cNvPr>
          <p:cNvSpPr>
            <a:spLocks noGrp="1"/>
          </p:cNvSpPr>
          <p:nvPr>
            <p:ph type="title"/>
          </p:nvPr>
        </p:nvSpPr>
        <p:spPr>
          <a:xfrm>
            <a:off x="831850" y="1709738"/>
            <a:ext cx="8354952" cy="2852737"/>
          </a:xfrm>
        </p:spPr>
        <p:txBody>
          <a:bodyPr anchor="b"/>
          <a:lstStyle>
            <a:lvl1pPr>
              <a:defRPr sz="6000"/>
            </a:lvl1pPr>
          </a:lstStyle>
          <a:p>
            <a:r>
              <a:rPr lang="en-GB" dirty="0"/>
              <a:t>Click to edit Master title style</a:t>
            </a:r>
            <a:endParaRPr lang="en-US" dirty="0"/>
          </a:p>
        </p:txBody>
      </p:sp>
      <p:sp>
        <p:nvSpPr>
          <p:cNvPr id="3" name="Text Placeholder 2">
            <a:extLst>
              <a:ext uri="{FF2B5EF4-FFF2-40B4-BE49-F238E27FC236}">
                <a16:creationId xmlns:a16="http://schemas.microsoft.com/office/drawing/2014/main" id="{A27AA946-8443-8B80-0497-6EB6FAAD0FFB}"/>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5" name="Footer Placeholder 4">
            <a:extLst>
              <a:ext uri="{FF2B5EF4-FFF2-40B4-BE49-F238E27FC236}">
                <a16:creationId xmlns:a16="http://schemas.microsoft.com/office/drawing/2014/main" id="{6AA71E3E-2DD5-AE03-E092-6934E2C4A08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B3E6B2A-3B08-3B49-5EC6-5F1CF60C6802}"/>
              </a:ext>
            </a:extLst>
          </p:cNvPr>
          <p:cNvSpPr>
            <a:spLocks noGrp="1"/>
          </p:cNvSpPr>
          <p:nvPr>
            <p:ph type="sldNum" sz="quarter" idx="12"/>
          </p:nvPr>
        </p:nvSpPr>
        <p:spPr/>
        <p:txBody>
          <a:bodyPr/>
          <a:lstStyle/>
          <a:p>
            <a:fld id="{5A064C77-022D-3743-A04E-645624933D1D}" type="slidenum">
              <a:rPr lang="en-US" smtClean="0"/>
              <a:t>‹#›</a:t>
            </a:fld>
            <a:endParaRPr lang="en-US"/>
          </a:p>
        </p:txBody>
      </p:sp>
    </p:spTree>
    <p:extLst>
      <p:ext uri="{BB962C8B-B14F-4D97-AF65-F5344CB8AC3E}">
        <p14:creationId xmlns:p14="http://schemas.microsoft.com/office/powerpoint/2010/main" val="329688371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DD0CB63-89BA-5DA1-ABAC-95F64446324C}"/>
              </a:ext>
            </a:extLst>
          </p:cNvPr>
          <p:cNvSpPr>
            <a:spLocks noGrp="1"/>
          </p:cNvSpPr>
          <p:nvPr>
            <p:ph type="title"/>
          </p:nvPr>
        </p:nvSpPr>
        <p:spPr/>
        <p:txBody>
          <a:bodyPr/>
          <a:lstStyle/>
          <a:p>
            <a:r>
              <a:rPr lang="en-GB"/>
              <a:t>Click to edit Master title style</a:t>
            </a:r>
            <a:endParaRPr lang="en-US"/>
          </a:p>
        </p:txBody>
      </p:sp>
      <p:sp>
        <p:nvSpPr>
          <p:cNvPr id="3" name="Content Placeholder 2">
            <a:extLst>
              <a:ext uri="{FF2B5EF4-FFF2-40B4-BE49-F238E27FC236}">
                <a16:creationId xmlns:a16="http://schemas.microsoft.com/office/drawing/2014/main" id="{E17EC219-68C6-906B-6B38-F56C88CEA66F}"/>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Content Placeholder 3">
            <a:extLst>
              <a:ext uri="{FF2B5EF4-FFF2-40B4-BE49-F238E27FC236}">
                <a16:creationId xmlns:a16="http://schemas.microsoft.com/office/drawing/2014/main" id="{A855E0A4-A8B0-2CA7-E857-19478981F702}"/>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6" name="Footer Placeholder 5">
            <a:extLst>
              <a:ext uri="{FF2B5EF4-FFF2-40B4-BE49-F238E27FC236}">
                <a16:creationId xmlns:a16="http://schemas.microsoft.com/office/drawing/2014/main" id="{BC34EDF8-107F-48D4-9168-4085444987C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FD97297-368B-D76D-B573-F2EA9B4F5D4F}"/>
              </a:ext>
            </a:extLst>
          </p:cNvPr>
          <p:cNvSpPr>
            <a:spLocks noGrp="1"/>
          </p:cNvSpPr>
          <p:nvPr>
            <p:ph type="sldNum" sz="quarter" idx="12"/>
          </p:nvPr>
        </p:nvSpPr>
        <p:spPr/>
        <p:txBody>
          <a:bodyPr/>
          <a:lstStyle/>
          <a:p>
            <a:fld id="{5A064C77-022D-3743-A04E-645624933D1D}" type="slidenum">
              <a:rPr lang="en-US" smtClean="0"/>
              <a:t>‹#›</a:t>
            </a:fld>
            <a:endParaRPr lang="en-US"/>
          </a:p>
        </p:txBody>
      </p:sp>
    </p:spTree>
    <p:extLst>
      <p:ext uri="{BB962C8B-B14F-4D97-AF65-F5344CB8AC3E}">
        <p14:creationId xmlns:p14="http://schemas.microsoft.com/office/powerpoint/2010/main" val="210539080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EE21E6-E145-FB62-1B42-F05F62D34D0A}"/>
              </a:ext>
            </a:extLst>
          </p:cNvPr>
          <p:cNvSpPr>
            <a:spLocks noGrp="1"/>
          </p:cNvSpPr>
          <p:nvPr>
            <p:ph type="title"/>
          </p:nvPr>
        </p:nvSpPr>
        <p:spPr/>
        <p:txBody>
          <a:bodyPr/>
          <a:lstStyle/>
          <a:p>
            <a:r>
              <a:rPr lang="en-GB"/>
              <a:t>Click to edit Master title style</a:t>
            </a:r>
            <a:endParaRPr lang="en-US"/>
          </a:p>
        </p:txBody>
      </p:sp>
      <p:sp>
        <p:nvSpPr>
          <p:cNvPr id="4" name="Footer Placeholder 3">
            <a:extLst>
              <a:ext uri="{FF2B5EF4-FFF2-40B4-BE49-F238E27FC236}">
                <a16:creationId xmlns:a16="http://schemas.microsoft.com/office/drawing/2014/main" id="{CFFA92D5-85D4-798F-6073-C1BBC39E80C1}"/>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7A41B856-F9DF-6501-6837-20D15C2FCB71}"/>
              </a:ext>
            </a:extLst>
          </p:cNvPr>
          <p:cNvSpPr>
            <a:spLocks noGrp="1"/>
          </p:cNvSpPr>
          <p:nvPr>
            <p:ph type="sldNum" sz="quarter" idx="12"/>
          </p:nvPr>
        </p:nvSpPr>
        <p:spPr/>
        <p:txBody>
          <a:bodyPr/>
          <a:lstStyle/>
          <a:p>
            <a:fld id="{5A064C77-022D-3743-A04E-645624933D1D}" type="slidenum">
              <a:rPr lang="en-US" smtClean="0"/>
              <a:t>‹#›</a:t>
            </a:fld>
            <a:endParaRPr lang="en-US"/>
          </a:p>
        </p:txBody>
      </p:sp>
    </p:spTree>
    <p:extLst>
      <p:ext uri="{BB962C8B-B14F-4D97-AF65-F5344CB8AC3E}">
        <p14:creationId xmlns:p14="http://schemas.microsoft.com/office/powerpoint/2010/main" val="356270059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336B62E2-EFD1-BADE-5ADC-CDA692DD3CF1}"/>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E92CE0D8-9D28-4B5B-E0D8-6FD104DEDF56}"/>
              </a:ext>
            </a:extLst>
          </p:cNvPr>
          <p:cNvSpPr>
            <a:spLocks noGrp="1"/>
          </p:cNvSpPr>
          <p:nvPr>
            <p:ph type="sldNum" sz="quarter" idx="12"/>
          </p:nvPr>
        </p:nvSpPr>
        <p:spPr/>
        <p:txBody>
          <a:bodyPr/>
          <a:lstStyle/>
          <a:p>
            <a:fld id="{5A064C77-022D-3743-A04E-645624933D1D}" type="slidenum">
              <a:rPr lang="en-US" smtClean="0"/>
              <a:t>‹#›</a:t>
            </a:fld>
            <a:endParaRPr lang="en-US"/>
          </a:p>
        </p:txBody>
      </p:sp>
    </p:spTree>
    <p:extLst>
      <p:ext uri="{BB962C8B-B14F-4D97-AF65-F5344CB8AC3E}">
        <p14:creationId xmlns:p14="http://schemas.microsoft.com/office/powerpoint/2010/main" val="61422457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Point Turquios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FDF105-7039-1C6D-7FC1-89C7ACEFE5D4}"/>
              </a:ext>
            </a:extLst>
          </p:cNvPr>
          <p:cNvSpPr>
            <a:spLocks noGrp="1"/>
          </p:cNvSpPr>
          <p:nvPr>
            <p:ph type="title"/>
          </p:nvPr>
        </p:nvSpPr>
        <p:spPr>
          <a:xfrm>
            <a:off x="838200" y="980788"/>
            <a:ext cx="8348602" cy="1325563"/>
          </a:xfrm>
        </p:spPr>
        <p:txBody>
          <a:bodyPr/>
          <a:lstStyle>
            <a:lvl1pPr>
              <a:defRPr>
                <a:solidFill>
                  <a:schemeClr val="bg1"/>
                </a:solidFill>
              </a:defRPr>
            </a:lvl1pPr>
          </a:lstStyle>
          <a:p>
            <a:r>
              <a:rPr lang="en-GB" dirty="0"/>
              <a:t>Click to edit Master title style</a:t>
            </a:r>
            <a:endParaRPr lang="en-US" dirty="0"/>
          </a:p>
        </p:txBody>
      </p:sp>
      <p:sp>
        <p:nvSpPr>
          <p:cNvPr id="3" name="Content Placeholder 2">
            <a:extLst>
              <a:ext uri="{FF2B5EF4-FFF2-40B4-BE49-F238E27FC236}">
                <a16:creationId xmlns:a16="http://schemas.microsoft.com/office/drawing/2014/main" id="{084C9D1A-B681-480B-51E4-53A881918850}"/>
              </a:ext>
            </a:extLst>
          </p:cNvPr>
          <p:cNvSpPr>
            <a:spLocks noGrp="1"/>
          </p:cNvSpPr>
          <p:nvPr>
            <p:ph idx="1"/>
          </p:nvPr>
        </p:nvSpPr>
        <p:spPr>
          <a:xfrm>
            <a:off x="838200" y="2306351"/>
            <a:ext cx="8348602" cy="3668564"/>
          </a:xfrm>
        </p:spPr>
        <p:txBody>
          <a:bodyPr/>
          <a:lstStyle>
            <a:lvl1pPr marL="0" indent="0">
              <a:buNone/>
              <a:defRPr>
                <a:solidFill>
                  <a:schemeClr val="bg1"/>
                </a:solidFill>
                <a:latin typeface="Calibri" panose="020F0502020204030204" pitchFamily="34" charset="0"/>
                <a:cs typeface="Calibri" panose="020F0502020204030204" pitchFamily="34" charset="0"/>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GB" dirty="0"/>
              <a:t>Click to edit Master text styles</a:t>
            </a:r>
          </a:p>
        </p:txBody>
      </p:sp>
    </p:spTree>
    <p:extLst>
      <p:ext uri="{BB962C8B-B14F-4D97-AF65-F5344CB8AC3E}">
        <p14:creationId xmlns:p14="http://schemas.microsoft.com/office/powerpoint/2010/main" val="137439093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Point medium">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B8167D2C-5176-1ED3-A328-C37831632F2B}"/>
              </a:ext>
            </a:extLst>
          </p:cNvPr>
          <p:cNvPicPr>
            <a:picLocks noChangeAspect="1"/>
          </p:cNvPicPr>
          <p:nvPr userDrawn="1"/>
        </p:nvPicPr>
        <p:blipFill>
          <a:blip r:embed="rId3"/>
          <a:stretch>
            <a:fillRect/>
          </a:stretch>
        </p:blipFill>
        <p:spPr>
          <a:xfrm>
            <a:off x="4952165" y="3305069"/>
            <a:ext cx="8928728" cy="3552931"/>
          </a:xfrm>
          <a:prstGeom prst="rect">
            <a:avLst/>
          </a:prstGeom>
        </p:spPr>
      </p:pic>
      <p:pic>
        <p:nvPicPr>
          <p:cNvPr id="3" name="Picture 2">
            <a:extLst>
              <a:ext uri="{FF2B5EF4-FFF2-40B4-BE49-F238E27FC236}">
                <a16:creationId xmlns:a16="http://schemas.microsoft.com/office/drawing/2014/main" id="{0F83037B-3C53-AD11-3C53-4E910F029F0A}"/>
              </a:ext>
            </a:extLst>
          </p:cNvPr>
          <p:cNvPicPr>
            <a:picLocks noChangeAspect="1"/>
          </p:cNvPicPr>
          <p:nvPr userDrawn="1"/>
        </p:nvPicPr>
        <p:blipFill>
          <a:blip r:embed="rId4"/>
          <a:stretch>
            <a:fillRect/>
          </a:stretch>
        </p:blipFill>
        <p:spPr>
          <a:xfrm>
            <a:off x="3175" y="0"/>
            <a:ext cx="12188825" cy="6859786"/>
          </a:xfrm>
          <a:prstGeom prst="rect">
            <a:avLst/>
          </a:prstGeom>
        </p:spPr>
      </p:pic>
      <p:sp>
        <p:nvSpPr>
          <p:cNvPr id="4" name="Title 1">
            <a:extLst>
              <a:ext uri="{FF2B5EF4-FFF2-40B4-BE49-F238E27FC236}">
                <a16:creationId xmlns:a16="http://schemas.microsoft.com/office/drawing/2014/main" id="{E433CFB9-3CD0-7249-3875-4CDCC326578F}"/>
              </a:ext>
            </a:extLst>
          </p:cNvPr>
          <p:cNvSpPr>
            <a:spLocks noGrp="1"/>
          </p:cNvSpPr>
          <p:nvPr>
            <p:ph type="title"/>
          </p:nvPr>
        </p:nvSpPr>
        <p:spPr>
          <a:xfrm>
            <a:off x="838200" y="980788"/>
            <a:ext cx="10515600" cy="1325563"/>
          </a:xfrm>
        </p:spPr>
        <p:txBody>
          <a:bodyPr/>
          <a:lstStyle/>
          <a:p>
            <a:r>
              <a:rPr lang="en-GB" dirty="0"/>
              <a:t>Click to edit Master title style</a:t>
            </a:r>
            <a:endParaRPr lang="en-US" dirty="0"/>
          </a:p>
        </p:txBody>
      </p:sp>
      <p:sp>
        <p:nvSpPr>
          <p:cNvPr id="5" name="Content Placeholder 2">
            <a:extLst>
              <a:ext uri="{FF2B5EF4-FFF2-40B4-BE49-F238E27FC236}">
                <a16:creationId xmlns:a16="http://schemas.microsoft.com/office/drawing/2014/main" id="{3604C136-FB56-3E5C-714E-C7C451450ADB}"/>
              </a:ext>
            </a:extLst>
          </p:cNvPr>
          <p:cNvSpPr>
            <a:spLocks noGrp="1"/>
          </p:cNvSpPr>
          <p:nvPr>
            <p:ph idx="1"/>
          </p:nvPr>
        </p:nvSpPr>
        <p:spPr>
          <a:xfrm>
            <a:off x="838200" y="2306351"/>
            <a:ext cx="8348602" cy="3668564"/>
          </a:xfrm>
        </p:spPr>
        <p:txBody>
          <a:bodyPr/>
          <a:lstStyle>
            <a:lvl1pPr marL="0" indent="0">
              <a:buNone/>
              <a:defRPr>
                <a:solidFill>
                  <a:schemeClr val="bg1"/>
                </a:solidFill>
                <a:latin typeface="Calibri" panose="020F0502020204030204" pitchFamily="34" charset="0"/>
                <a:cs typeface="Calibri" panose="020F0502020204030204" pitchFamily="34" charset="0"/>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GB" dirty="0"/>
              <a:t>Click to edit Master text styles</a:t>
            </a:r>
          </a:p>
        </p:txBody>
      </p:sp>
    </p:spTree>
    <p:extLst>
      <p:ext uri="{BB962C8B-B14F-4D97-AF65-F5344CB8AC3E}">
        <p14:creationId xmlns:p14="http://schemas.microsoft.com/office/powerpoint/2010/main" val="246619352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Point ligh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39C7DCCB-0C89-D983-30F6-838DCED371A2}"/>
              </a:ext>
            </a:extLst>
          </p:cNvPr>
          <p:cNvPicPr>
            <a:picLocks noChangeAspect="1"/>
          </p:cNvPicPr>
          <p:nvPr userDrawn="1"/>
        </p:nvPicPr>
        <p:blipFill>
          <a:blip r:embed="rId3"/>
          <a:stretch>
            <a:fillRect/>
          </a:stretch>
        </p:blipFill>
        <p:spPr>
          <a:xfrm>
            <a:off x="5366117" y="656799"/>
            <a:ext cx="11071312" cy="6201201"/>
          </a:xfrm>
          <a:prstGeom prst="rect">
            <a:avLst/>
          </a:prstGeom>
        </p:spPr>
      </p:pic>
      <p:pic>
        <p:nvPicPr>
          <p:cNvPr id="5" name="Picture 4">
            <a:extLst>
              <a:ext uri="{FF2B5EF4-FFF2-40B4-BE49-F238E27FC236}">
                <a16:creationId xmlns:a16="http://schemas.microsoft.com/office/drawing/2014/main" id="{3AA480F3-BC76-00B6-24D5-C07DB00D8475}"/>
              </a:ext>
            </a:extLst>
          </p:cNvPr>
          <p:cNvPicPr>
            <a:picLocks noChangeAspect="1"/>
          </p:cNvPicPr>
          <p:nvPr userDrawn="1"/>
        </p:nvPicPr>
        <p:blipFill>
          <a:blip r:embed="rId4"/>
          <a:srcRect/>
          <a:stretch/>
        </p:blipFill>
        <p:spPr>
          <a:xfrm>
            <a:off x="3179" y="251012"/>
            <a:ext cx="12188821" cy="6859785"/>
          </a:xfrm>
          <a:prstGeom prst="rect">
            <a:avLst/>
          </a:prstGeom>
        </p:spPr>
      </p:pic>
      <p:sp>
        <p:nvSpPr>
          <p:cNvPr id="2" name="Title 1">
            <a:extLst>
              <a:ext uri="{FF2B5EF4-FFF2-40B4-BE49-F238E27FC236}">
                <a16:creationId xmlns:a16="http://schemas.microsoft.com/office/drawing/2014/main" id="{6057DC5C-07B9-1D3E-E60F-4C4449E401FC}"/>
              </a:ext>
            </a:extLst>
          </p:cNvPr>
          <p:cNvSpPr>
            <a:spLocks noGrp="1"/>
          </p:cNvSpPr>
          <p:nvPr>
            <p:ph type="title"/>
          </p:nvPr>
        </p:nvSpPr>
        <p:spPr>
          <a:xfrm>
            <a:off x="838200" y="980788"/>
            <a:ext cx="10515600" cy="1325563"/>
          </a:xfrm>
        </p:spPr>
        <p:txBody>
          <a:bodyPr/>
          <a:lstStyle/>
          <a:p>
            <a:r>
              <a:rPr lang="en-GB" dirty="0"/>
              <a:t>Click to edit Master title style</a:t>
            </a:r>
            <a:endParaRPr lang="en-US" dirty="0"/>
          </a:p>
        </p:txBody>
      </p:sp>
      <p:sp>
        <p:nvSpPr>
          <p:cNvPr id="3" name="Content Placeholder 2">
            <a:extLst>
              <a:ext uri="{FF2B5EF4-FFF2-40B4-BE49-F238E27FC236}">
                <a16:creationId xmlns:a16="http://schemas.microsoft.com/office/drawing/2014/main" id="{E20138B3-4A13-4988-0617-30422C75274D}"/>
              </a:ext>
            </a:extLst>
          </p:cNvPr>
          <p:cNvSpPr>
            <a:spLocks noGrp="1"/>
          </p:cNvSpPr>
          <p:nvPr>
            <p:ph idx="1"/>
          </p:nvPr>
        </p:nvSpPr>
        <p:spPr>
          <a:xfrm>
            <a:off x="838200" y="2306351"/>
            <a:ext cx="8348602" cy="3668564"/>
          </a:xfrm>
        </p:spPr>
        <p:txBody>
          <a:bodyPr/>
          <a:lstStyle>
            <a:lvl1pPr marL="0" indent="0">
              <a:buNone/>
              <a:defRPr>
                <a:solidFill>
                  <a:srgbClr val="00959F"/>
                </a:solidFill>
                <a:latin typeface="Calibri" panose="020F0502020204030204" pitchFamily="34" charset="0"/>
                <a:cs typeface="Calibri" panose="020F0502020204030204" pitchFamily="34" charset="0"/>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GB" dirty="0"/>
              <a:t>Click to edit Master text styles</a:t>
            </a:r>
          </a:p>
        </p:txBody>
      </p:sp>
    </p:spTree>
    <p:extLst>
      <p:ext uri="{BB962C8B-B14F-4D97-AF65-F5344CB8AC3E}">
        <p14:creationId xmlns:p14="http://schemas.microsoft.com/office/powerpoint/2010/main" val="2740134954"/>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Point dark">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D98423E0-7FF4-AD5A-A90B-2A9E4134C1AA}"/>
              </a:ext>
            </a:extLst>
          </p:cNvPr>
          <p:cNvPicPr>
            <a:picLocks noChangeAspect="1"/>
          </p:cNvPicPr>
          <p:nvPr userDrawn="1"/>
        </p:nvPicPr>
        <p:blipFill>
          <a:blip r:embed="rId3"/>
          <a:stretch>
            <a:fillRect/>
          </a:stretch>
        </p:blipFill>
        <p:spPr>
          <a:xfrm>
            <a:off x="-1088573" y="1468037"/>
            <a:ext cx="9622971" cy="5389964"/>
          </a:xfrm>
          <a:prstGeom prst="rect">
            <a:avLst/>
          </a:prstGeom>
        </p:spPr>
      </p:pic>
      <p:pic>
        <p:nvPicPr>
          <p:cNvPr id="3" name="Picture 2">
            <a:extLst>
              <a:ext uri="{FF2B5EF4-FFF2-40B4-BE49-F238E27FC236}">
                <a16:creationId xmlns:a16="http://schemas.microsoft.com/office/drawing/2014/main" id="{C2E33A7B-C77A-0333-901F-1F517FC12794}"/>
              </a:ext>
            </a:extLst>
          </p:cNvPr>
          <p:cNvPicPr>
            <a:picLocks noChangeAspect="1"/>
          </p:cNvPicPr>
          <p:nvPr userDrawn="1"/>
        </p:nvPicPr>
        <p:blipFill>
          <a:blip r:embed="rId4"/>
          <a:srcRect/>
          <a:stretch/>
        </p:blipFill>
        <p:spPr>
          <a:xfrm>
            <a:off x="3176" y="0"/>
            <a:ext cx="12188821" cy="6859784"/>
          </a:xfrm>
          <a:prstGeom prst="rect">
            <a:avLst/>
          </a:prstGeom>
        </p:spPr>
      </p:pic>
      <p:sp>
        <p:nvSpPr>
          <p:cNvPr id="4" name="Content Placeholder 2">
            <a:extLst>
              <a:ext uri="{FF2B5EF4-FFF2-40B4-BE49-F238E27FC236}">
                <a16:creationId xmlns:a16="http://schemas.microsoft.com/office/drawing/2014/main" id="{CBAE34A2-289C-9C29-7331-CFD9F1AE7D91}"/>
              </a:ext>
            </a:extLst>
          </p:cNvPr>
          <p:cNvSpPr>
            <a:spLocks noGrp="1"/>
          </p:cNvSpPr>
          <p:nvPr>
            <p:ph idx="1"/>
          </p:nvPr>
        </p:nvSpPr>
        <p:spPr>
          <a:xfrm>
            <a:off x="5235389" y="1060256"/>
            <a:ext cx="6336026" cy="3668564"/>
          </a:xfrm>
        </p:spPr>
        <p:txBody>
          <a:bodyPr>
            <a:normAutofit/>
          </a:bodyPr>
          <a:lstStyle>
            <a:lvl1pPr marL="0" indent="0" algn="r">
              <a:buNone/>
              <a:defRPr sz="3600" b="1">
                <a:solidFill>
                  <a:schemeClr val="bg1"/>
                </a:solidFill>
                <a:latin typeface="Calibri" panose="020F0502020204030204" pitchFamily="34" charset="0"/>
                <a:cs typeface="Calibri" panose="020F0502020204030204" pitchFamily="34" charset="0"/>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GB" dirty="0"/>
              <a:t>Click to edit Master text styles</a:t>
            </a:r>
          </a:p>
        </p:txBody>
      </p:sp>
    </p:spTree>
    <p:extLst>
      <p:ext uri="{BB962C8B-B14F-4D97-AF65-F5344CB8AC3E}">
        <p14:creationId xmlns:p14="http://schemas.microsoft.com/office/powerpoint/2010/main" val="237602313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itle" preserve="1">
  <p:cSld name="1_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D8C7DF-07F2-E1CB-18FC-E7C90225F2F5}"/>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US"/>
          </a:p>
        </p:txBody>
      </p:sp>
      <p:sp>
        <p:nvSpPr>
          <p:cNvPr id="3" name="Subtitle 2">
            <a:extLst>
              <a:ext uri="{FF2B5EF4-FFF2-40B4-BE49-F238E27FC236}">
                <a16:creationId xmlns:a16="http://schemas.microsoft.com/office/drawing/2014/main" id="{38BC1E4E-6C8E-FAB9-1A38-0957C9DB74C3}"/>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US"/>
          </a:p>
        </p:txBody>
      </p:sp>
      <p:sp>
        <p:nvSpPr>
          <p:cNvPr id="4" name="Footer Placeholder 3">
            <a:extLst>
              <a:ext uri="{FF2B5EF4-FFF2-40B4-BE49-F238E27FC236}">
                <a16:creationId xmlns:a16="http://schemas.microsoft.com/office/drawing/2014/main" id="{7DDCC105-866F-A1D2-8A4A-84A0E0C01C42}"/>
              </a:ext>
            </a:extLst>
          </p:cNvPr>
          <p:cNvSpPr>
            <a:spLocks noGrp="1"/>
          </p:cNvSpPr>
          <p:nvPr>
            <p:ph type="ftr" sz="quarter" idx="10"/>
          </p:nvPr>
        </p:nvSpPr>
        <p:spPr/>
        <p:txBody>
          <a:bodyPr/>
          <a:lstStyle/>
          <a:p>
            <a:r>
              <a:rPr lang="en-US"/>
              <a:t>Andrew Parnell</a:t>
            </a:r>
            <a:endParaRPr lang="en-US" dirty="0"/>
          </a:p>
        </p:txBody>
      </p:sp>
      <p:sp>
        <p:nvSpPr>
          <p:cNvPr id="5" name="Slide Number Placeholder 4">
            <a:extLst>
              <a:ext uri="{FF2B5EF4-FFF2-40B4-BE49-F238E27FC236}">
                <a16:creationId xmlns:a16="http://schemas.microsoft.com/office/drawing/2014/main" id="{A51EAEFC-F418-CA78-0281-77C544447151}"/>
              </a:ext>
            </a:extLst>
          </p:cNvPr>
          <p:cNvSpPr>
            <a:spLocks noGrp="1"/>
          </p:cNvSpPr>
          <p:nvPr>
            <p:ph type="sldNum" sz="quarter" idx="11"/>
          </p:nvPr>
        </p:nvSpPr>
        <p:spPr/>
        <p:txBody>
          <a:bodyPr/>
          <a:lstStyle/>
          <a:p>
            <a:fld id="{5A064C77-022D-3743-A04E-645624933D1D}" type="slidenum">
              <a:rPr lang="en-US" smtClean="0"/>
              <a:t>‹#›</a:t>
            </a:fld>
            <a:endParaRPr lang="en-US"/>
          </a:p>
        </p:txBody>
      </p:sp>
    </p:spTree>
    <p:extLst>
      <p:ext uri="{BB962C8B-B14F-4D97-AF65-F5344CB8AC3E}">
        <p14:creationId xmlns:p14="http://schemas.microsoft.com/office/powerpoint/2010/main" val="289129652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1.jpg"/><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5">
            <a:lum/>
          </a:blip>
          <a:srcRect/>
          <a:stretch>
            <a:fillRect/>
          </a:stretch>
        </a:blip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C5340C0-73B3-BCF7-0724-038E70BF78A0}"/>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dirty="0"/>
              <a:t>Click to edit Master title style</a:t>
            </a:r>
            <a:endParaRPr lang="en-US" dirty="0"/>
          </a:p>
        </p:txBody>
      </p:sp>
      <p:sp>
        <p:nvSpPr>
          <p:cNvPr id="3" name="Text Placeholder 2">
            <a:extLst>
              <a:ext uri="{FF2B5EF4-FFF2-40B4-BE49-F238E27FC236}">
                <a16:creationId xmlns:a16="http://schemas.microsoft.com/office/drawing/2014/main" id="{E7C6D448-5D41-D2C8-31F6-3E241806484F}"/>
              </a:ext>
            </a:extLst>
          </p:cNvPr>
          <p:cNvSpPr>
            <a:spLocks noGrp="1"/>
          </p:cNvSpPr>
          <p:nvPr>
            <p:ph type="body" idx="1"/>
          </p:nvPr>
        </p:nvSpPr>
        <p:spPr>
          <a:xfrm>
            <a:off x="838200" y="1825625"/>
            <a:ext cx="8348602" cy="4149290"/>
          </a:xfrm>
          <a:prstGeom prst="rect">
            <a:avLst/>
          </a:prstGeom>
        </p:spPr>
        <p:txBody>
          <a:bodyPr vert="horz" lIns="91440" tIns="45720" rIns="91440" bIns="45720" rtlCol="0">
            <a:normAutofit/>
          </a:body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5" name="Footer Placeholder 4">
            <a:extLst>
              <a:ext uri="{FF2B5EF4-FFF2-40B4-BE49-F238E27FC236}">
                <a16:creationId xmlns:a16="http://schemas.microsoft.com/office/drawing/2014/main" id="{B2A23E6A-37C4-5F0F-726D-1ACD6A23133A}"/>
              </a:ext>
            </a:extLst>
          </p:cNvPr>
          <p:cNvSpPr>
            <a:spLocks noGrp="1"/>
          </p:cNvSpPr>
          <p:nvPr>
            <p:ph type="ftr" sz="quarter" idx="3"/>
          </p:nvPr>
        </p:nvSpPr>
        <p:spPr>
          <a:xfrm>
            <a:off x="4038600" y="6118356"/>
            <a:ext cx="2975975"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r>
              <a:rPr lang="en-US" dirty="0"/>
              <a:t>Andrew Parnell</a:t>
            </a:r>
          </a:p>
        </p:txBody>
      </p:sp>
      <p:sp>
        <p:nvSpPr>
          <p:cNvPr id="6" name="Slide Number Placeholder 5">
            <a:extLst>
              <a:ext uri="{FF2B5EF4-FFF2-40B4-BE49-F238E27FC236}">
                <a16:creationId xmlns:a16="http://schemas.microsoft.com/office/drawing/2014/main" id="{BB540BB7-8BAA-0B2D-4F0A-22069252AE34}"/>
              </a:ext>
            </a:extLst>
          </p:cNvPr>
          <p:cNvSpPr>
            <a:spLocks noGrp="1"/>
          </p:cNvSpPr>
          <p:nvPr>
            <p:ph type="sldNum" sz="quarter" idx="4"/>
          </p:nvPr>
        </p:nvSpPr>
        <p:spPr>
          <a:xfrm>
            <a:off x="7265096" y="6118356"/>
            <a:ext cx="1921706"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5A064C77-022D-3743-A04E-645624933D1D}" type="slidenum">
              <a:rPr lang="en-US" smtClean="0"/>
              <a:t>‹#›</a:t>
            </a:fld>
            <a:endParaRPr lang="en-US"/>
          </a:p>
        </p:txBody>
      </p:sp>
    </p:spTree>
    <p:extLst>
      <p:ext uri="{BB962C8B-B14F-4D97-AF65-F5344CB8AC3E}">
        <p14:creationId xmlns:p14="http://schemas.microsoft.com/office/powerpoint/2010/main" val="3818144969"/>
      </p:ext>
    </p:extLst>
  </p:cSld>
  <p:clrMap bg1="lt1" tx1="dk1" bg2="lt2" tx2="dk2" accent1="accent1" accent2="accent2" accent3="accent3" accent4="accent4" accent5="accent5" accent6="accent6" hlink="hlink" folHlink="folHlink"/>
  <p:sldLayoutIdLst>
    <p:sldLayoutId id="2147483660" r:id="rId1"/>
    <p:sldLayoutId id="2147483649" r:id="rId2"/>
    <p:sldLayoutId id="2147483661" r:id="rId3"/>
    <p:sldLayoutId id="2147483650" r:id="rId4"/>
    <p:sldLayoutId id="2147483651" r:id="rId5"/>
    <p:sldLayoutId id="2147483652" r:id="rId6"/>
    <p:sldLayoutId id="2147483654" r:id="rId7"/>
    <p:sldLayoutId id="2147483655" r:id="rId8"/>
    <p:sldLayoutId id="2147483662" r:id="rId9"/>
    <p:sldLayoutId id="2147483664" r:id="rId10"/>
    <p:sldLayoutId id="2147483665" r:id="rId11"/>
    <p:sldLayoutId id="2147483666" r:id="rId12"/>
    <p:sldLayoutId id="2147483667" r:id="rId13"/>
  </p:sldLayoutIdLst>
  <p:hf sldNum="0" hdr="0" ftr="0"/>
  <p:txStyles>
    <p:titleStyle>
      <a:lvl1pPr algn="l" defTabSz="914400" rtl="0" eaLnBrk="1" latinLnBrk="0" hangingPunct="1">
        <a:lnSpc>
          <a:spcPct val="90000"/>
        </a:lnSpc>
        <a:spcBef>
          <a:spcPct val="0"/>
        </a:spcBef>
        <a:buNone/>
        <a:defRPr sz="4400" b="1" kern="1200">
          <a:solidFill>
            <a:srgbClr val="00959F"/>
          </a:solidFill>
          <a:latin typeface="Calibri" panose="020F0502020204030204" pitchFamily="34" charset="0"/>
          <a:ea typeface="+mj-ea"/>
          <a:cs typeface="Calibri" panose="020F0502020204030204" pitchFamily="34"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rgbClr val="00427A"/>
          </a:solidFill>
          <a:latin typeface="Calibri" panose="020F0502020204030204" pitchFamily="34" charset="0"/>
          <a:ea typeface="+mn-ea"/>
          <a:cs typeface="Calibri" panose="020F050202020403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rgbClr val="00427A"/>
          </a:solidFill>
          <a:latin typeface="Calibri" panose="020F0502020204030204" pitchFamily="34" charset="0"/>
          <a:ea typeface="+mn-ea"/>
          <a:cs typeface="Calibri" panose="020F0502020204030204"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rgbClr val="00427A"/>
          </a:solidFill>
          <a:latin typeface="Calibri" panose="020F0502020204030204" pitchFamily="34" charset="0"/>
          <a:ea typeface="+mn-ea"/>
          <a:cs typeface="Calibri" panose="020F0502020204030204"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rgbClr val="00427A"/>
          </a:solidFill>
          <a:latin typeface="Calibri" panose="020F0502020204030204" pitchFamily="34" charset="0"/>
          <a:ea typeface="+mn-ea"/>
          <a:cs typeface="Calibri" panose="020F050202020403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rgbClr val="00427A"/>
          </a:solidFill>
          <a:latin typeface="Calibri" panose="020F0502020204030204" pitchFamily="34" charset="0"/>
          <a:ea typeface="+mn-ea"/>
          <a:cs typeface="Calibri" panose="020F050202020403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hyperlink" Target="https://cs231n.github.io/convolutional-networks/#:~:text=Convolutional%20Neural%20Networks%20are%20very,and%20all%20the%20tips%2Ftricks%20we" TargetMode="External"/><Relationship Id="rId2" Type="http://schemas.openxmlformats.org/officeDocument/2006/relationships/notesSlide" Target="../notesSlides/notesSlide1.xml"/><Relationship Id="rId1" Type="http://schemas.openxmlformats.org/officeDocument/2006/relationships/slideLayout" Target="../slideLayouts/slideLayout4.xml"/><Relationship Id="rId4" Type="http://schemas.openxmlformats.org/officeDocument/2006/relationships/hyperlink" Target="https://cs231n.github.io/convolutional-networks/#:~:text=Example%20Architecture%3A%20Overview,In%20more%20detail"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xml"/><Relationship Id="rId1" Type="http://schemas.openxmlformats.org/officeDocument/2006/relationships/slideLayout" Target="../slideLayouts/slideLayout4.xml"/><Relationship Id="rId4" Type="http://schemas.openxmlformats.org/officeDocument/2006/relationships/image" Target="../media/image14.png"/></Relationships>
</file>

<file path=ppt/slides/_rels/slide5.xml.rels><?xml version="1.0" encoding="UTF-8" standalone="yes"?>
<Relationships xmlns="http://schemas.openxmlformats.org/package/2006/relationships"><Relationship Id="rId2" Type="http://schemas.openxmlformats.org/officeDocument/2006/relationships/chart" Target="../charts/chart1.xml"/><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3.xml"/><Relationship Id="rId1" Type="http://schemas.openxmlformats.org/officeDocument/2006/relationships/slideLayout" Target="../slideLayouts/slideLayout1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2" Type="http://schemas.openxmlformats.org/officeDocument/2006/relationships/image" Target="../media/image160.png"/><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2" Type="http://schemas.openxmlformats.org/officeDocument/2006/relationships/image" Target="../media/image170.png"/><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6.xml"/><Relationship Id="rId1" Type="http://schemas.openxmlformats.org/officeDocument/2006/relationships/slideLayout" Target="../slideLayouts/slideLayout1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7E127A-D7C1-984F-9005-D54B2E23A76B}"/>
              </a:ext>
            </a:extLst>
          </p:cNvPr>
          <p:cNvSpPr>
            <a:spLocks noGrp="1"/>
          </p:cNvSpPr>
          <p:nvPr>
            <p:ph type="ctrTitle"/>
          </p:nvPr>
        </p:nvSpPr>
        <p:spPr/>
        <p:txBody>
          <a:bodyPr>
            <a:normAutofit/>
          </a:bodyPr>
          <a:lstStyle/>
          <a:p>
            <a:r>
              <a:rPr lang="en-US" sz="4800" dirty="0">
                <a:solidFill>
                  <a:srgbClr val="FFFFFF"/>
                </a:solidFill>
              </a:rPr>
              <a:t>Class 5: Recurrent Neural Networks</a:t>
            </a:r>
            <a:endParaRPr lang="en-US" dirty="0"/>
          </a:p>
        </p:txBody>
      </p:sp>
    </p:spTree>
    <p:extLst>
      <p:ext uri="{BB962C8B-B14F-4D97-AF65-F5344CB8AC3E}">
        <p14:creationId xmlns:p14="http://schemas.microsoft.com/office/powerpoint/2010/main" val="74382491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1"/>
          <p:cNvSpPr/>
          <p:nvPr/>
        </p:nvSpPr>
        <p:spPr>
          <a:xfrm>
            <a:off x="0" y="1690688"/>
            <a:ext cx="10728960" cy="4267200"/>
          </a:xfrm>
          <a:prstGeom prst="rect">
            <a:avLst/>
          </a:prstGeom>
          <a:noFill/>
          <a:ln/>
        </p:spPr>
        <p:txBody>
          <a:bodyPr wrap="square" lIns="0" tIns="0" rIns="0" bIns="0" rtlCol="0" anchor="ctr"/>
          <a:lstStyle/>
          <a:p>
            <a:pPr marL="253994" indent="-253994">
              <a:buSzPct val="100000"/>
              <a:buChar char="•"/>
            </a:pPr>
            <a:endParaRPr lang="en-US" sz="1600" dirty="0"/>
          </a:p>
        </p:txBody>
      </p:sp>
      <p:sp>
        <p:nvSpPr>
          <p:cNvPr id="4" name="Text 2"/>
          <p:cNvSpPr/>
          <p:nvPr/>
        </p:nvSpPr>
        <p:spPr>
          <a:xfrm>
            <a:off x="609600" y="6431280"/>
            <a:ext cx="10972800" cy="365760"/>
          </a:xfrm>
          <a:prstGeom prst="rect">
            <a:avLst/>
          </a:prstGeom>
          <a:noFill/>
          <a:ln/>
        </p:spPr>
        <p:txBody>
          <a:bodyPr wrap="square" lIns="0" tIns="0" rIns="0" bIns="0" rtlCol="0" anchor="ctr"/>
          <a:lstStyle/>
          <a:p>
            <a:r>
              <a:rPr lang="en-US" sz="800" u="sng" dirty="0">
                <a:solidFill>
                  <a:srgbClr val="4472C4"/>
                </a:solidFill>
                <a:hlinkClick r:id="rId3"/>
              </a:rPr>
              <a:t>[3]</a:t>
            </a:r>
            <a:r>
              <a:rPr lang="en-US" sz="800" dirty="0">
                <a:solidFill>
                  <a:srgbClr val="000000"/>
                </a:solidFill>
              </a:rPr>
              <a:t>   </a:t>
            </a:r>
            <a:r>
              <a:rPr lang="en-US" sz="800" u="sng" dirty="0">
                <a:solidFill>
                  <a:srgbClr val="4472C4"/>
                </a:solidFill>
                <a:hlinkClick r:id="rId4"/>
              </a:rPr>
              <a:t>[4]</a:t>
            </a:r>
            <a:endParaRPr lang="en-US" sz="800" dirty="0"/>
          </a:p>
        </p:txBody>
      </p:sp>
      <p:sp>
        <p:nvSpPr>
          <p:cNvPr id="5" name="Title 4">
            <a:extLst>
              <a:ext uri="{FF2B5EF4-FFF2-40B4-BE49-F238E27FC236}">
                <a16:creationId xmlns:a16="http://schemas.microsoft.com/office/drawing/2014/main" id="{E3B9A732-BE54-E279-CA7D-74CCA3C67414}"/>
              </a:ext>
            </a:extLst>
          </p:cNvPr>
          <p:cNvSpPr>
            <a:spLocks noGrp="1"/>
          </p:cNvSpPr>
          <p:nvPr>
            <p:ph type="title"/>
          </p:nvPr>
        </p:nvSpPr>
        <p:spPr/>
        <p:txBody>
          <a:bodyPr/>
          <a:lstStyle/>
          <a:p>
            <a:r>
              <a:rPr lang="en-US" dirty="0"/>
              <a:t>Outline</a:t>
            </a:r>
          </a:p>
        </p:txBody>
      </p:sp>
      <p:sp>
        <p:nvSpPr>
          <p:cNvPr id="6" name="Content Placeholder 5">
            <a:extLst>
              <a:ext uri="{FF2B5EF4-FFF2-40B4-BE49-F238E27FC236}">
                <a16:creationId xmlns:a16="http://schemas.microsoft.com/office/drawing/2014/main" id="{6194E0D3-21BE-C87E-2D17-490B6D560A81}"/>
              </a:ext>
            </a:extLst>
          </p:cNvPr>
          <p:cNvSpPr>
            <a:spLocks noGrp="1"/>
          </p:cNvSpPr>
          <p:nvPr>
            <p:ph idx="1"/>
          </p:nvPr>
        </p:nvSpPr>
        <p:spPr/>
        <p:txBody>
          <a:bodyPr>
            <a:normAutofit fontScale="92500" lnSpcReduction="10000"/>
          </a:bodyPr>
          <a:lstStyle/>
          <a:p>
            <a:r>
              <a:rPr lang="en-US" dirty="0"/>
              <a:t>Go from deep learning to recurrent neural networks</a:t>
            </a:r>
          </a:p>
          <a:p>
            <a:pPr marL="253994">
              <a:spcAft>
                <a:spcPts val="480"/>
              </a:spcAft>
              <a:buSzPct val="100000"/>
            </a:pPr>
            <a:r>
              <a:rPr lang="en-US" dirty="0"/>
              <a:t>Introduction to sequential modelling and RNNs</a:t>
            </a:r>
          </a:p>
          <a:p>
            <a:pPr marL="253994">
              <a:spcAft>
                <a:spcPts val="480"/>
              </a:spcAft>
              <a:buSzPct val="100000"/>
            </a:pPr>
            <a:r>
              <a:rPr lang="en-US" dirty="0"/>
              <a:t>Challenges: vanishing gradients</a:t>
            </a:r>
          </a:p>
          <a:p>
            <a:pPr marL="253994">
              <a:spcAft>
                <a:spcPts val="480"/>
              </a:spcAft>
              <a:buSzPct val="100000"/>
            </a:pPr>
            <a:r>
              <a:rPr lang="en-US" dirty="0"/>
              <a:t>Long Short‑Term Memory (LSTM) mechanics</a:t>
            </a:r>
          </a:p>
          <a:p>
            <a:pPr marL="253994">
              <a:spcAft>
                <a:spcPts val="480"/>
              </a:spcAft>
              <a:buSzPct val="100000"/>
            </a:pPr>
            <a:r>
              <a:rPr lang="en-US" dirty="0"/>
              <a:t>Manual implementation &amp; weather example</a:t>
            </a:r>
          </a:p>
          <a:p>
            <a:pPr marL="253994">
              <a:spcAft>
                <a:spcPts val="480"/>
              </a:spcAft>
              <a:buSzPct val="100000"/>
            </a:pPr>
            <a:r>
              <a:rPr lang="en-US" dirty="0"/>
              <a:t>Comparing RNNs and LSTMs</a:t>
            </a:r>
          </a:p>
          <a:p>
            <a:pPr marL="253994">
              <a:spcAft>
                <a:spcPts val="480"/>
              </a:spcAft>
              <a:buSzPct val="100000"/>
            </a:pPr>
            <a:r>
              <a:rPr lang="en-US" dirty="0"/>
              <a:t>Practical tips &amp; frameworks</a:t>
            </a:r>
          </a:p>
          <a:p>
            <a:r>
              <a:rPr lang="en-US" dirty="0"/>
              <a:t>Predict the weather!</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DA58D0-E208-1FA0-1DF1-8EA79DF201F8}"/>
              </a:ext>
            </a:extLst>
          </p:cNvPr>
          <p:cNvSpPr>
            <a:spLocks noGrp="1"/>
          </p:cNvSpPr>
          <p:nvPr>
            <p:ph type="title"/>
          </p:nvPr>
        </p:nvSpPr>
        <p:spPr/>
        <p:txBody>
          <a:bodyPr>
            <a:normAutofit/>
          </a:bodyPr>
          <a:lstStyle/>
          <a:p>
            <a:r>
              <a:rPr lang="en-US" dirty="0"/>
              <a:t>Why Sequential Models?</a:t>
            </a:r>
          </a:p>
        </p:txBody>
      </p:sp>
      <p:sp>
        <p:nvSpPr>
          <p:cNvPr id="3" name="Content Placeholder 2">
            <a:extLst>
              <a:ext uri="{FF2B5EF4-FFF2-40B4-BE49-F238E27FC236}">
                <a16:creationId xmlns:a16="http://schemas.microsoft.com/office/drawing/2014/main" id="{8436657C-B44D-D1AE-03A0-DE6B083334AB}"/>
              </a:ext>
            </a:extLst>
          </p:cNvPr>
          <p:cNvSpPr>
            <a:spLocks noGrp="1"/>
          </p:cNvSpPr>
          <p:nvPr>
            <p:ph sz="half" idx="1"/>
          </p:nvPr>
        </p:nvSpPr>
        <p:spPr/>
        <p:txBody>
          <a:bodyPr>
            <a:normAutofit/>
          </a:bodyPr>
          <a:lstStyle/>
          <a:p>
            <a:r>
              <a:rPr lang="en-US" dirty="0"/>
              <a:t>Traditional neural networks treat inputs independently, ignoring temporal context</a:t>
            </a:r>
          </a:p>
          <a:p>
            <a:r>
              <a:rPr lang="en-US" dirty="0"/>
              <a:t>Sequential data (audio, language, weather) requires models with memory</a:t>
            </a:r>
          </a:p>
          <a:p>
            <a:r>
              <a:rPr lang="en-US" dirty="0"/>
              <a:t>RNNs introduce a hidden state that carries information from prior time steps</a:t>
            </a:r>
          </a:p>
          <a:p>
            <a:endParaRPr lang="en-US" dirty="0"/>
          </a:p>
          <a:p>
            <a:endParaRPr lang="en-US" dirty="0"/>
          </a:p>
        </p:txBody>
      </p:sp>
      <p:graphicFrame>
        <p:nvGraphicFramePr>
          <p:cNvPr id="5" name="Table 0">
            <a:extLst>
              <a:ext uri="{FF2B5EF4-FFF2-40B4-BE49-F238E27FC236}">
                <a16:creationId xmlns:a16="http://schemas.microsoft.com/office/drawing/2014/main" id="{EC6D272D-4448-F35A-21B2-714C6E1FAC8C}"/>
              </a:ext>
            </a:extLst>
          </p:cNvPr>
          <p:cNvGraphicFramePr>
            <a:graphicFrameLocks noGrp="1"/>
          </p:cNvGraphicFramePr>
          <p:nvPr>
            <p:extLst>
              <p:ext uri="{D42A27DB-BD31-4B8C-83A1-F6EECF244321}">
                <p14:modId xmlns:p14="http://schemas.microsoft.com/office/powerpoint/2010/main" val="2474112965"/>
              </p:ext>
            </p:extLst>
          </p:nvPr>
        </p:nvGraphicFramePr>
        <p:xfrm>
          <a:off x="6314289" y="2085427"/>
          <a:ext cx="4747548" cy="2352903"/>
        </p:xfrm>
        <a:graphic>
          <a:graphicData uri="http://schemas.openxmlformats.org/drawingml/2006/table">
            <a:tbl>
              <a:tblPr firstRow="1" bandRow="1"/>
              <a:tblGrid>
                <a:gridCol w="1456117">
                  <a:extLst>
                    <a:ext uri="{9D8B030D-6E8A-4147-A177-3AD203B41FA5}">
                      <a16:colId xmlns:a16="http://schemas.microsoft.com/office/drawing/2014/main" val="20000"/>
                    </a:ext>
                  </a:extLst>
                </a:gridCol>
                <a:gridCol w="1969491">
                  <a:extLst>
                    <a:ext uri="{9D8B030D-6E8A-4147-A177-3AD203B41FA5}">
                      <a16:colId xmlns:a16="http://schemas.microsoft.com/office/drawing/2014/main" val="20001"/>
                    </a:ext>
                  </a:extLst>
                </a:gridCol>
                <a:gridCol w="1321940">
                  <a:extLst>
                    <a:ext uri="{9D8B030D-6E8A-4147-A177-3AD203B41FA5}">
                      <a16:colId xmlns:a16="http://schemas.microsoft.com/office/drawing/2014/main" val="20002"/>
                    </a:ext>
                  </a:extLst>
                </a:gridCol>
              </a:tblGrid>
              <a:tr h="399499">
                <a:tc>
                  <a:txBody>
                    <a:bodyPr/>
                    <a:lstStyle/>
                    <a:p>
                      <a:pPr marL="0" indent="0">
                        <a:buNone/>
                      </a:pPr>
                      <a:endParaRPr lang="en-US" sz="1300"/>
                    </a:p>
                  </a:txBody>
                  <a:tcPr marL="149345" marR="149345" marT="74673" marB="74673" anchor="ctr">
                    <a:lnL w="3810" cap="flat" cmpd="sng" algn="ctr">
                      <a:solidFill>
                        <a:srgbClr val="DDDDDD"/>
                      </a:solidFill>
                      <a:prstDash val="solid"/>
                      <a:round/>
                      <a:headEnd type="none" w="med" len="med"/>
                      <a:tailEnd type="none" w="med" len="med"/>
                    </a:lnL>
                    <a:lnR w="3810" cap="flat" cmpd="sng" algn="ctr">
                      <a:solidFill>
                        <a:srgbClr val="DDDDDD"/>
                      </a:solidFill>
                      <a:prstDash val="solid"/>
                      <a:round/>
                      <a:headEnd type="none" w="med" len="med"/>
                      <a:tailEnd type="none" w="med" len="med"/>
                    </a:lnR>
                    <a:lnT w="3810" cap="flat" cmpd="sng" algn="ctr">
                      <a:solidFill>
                        <a:srgbClr val="DDDDDD"/>
                      </a:solidFill>
                      <a:prstDash val="solid"/>
                      <a:round/>
                      <a:headEnd type="none" w="med" len="med"/>
                      <a:tailEnd type="none" w="med" len="med"/>
                    </a:lnT>
                    <a:lnB w="3810" cap="flat" cmpd="sng" algn="ctr">
                      <a:solidFill>
                        <a:srgbClr val="DDDDDD"/>
                      </a:solidFill>
                      <a:prstDash val="solid"/>
                      <a:round/>
                      <a:headEnd type="none" w="med" len="med"/>
                      <a:tailEnd type="none" w="med" len="med"/>
                    </a:lnB>
                    <a:solidFill>
                      <a:srgbClr val="F5F5F5"/>
                    </a:solidFill>
                  </a:tcPr>
                </a:tc>
                <a:tc>
                  <a:txBody>
                    <a:bodyPr/>
                    <a:lstStyle/>
                    <a:p>
                      <a:pPr marL="0" indent="0">
                        <a:buNone/>
                      </a:pPr>
                      <a:r>
                        <a:rPr lang="en-US" sz="1300" b="1">
                          <a:solidFill>
                            <a:srgbClr val="030A18"/>
                          </a:solidFill>
                        </a:rPr>
                        <a:t>Feedforward</a:t>
                      </a:r>
                      <a:endParaRPr lang="en-US" sz="1300"/>
                    </a:p>
                  </a:txBody>
                  <a:tcPr marL="149345" marR="149345" marT="74673" marB="74673" anchor="ctr">
                    <a:lnL w="3810" cap="flat" cmpd="sng" algn="ctr">
                      <a:solidFill>
                        <a:srgbClr val="DDDDDD"/>
                      </a:solidFill>
                      <a:prstDash val="solid"/>
                      <a:round/>
                      <a:headEnd type="none" w="med" len="med"/>
                      <a:tailEnd type="none" w="med" len="med"/>
                    </a:lnL>
                    <a:lnR w="3810" cap="flat" cmpd="sng" algn="ctr">
                      <a:solidFill>
                        <a:srgbClr val="DDDDDD"/>
                      </a:solidFill>
                      <a:prstDash val="solid"/>
                      <a:round/>
                      <a:headEnd type="none" w="med" len="med"/>
                      <a:tailEnd type="none" w="med" len="med"/>
                    </a:lnR>
                    <a:lnT w="3810" cap="flat" cmpd="sng" algn="ctr">
                      <a:solidFill>
                        <a:srgbClr val="DDDDDD"/>
                      </a:solidFill>
                      <a:prstDash val="solid"/>
                      <a:round/>
                      <a:headEnd type="none" w="med" len="med"/>
                      <a:tailEnd type="none" w="med" len="med"/>
                    </a:lnT>
                    <a:lnB w="3810" cap="flat" cmpd="sng" algn="ctr">
                      <a:solidFill>
                        <a:srgbClr val="DDDDDD"/>
                      </a:solidFill>
                      <a:prstDash val="solid"/>
                      <a:round/>
                      <a:headEnd type="none" w="med" len="med"/>
                      <a:tailEnd type="none" w="med" len="med"/>
                    </a:lnB>
                    <a:solidFill>
                      <a:srgbClr val="F5F5F5"/>
                    </a:solidFill>
                  </a:tcPr>
                </a:tc>
                <a:tc>
                  <a:txBody>
                    <a:bodyPr/>
                    <a:lstStyle/>
                    <a:p>
                      <a:pPr marL="0" indent="0">
                        <a:buNone/>
                      </a:pPr>
                      <a:r>
                        <a:rPr lang="en-US" sz="1300" b="1">
                          <a:solidFill>
                            <a:srgbClr val="030A18"/>
                          </a:solidFill>
                        </a:rPr>
                        <a:t>RNN</a:t>
                      </a:r>
                      <a:endParaRPr lang="en-US" sz="1300"/>
                    </a:p>
                  </a:txBody>
                  <a:tcPr marL="149345" marR="149345" marT="74673" marB="74673" anchor="ctr">
                    <a:lnL w="3810" cap="flat" cmpd="sng" algn="ctr">
                      <a:solidFill>
                        <a:srgbClr val="DDDDDD"/>
                      </a:solidFill>
                      <a:prstDash val="solid"/>
                      <a:round/>
                      <a:headEnd type="none" w="med" len="med"/>
                      <a:tailEnd type="none" w="med" len="med"/>
                    </a:lnL>
                    <a:lnR w="3810" cap="flat" cmpd="sng" algn="ctr">
                      <a:solidFill>
                        <a:srgbClr val="DDDDDD"/>
                      </a:solidFill>
                      <a:prstDash val="solid"/>
                      <a:round/>
                      <a:headEnd type="none" w="med" len="med"/>
                      <a:tailEnd type="none" w="med" len="med"/>
                    </a:lnR>
                    <a:lnT w="3810" cap="flat" cmpd="sng" algn="ctr">
                      <a:solidFill>
                        <a:srgbClr val="DDDDDD"/>
                      </a:solidFill>
                      <a:prstDash val="solid"/>
                      <a:round/>
                      <a:headEnd type="none" w="med" len="med"/>
                      <a:tailEnd type="none" w="med" len="med"/>
                    </a:lnT>
                    <a:lnB w="3810" cap="flat" cmpd="sng" algn="ctr">
                      <a:solidFill>
                        <a:srgbClr val="DDDDDD"/>
                      </a:solidFill>
                      <a:prstDash val="solid"/>
                      <a:round/>
                      <a:headEnd type="none" w="med" len="med"/>
                      <a:tailEnd type="none" w="med" len="med"/>
                    </a:lnB>
                    <a:solidFill>
                      <a:srgbClr val="F5F5F5"/>
                    </a:solidFill>
                  </a:tcPr>
                </a:tc>
                <a:extLst>
                  <a:ext uri="{0D108BD9-81ED-4DB2-BD59-A6C34878D82A}">
                    <a16:rowId xmlns:a16="http://schemas.microsoft.com/office/drawing/2014/main" val="10000"/>
                  </a:ext>
                </a:extLst>
              </a:tr>
              <a:tr h="604849">
                <a:tc>
                  <a:txBody>
                    <a:bodyPr/>
                    <a:lstStyle/>
                    <a:p>
                      <a:pPr marL="0" indent="0">
                        <a:buNone/>
                      </a:pPr>
                      <a:r>
                        <a:rPr lang="en-US" sz="1300" b="1">
                          <a:solidFill>
                            <a:srgbClr val="030A18"/>
                          </a:solidFill>
                        </a:rPr>
                        <a:t>Memory</a:t>
                      </a:r>
                      <a:endParaRPr lang="en-US" sz="1300"/>
                    </a:p>
                  </a:txBody>
                  <a:tcPr marL="149345" marR="149345" marT="74673" marB="74673" anchor="ctr">
                    <a:lnL w="3810" cap="flat" cmpd="sng" algn="ctr">
                      <a:solidFill>
                        <a:srgbClr val="DDDDDD"/>
                      </a:solidFill>
                      <a:prstDash val="solid"/>
                      <a:round/>
                      <a:headEnd type="none" w="med" len="med"/>
                      <a:tailEnd type="none" w="med" len="med"/>
                    </a:lnL>
                    <a:lnR w="3810" cap="flat" cmpd="sng" algn="ctr">
                      <a:solidFill>
                        <a:srgbClr val="DDDDDD"/>
                      </a:solidFill>
                      <a:prstDash val="solid"/>
                      <a:round/>
                      <a:headEnd type="none" w="med" len="med"/>
                      <a:tailEnd type="none" w="med" len="med"/>
                    </a:lnR>
                    <a:lnT w="3810" cap="flat" cmpd="sng" algn="ctr">
                      <a:solidFill>
                        <a:srgbClr val="DDDDDD"/>
                      </a:solidFill>
                      <a:prstDash val="solid"/>
                      <a:round/>
                      <a:headEnd type="none" w="med" len="med"/>
                      <a:tailEnd type="none" w="med" len="med"/>
                    </a:lnT>
                    <a:lnB w="3810" cap="flat" cmpd="sng" algn="ctr">
                      <a:solidFill>
                        <a:srgbClr val="DDDDDD"/>
                      </a:solidFill>
                      <a:prstDash val="solid"/>
                      <a:round/>
                      <a:headEnd type="none" w="med" len="med"/>
                      <a:tailEnd type="none" w="med" len="med"/>
                    </a:lnB>
                    <a:solidFill>
                      <a:srgbClr val="FFFFFF"/>
                    </a:solidFill>
                  </a:tcPr>
                </a:tc>
                <a:tc>
                  <a:txBody>
                    <a:bodyPr/>
                    <a:lstStyle/>
                    <a:p>
                      <a:pPr marL="0" indent="0">
                        <a:buNone/>
                      </a:pPr>
                      <a:r>
                        <a:rPr lang="en-US" sz="1300" dirty="0">
                          <a:solidFill>
                            <a:srgbClr val="030A18"/>
                          </a:solidFill>
                        </a:rPr>
                        <a:t>No internal memory</a:t>
                      </a:r>
                      <a:endParaRPr lang="en-US" sz="1300" dirty="0"/>
                    </a:p>
                  </a:txBody>
                  <a:tcPr marL="149345" marR="149345" marT="74673" marB="74673" anchor="ctr">
                    <a:lnL w="3810" cap="flat" cmpd="sng" algn="ctr">
                      <a:solidFill>
                        <a:srgbClr val="DDDDDD"/>
                      </a:solidFill>
                      <a:prstDash val="solid"/>
                      <a:round/>
                      <a:headEnd type="none" w="med" len="med"/>
                      <a:tailEnd type="none" w="med" len="med"/>
                    </a:lnL>
                    <a:lnR w="3810" cap="flat" cmpd="sng" algn="ctr">
                      <a:solidFill>
                        <a:srgbClr val="DDDDDD"/>
                      </a:solidFill>
                      <a:prstDash val="solid"/>
                      <a:round/>
                      <a:headEnd type="none" w="med" len="med"/>
                      <a:tailEnd type="none" w="med" len="med"/>
                    </a:lnR>
                    <a:lnT w="3810" cap="flat" cmpd="sng" algn="ctr">
                      <a:solidFill>
                        <a:srgbClr val="DDDDDD"/>
                      </a:solidFill>
                      <a:prstDash val="solid"/>
                      <a:round/>
                      <a:headEnd type="none" w="med" len="med"/>
                      <a:tailEnd type="none" w="med" len="med"/>
                    </a:lnT>
                    <a:lnB w="3810" cap="flat" cmpd="sng" algn="ctr">
                      <a:solidFill>
                        <a:srgbClr val="DDDDDD"/>
                      </a:solidFill>
                      <a:prstDash val="solid"/>
                      <a:round/>
                      <a:headEnd type="none" w="med" len="med"/>
                      <a:tailEnd type="none" w="med" len="med"/>
                    </a:lnB>
                    <a:solidFill>
                      <a:srgbClr val="FFFFFF"/>
                    </a:solidFill>
                  </a:tcPr>
                </a:tc>
                <a:tc>
                  <a:txBody>
                    <a:bodyPr/>
                    <a:lstStyle/>
                    <a:p>
                      <a:pPr marL="0" indent="0">
                        <a:buNone/>
                      </a:pPr>
                      <a:r>
                        <a:rPr lang="en-US" sz="1300">
                          <a:solidFill>
                            <a:srgbClr val="030A18"/>
                          </a:solidFill>
                        </a:rPr>
                        <a:t>Maintains hidden state</a:t>
                      </a:r>
                      <a:endParaRPr lang="en-US" sz="1300"/>
                    </a:p>
                  </a:txBody>
                  <a:tcPr marL="149345" marR="149345" marT="74673" marB="74673" anchor="ctr">
                    <a:lnL w="3810" cap="flat" cmpd="sng" algn="ctr">
                      <a:solidFill>
                        <a:srgbClr val="DDDDDD"/>
                      </a:solidFill>
                      <a:prstDash val="solid"/>
                      <a:round/>
                      <a:headEnd type="none" w="med" len="med"/>
                      <a:tailEnd type="none" w="med" len="med"/>
                    </a:lnL>
                    <a:lnR w="3810" cap="flat" cmpd="sng" algn="ctr">
                      <a:solidFill>
                        <a:srgbClr val="DDDDDD"/>
                      </a:solidFill>
                      <a:prstDash val="solid"/>
                      <a:round/>
                      <a:headEnd type="none" w="med" len="med"/>
                      <a:tailEnd type="none" w="med" len="med"/>
                    </a:lnR>
                    <a:lnT w="3810" cap="flat" cmpd="sng" algn="ctr">
                      <a:solidFill>
                        <a:srgbClr val="DDDDDD"/>
                      </a:solidFill>
                      <a:prstDash val="solid"/>
                      <a:round/>
                      <a:headEnd type="none" w="med" len="med"/>
                      <a:tailEnd type="none" w="med" len="med"/>
                    </a:lnT>
                    <a:lnB w="3810"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04849">
                <a:tc>
                  <a:txBody>
                    <a:bodyPr/>
                    <a:lstStyle/>
                    <a:p>
                      <a:pPr marL="0" indent="0">
                        <a:buNone/>
                      </a:pPr>
                      <a:r>
                        <a:rPr lang="en-US" sz="1300" b="1">
                          <a:solidFill>
                            <a:srgbClr val="030A18"/>
                          </a:solidFill>
                        </a:rPr>
                        <a:t>Parameter sharing</a:t>
                      </a:r>
                      <a:endParaRPr lang="en-US" sz="1300"/>
                    </a:p>
                  </a:txBody>
                  <a:tcPr marL="149345" marR="149345" marT="74673" marB="74673" anchor="ctr">
                    <a:lnL w="3810" cap="flat" cmpd="sng" algn="ctr">
                      <a:solidFill>
                        <a:srgbClr val="DDDDDD"/>
                      </a:solidFill>
                      <a:prstDash val="solid"/>
                      <a:round/>
                      <a:headEnd type="none" w="med" len="med"/>
                      <a:tailEnd type="none" w="med" len="med"/>
                    </a:lnL>
                    <a:lnR w="3810" cap="flat" cmpd="sng" algn="ctr">
                      <a:solidFill>
                        <a:srgbClr val="DDDDDD"/>
                      </a:solidFill>
                      <a:prstDash val="solid"/>
                      <a:round/>
                      <a:headEnd type="none" w="med" len="med"/>
                      <a:tailEnd type="none" w="med" len="med"/>
                    </a:lnR>
                    <a:lnT w="3810" cap="flat" cmpd="sng" algn="ctr">
                      <a:solidFill>
                        <a:srgbClr val="DDDDDD"/>
                      </a:solidFill>
                      <a:prstDash val="solid"/>
                      <a:round/>
                      <a:headEnd type="none" w="med" len="med"/>
                      <a:tailEnd type="none" w="med" len="med"/>
                    </a:lnT>
                    <a:lnB w="3810" cap="flat" cmpd="sng" algn="ctr">
                      <a:solidFill>
                        <a:srgbClr val="DDDDDD"/>
                      </a:solidFill>
                      <a:prstDash val="solid"/>
                      <a:round/>
                      <a:headEnd type="none" w="med" len="med"/>
                      <a:tailEnd type="none" w="med" len="med"/>
                    </a:lnB>
                    <a:solidFill>
                      <a:srgbClr val="FFFFFF"/>
                    </a:solidFill>
                  </a:tcPr>
                </a:tc>
                <a:tc>
                  <a:txBody>
                    <a:bodyPr/>
                    <a:lstStyle/>
                    <a:p>
                      <a:pPr marL="0" indent="0">
                        <a:buNone/>
                      </a:pPr>
                      <a:r>
                        <a:rPr lang="en-US" sz="1300">
                          <a:solidFill>
                            <a:srgbClr val="030A18"/>
                          </a:solidFill>
                        </a:rPr>
                        <a:t>Across layers</a:t>
                      </a:r>
                      <a:endParaRPr lang="en-US" sz="1300"/>
                    </a:p>
                  </a:txBody>
                  <a:tcPr marL="149345" marR="149345" marT="74673" marB="74673" anchor="ctr">
                    <a:lnL w="3810" cap="flat" cmpd="sng" algn="ctr">
                      <a:solidFill>
                        <a:srgbClr val="DDDDDD"/>
                      </a:solidFill>
                      <a:prstDash val="solid"/>
                      <a:round/>
                      <a:headEnd type="none" w="med" len="med"/>
                      <a:tailEnd type="none" w="med" len="med"/>
                    </a:lnL>
                    <a:lnR w="3810" cap="flat" cmpd="sng" algn="ctr">
                      <a:solidFill>
                        <a:srgbClr val="DDDDDD"/>
                      </a:solidFill>
                      <a:prstDash val="solid"/>
                      <a:round/>
                      <a:headEnd type="none" w="med" len="med"/>
                      <a:tailEnd type="none" w="med" len="med"/>
                    </a:lnR>
                    <a:lnT w="3810" cap="flat" cmpd="sng" algn="ctr">
                      <a:solidFill>
                        <a:srgbClr val="DDDDDD"/>
                      </a:solidFill>
                      <a:prstDash val="solid"/>
                      <a:round/>
                      <a:headEnd type="none" w="med" len="med"/>
                      <a:tailEnd type="none" w="med" len="med"/>
                    </a:lnT>
                    <a:lnB w="3810" cap="flat" cmpd="sng" algn="ctr">
                      <a:solidFill>
                        <a:srgbClr val="DDDDDD"/>
                      </a:solidFill>
                      <a:prstDash val="solid"/>
                      <a:round/>
                      <a:headEnd type="none" w="med" len="med"/>
                      <a:tailEnd type="none" w="med" len="med"/>
                    </a:lnB>
                    <a:solidFill>
                      <a:srgbClr val="FFFFFF"/>
                    </a:solidFill>
                  </a:tcPr>
                </a:tc>
                <a:tc>
                  <a:txBody>
                    <a:bodyPr/>
                    <a:lstStyle/>
                    <a:p>
                      <a:pPr marL="0" indent="0">
                        <a:buNone/>
                      </a:pPr>
                      <a:r>
                        <a:rPr lang="en-US" sz="1300">
                          <a:solidFill>
                            <a:srgbClr val="030A18"/>
                          </a:solidFill>
                        </a:rPr>
                        <a:t>Across time steps</a:t>
                      </a:r>
                      <a:endParaRPr lang="en-US" sz="1300"/>
                    </a:p>
                  </a:txBody>
                  <a:tcPr marL="149345" marR="149345" marT="74673" marB="74673" anchor="ctr">
                    <a:lnL w="3810" cap="flat" cmpd="sng" algn="ctr">
                      <a:solidFill>
                        <a:srgbClr val="DDDDDD"/>
                      </a:solidFill>
                      <a:prstDash val="solid"/>
                      <a:round/>
                      <a:headEnd type="none" w="med" len="med"/>
                      <a:tailEnd type="none" w="med" len="med"/>
                    </a:lnL>
                    <a:lnR w="3810" cap="flat" cmpd="sng" algn="ctr">
                      <a:solidFill>
                        <a:srgbClr val="DDDDDD"/>
                      </a:solidFill>
                      <a:prstDash val="solid"/>
                      <a:round/>
                      <a:headEnd type="none" w="med" len="med"/>
                      <a:tailEnd type="none" w="med" len="med"/>
                    </a:lnR>
                    <a:lnT w="3810" cap="flat" cmpd="sng" algn="ctr">
                      <a:solidFill>
                        <a:srgbClr val="DDDDDD"/>
                      </a:solidFill>
                      <a:prstDash val="solid"/>
                      <a:round/>
                      <a:headEnd type="none" w="med" len="med"/>
                      <a:tailEnd type="none" w="med" len="med"/>
                    </a:lnT>
                    <a:lnB w="3810"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604849">
                <a:tc>
                  <a:txBody>
                    <a:bodyPr/>
                    <a:lstStyle/>
                    <a:p>
                      <a:pPr marL="0" indent="0">
                        <a:buNone/>
                      </a:pPr>
                      <a:r>
                        <a:rPr lang="en-US" sz="1300" b="1">
                          <a:solidFill>
                            <a:srgbClr val="030A18"/>
                          </a:solidFill>
                        </a:rPr>
                        <a:t>Applications</a:t>
                      </a:r>
                      <a:endParaRPr lang="en-US" sz="1300"/>
                    </a:p>
                  </a:txBody>
                  <a:tcPr marL="149345" marR="149345" marT="74673" marB="74673" anchor="ctr">
                    <a:lnL w="3810" cap="flat" cmpd="sng" algn="ctr">
                      <a:solidFill>
                        <a:srgbClr val="DDDDDD"/>
                      </a:solidFill>
                      <a:prstDash val="solid"/>
                      <a:round/>
                      <a:headEnd type="none" w="med" len="med"/>
                      <a:tailEnd type="none" w="med" len="med"/>
                    </a:lnL>
                    <a:lnR w="3810" cap="flat" cmpd="sng" algn="ctr">
                      <a:solidFill>
                        <a:srgbClr val="DDDDDD"/>
                      </a:solidFill>
                      <a:prstDash val="solid"/>
                      <a:round/>
                      <a:headEnd type="none" w="med" len="med"/>
                      <a:tailEnd type="none" w="med" len="med"/>
                    </a:lnR>
                    <a:lnT w="3810" cap="flat" cmpd="sng" algn="ctr">
                      <a:solidFill>
                        <a:srgbClr val="DDDDDD"/>
                      </a:solidFill>
                      <a:prstDash val="solid"/>
                      <a:round/>
                      <a:headEnd type="none" w="med" len="med"/>
                      <a:tailEnd type="none" w="med" len="med"/>
                    </a:lnT>
                    <a:lnB w="3810" cap="flat" cmpd="sng" algn="ctr">
                      <a:solidFill>
                        <a:srgbClr val="DDDDDD"/>
                      </a:solidFill>
                      <a:prstDash val="solid"/>
                      <a:round/>
                      <a:headEnd type="none" w="med" len="med"/>
                      <a:tailEnd type="none" w="med" len="med"/>
                    </a:lnB>
                    <a:solidFill>
                      <a:srgbClr val="FFFFFF"/>
                    </a:solidFill>
                  </a:tcPr>
                </a:tc>
                <a:tc>
                  <a:txBody>
                    <a:bodyPr/>
                    <a:lstStyle/>
                    <a:p>
                      <a:pPr marL="0" indent="0">
                        <a:buNone/>
                      </a:pPr>
                      <a:r>
                        <a:rPr lang="en-US" sz="1300">
                          <a:solidFill>
                            <a:srgbClr val="030A18"/>
                          </a:solidFill>
                        </a:rPr>
                        <a:t>Image classification, tabular data</a:t>
                      </a:r>
                      <a:endParaRPr lang="en-US" sz="1300"/>
                    </a:p>
                  </a:txBody>
                  <a:tcPr marL="149345" marR="149345" marT="74673" marB="74673" anchor="ctr">
                    <a:lnL w="3810" cap="flat" cmpd="sng" algn="ctr">
                      <a:solidFill>
                        <a:srgbClr val="DDDDDD"/>
                      </a:solidFill>
                      <a:prstDash val="solid"/>
                      <a:round/>
                      <a:headEnd type="none" w="med" len="med"/>
                      <a:tailEnd type="none" w="med" len="med"/>
                    </a:lnL>
                    <a:lnR w="3810" cap="flat" cmpd="sng" algn="ctr">
                      <a:solidFill>
                        <a:srgbClr val="DDDDDD"/>
                      </a:solidFill>
                      <a:prstDash val="solid"/>
                      <a:round/>
                      <a:headEnd type="none" w="med" len="med"/>
                      <a:tailEnd type="none" w="med" len="med"/>
                    </a:lnR>
                    <a:lnT w="3810" cap="flat" cmpd="sng" algn="ctr">
                      <a:solidFill>
                        <a:srgbClr val="DDDDDD"/>
                      </a:solidFill>
                      <a:prstDash val="solid"/>
                      <a:round/>
                      <a:headEnd type="none" w="med" len="med"/>
                      <a:tailEnd type="none" w="med" len="med"/>
                    </a:lnT>
                    <a:lnB w="3810" cap="flat" cmpd="sng" algn="ctr">
                      <a:solidFill>
                        <a:srgbClr val="DDDDDD"/>
                      </a:solidFill>
                      <a:prstDash val="solid"/>
                      <a:round/>
                      <a:headEnd type="none" w="med" len="med"/>
                      <a:tailEnd type="none" w="med" len="med"/>
                    </a:lnB>
                    <a:solidFill>
                      <a:srgbClr val="FFFFFF"/>
                    </a:solidFill>
                  </a:tcPr>
                </a:tc>
                <a:tc>
                  <a:txBody>
                    <a:bodyPr/>
                    <a:lstStyle/>
                    <a:p>
                      <a:pPr marL="0" indent="0">
                        <a:buNone/>
                      </a:pPr>
                      <a:r>
                        <a:rPr lang="en-US" sz="1300" dirty="0">
                          <a:solidFill>
                            <a:srgbClr val="030A18"/>
                          </a:solidFill>
                        </a:rPr>
                        <a:t>Time series, NLP, weather forecasting!</a:t>
                      </a:r>
                      <a:endParaRPr lang="en-US" sz="1300" dirty="0"/>
                    </a:p>
                  </a:txBody>
                  <a:tcPr marL="149345" marR="149345" marT="74673" marB="74673" anchor="ctr">
                    <a:lnL w="3810" cap="flat" cmpd="sng" algn="ctr">
                      <a:solidFill>
                        <a:srgbClr val="DDDDDD"/>
                      </a:solidFill>
                      <a:prstDash val="solid"/>
                      <a:round/>
                      <a:headEnd type="none" w="med" len="med"/>
                      <a:tailEnd type="none" w="med" len="med"/>
                    </a:lnL>
                    <a:lnR w="3810" cap="flat" cmpd="sng" algn="ctr">
                      <a:solidFill>
                        <a:srgbClr val="DDDDDD"/>
                      </a:solidFill>
                      <a:prstDash val="solid"/>
                      <a:round/>
                      <a:headEnd type="none" w="med" len="med"/>
                      <a:tailEnd type="none" w="med" len="med"/>
                    </a:lnR>
                    <a:lnT w="3810" cap="flat" cmpd="sng" algn="ctr">
                      <a:solidFill>
                        <a:srgbClr val="DDDDDD"/>
                      </a:solidFill>
                      <a:prstDash val="solid"/>
                      <a:round/>
                      <a:headEnd type="none" w="med" len="med"/>
                      <a:tailEnd type="none" w="med" len="med"/>
                    </a:lnT>
                    <a:lnB w="3810"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Tree>
    <p:extLst>
      <p:ext uri="{BB962C8B-B14F-4D97-AF65-F5344CB8AC3E}">
        <p14:creationId xmlns:p14="http://schemas.microsoft.com/office/powerpoint/2010/main" val="135981422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E1945A-C620-0079-75F1-AAD1233428D2}"/>
              </a:ext>
            </a:extLst>
          </p:cNvPr>
          <p:cNvSpPr>
            <a:spLocks noGrp="1"/>
          </p:cNvSpPr>
          <p:nvPr>
            <p:ph type="title"/>
          </p:nvPr>
        </p:nvSpPr>
        <p:spPr/>
        <p:txBody>
          <a:bodyPr>
            <a:normAutofit/>
          </a:bodyPr>
          <a:lstStyle/>
          <a:p>
            <a:r>
              <a:rPr lang="en-US" dirty="0"/>
              <a:t>Recurrent Neural Networks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E63B7157-8535-FD65-F215-3A412FC713CA}"/>
                  </a:ext>
                </a:extLst>
              </p:cNvPr>
              <p:cNvSpPr>
                <a:spLocks noGrp="1"/>
              </p:cNvSpPr>
              <p:nvPr>
                <p:ph idx="1"/>
              </p:nvPr>
            </p:nvSpPr>
            <p:spPr>
              <a:xfrm>
                <a:off x="838200" y="1825625"/>
                <a:ext cx="6196781" cy="4149290"/>
              </a:xfrm>
            </p:spPr>
            <p:txBody>
              <a:bodyPr/>
              <a:lstStyle/>
              <a:p>
                <a:pPr marL="0" indent="0">
                  <a:buNone/>
                </a:pPr>
                <a:r>
                  <a:rPr lang="en-US" b="1" dirty="0"/>
                  <a:t>Definition</a:t>
                </a:r>
              </a:p>
              <a:p>
                <a:r>
                  <a:rPr lang="en-US" dirty="0"/>
                  <a:t>An RNN processes sequences by feeding the hidden state back into the network at each time step</a:t>
                </a:r>
              </a:p>
              <a:p>
                <a:pPr marL="0" indent="0">
                  <a:buNone/>
                </a:pPr>
                <a:endParaRPr lang="en-US" dirty="0"/>
              </a:p>
              <a:p>
                <a:pPr marL="0" indent="0">
                  <a:buNone/>
                </a:pPr>
                <a:r>
                  <a:rPr lang="en-US" b="1" dirty="0"/>
                  <a:t>Equations</a:t>
                </a:r>
              </a:p>
              <a:p>
                <a:pPr marL="0" indent="0">
                  <a:buNone/>
                </a:pPr>
                <a14:m>
                  <m:oMathPara xmlns:m="http://schemas.openxmlformats.org/officeDocument/2006/math">
                    <m:oMathParaPr>
                      <m:jc m:val="left"/>
                    </m:oMathParaPr>
                    <m:oMath xmlns:m="http://schemas.openxmlformats.org/officeDocument/2006/math">
                      <m:acc>
                        <m:accPr>
                          <m:chr m:val="̂"/>
                          <m:ctrlPr>
                            <a:rPr lang="en-IE" b="0" i="1" dirty="0" smtClean="0">
                              <a:latin typeface="Cambria Math" panose="02040503050406030204" pitchFamily="18" charset="0"/>
                            </a:rPr>
                          </m:ctrlPr>
                        </m:accPr>
                        <m:e>
                          <m:r>
                            <a:rPr lang="en-IE" b="0" i="1" dirty="0" smtClean="0">
                              <a:latin typeface="Cambria Math" panose="02040503050406030204" pitchFamily="18" charset="0"/>
                            </a:rPr>
                            <m:t>𝑦</m:t>
                          </m:r>
                        </m:e>
                      </m:acc>
                      <m:r>
                        <a:rPr lang="en-US" i="1" dirty="0" smtClean="0">
                          <a:latin typeface="Cambria Math" panose="02040503050406030204" pitchFamily="18" charset="0"/>
                        </a:rPr>
                        <m:t>ₜ =</m:t>
                      </m:r>
                      <m:r>
                        <a:rPr lang="en-IE" b="0" i="1" dirty="0" smtClean="0">
                          <a:latin typeface="Cambria Math" panose="02040503050406030204" pitchFamily="18" charset="0"/>
                        </a:rPr>
                        <m:t>𝑔</m:t>
                      </m:r>
                      <m:r>
                        <a:rPr lang="en-IE" b="0" i="1" dirty="0" smtClean="0">
                          <a:latin typeface="Cambria Math" panose="02040503050406030204" pitchFamily="18" charset="0"/>
                        </a:rPr>
                        <m:t>(</m:t>
                      </m:r>
                      <m:r>
                        <a:rPr lang="en-US" i="1" dirty="0" smtClean="0">
                          <a:latin typeface="Cambria Math" panose="02040503050406030204" pitchFamily="18" charset="0"/>
                        </a:rPr>
                        <m:t>𝑊</m:t>
                      </m:r>
                      <m:r>
                        <a:rPr lang="en-US" i="1" dirty="0" smtClean="0">
                          <a:latin typeface="Cambria Math" panose="02040503050406030204" pitchFamily="18" charset="0"/>
                        </a:rPr>
                        <m:t>ₕ</m:t>
                      </m:r>
                      <m:r>
                        <a:rPr lang="el-GR" i="1" dirty="0" smtClean="0">
                          <a:latin typeface="Cambria Math" panose="02040503050406030204" pitchFamily="18" charset="0"/>
                        </a:rPr>
                        <m:t>ᵧ·</m:t>
                      </m:r>
                      <m:r>
                        <a:rPr lang="en-US" i="1" dirty="0" smtClean="0">
                          <a:latin typeface="Cambria Math" panose="02040503050406030204" pitchFamily="18" charset="0"/>
                        </a:rPr>
                        <m:t>h</m:t>
                      </m:r>
                      <m:r>
                        <a:rPr lang="en-US" i="1" dirty="0" smtClean="0">
                          <a:latin typeface="Cambria Math" panose="02040503050406030204" pitchFamily="18" charset="0"/>
                        </a:rPr>
                        <m:t>ₜ + </m:t>
                      </m:r>
                      <m:r>
                        <a:rPr lang="en-US" i="1" dirty="0" smtClean="0">
                          <a:latin typeface="Cambria Math" panose="02040503050406030204" pitchFamily="18" charset="0"/>
                        </a:rPr>
                        <m:t>𝑏</m:t>
                      </m:r>
                      <m:r>
                        <a:rPr lang="el-GR" i="1" dirty="0" smtClean="0">
                          <a:latin typeface="Cambria Math" panose="02040503050406030204" pitchFamily="18" charset="0"/>
                        </a:rPr>
                        <m:t>ᵧ</m:t>
                      </m:r>
                      <m:r>
                        <a:rPr lang="en-US" i="1" dirty="0" smtClean="0">
                          <a:latin typeface="Cambria Math" panose="02040503050406030204" pitchFamily="18" charset="0"/>
                        </a:rPr>
                        <m:t> </m:t>
                      </m:r>
                      <m:r>
                        <a:rPr lang="en-IE" b="0" i="1" dirty="0" smtClean="0">
                          <a:latin typeface="Cambria Math" panose="02040503050406030204" pitchFamily="18" charset="0"/>
                        </a:rPr>
                        <m:t>)</m:t>
                      </m:r>
                      <m:r>
                        <a:rPr lang="en-US" i="1" dirty="0" smtClean="0">
                          <a:latin typeface="Cambria Math" panose="02040503050406030204" pitchFamily="18" charset="0"/>
                        </a:rPr>
                        <m:t>=</m:t>
                      </m:r>
                      <m:r>
                        <a:rPr lang="en-IE" b="0" i="1" dirty="0" smtClean="0">
                          <a:latin typeface="Cambria Math" panose="02040503050406030204" pitchFamily="18" charset="0"/>
                        </a:rPr>
                        <m:t>𝑔</m:t>
                      </m:r>
                      <m:r>
                        <a:rPr lang="en-US" i="1" dirty="0" smtClean="0">
                          <a:latin typeface="Cambria Math" panose="02040503050406030204" pitchFamily="18" charset="0"/>
                        </a:rPr>
                        <m:t>⁡(</m:t>
                      </m:r>
                      <m:r>
                        <a:rPr lang="en-US" i="1" dirty="0" smtClean="0">
                          <a:latin typeface="Cambria Math" panose="02040503050406030204" pitchFamily="18" charset="0"/>
                        </a:rPr>
                        <m:t>𝑊</m:t>
                      </m:r>
                      <m:r>
                        <a:rPr lang="en-US" i="1" dirty="0" smtClean="0">
                          <a:latin typeface="Cambria Math" panose="02040503050406030204" pitchFamily="18" charset="0"/>
                        </a:rPr>
                        <m:t>ₕₕ·</m:t>
                      </m:r>
                      <m:r>
                        <a:rPr lang="en-US" i="1" dirty="0" smtClean="0">
                          <a:latin typeface="Cambria Math" panose="02040503050406030204" pitchFamily="18" charset="0"/>
                        </a:rPr>
                        <m:t>h</m:t>
                      </m:r>
                      <m:r>
                        <a:rPr lang="en-US" i="1" dirty="0" smtClean="0">
                          <a:latin typeface="Cambria Math" panose="02040503050406030204" pitchFamily="18" charset="0"/>
                        </a:rPr>
                        <m:t>ₜ₋₁ + </m:t>
                      </m:r>
                      <m:r>
                        <a:rPr lang="en-US" i="1" dirty="0" smtClean="0">
                          <a:latin typeface="Cambria Math" panose="02040503050406030204" pitchFamily="18" charset="0"/>
                        </a:rPr>
                        <m:t>𝑊</m:t>
                      </m:r>
                      <m:r>
                        <a:rPr lang="en-US" i="1" dirty="0" smtClean="0">
                          <a:latin typeface="Cambria Math" panose="02040503050406030204" pitchFamily="18" charset="0"/>
                        </a:rPr>
                        <m:t>ₓₕ·</m:t>
                      </m:r>
                      <m:r>
                        <a:rPr lang="en-US" i="1" dirty="0" smtClean="0">
                          <a:latin typeface="Cambria Math" panose="02040503050406030204" pitchFamily="18" charset="0"/>
                        </a:rPr>
                        <m:t>𝑥</m:t>
                      </m:r>
                      <m:r>
                        <a:rPr lang="en-US" i="1" dirty="0" smtClean="0">
                          <a:latin typeface="Cambria Math" panose="02040503050406030204" pitchFamily="18" charset="0"/>
                        </a:rPr>
                        <m:t>ₜ + </m:t>
                      </m:r>
                      <m:r>
                        <a:rPr lang="en-US" i="1" dirty="0">
                          <a:latin typeface="Cambria Math" panose="02040503050406030204" pitchFamily="18" charset="0"/>
                        </a:rPr>
                        <m:t>𝑏</m:t>
                      </m:r>
                      <m:r>
                        <a:rPr lang="el-GR" i="1" dirty="0">
                          <a:latin typeface="Cambria Math" panose="02040503050406030204" pitchFamily="18" charset="0"/>
                        </a:rPr>
                        <m:t>ᵧ</m:t>
                      </m:r>
                      <m:r>
                        <a:rPr lang="en-US" i="1" dirty="0" smtClean="0">
                          <a:latin typeface="Cambria Math" panose="02040503050406030204" pitchFamily="18" charset="0"/>
                        </a:rPr>
                        <m:t>)</m:t>
                      </m:r>
                    </m:oMath>
                  </m:oMathPara>
                </a14:m>
                <a:endParaRPr lang="en-US" b="1" dirty="0"/>
              </a:p>
              <a:p>
                <a:pPr marL="0" indent="0">
                  <a:buNone/>
                </a:pPr>
                <a:endParaRPr lang="el-GR" dirty="0"/>
              </a:p>
              <a:p>
                <a:endParaRPr lang="el-GR" dirty="0"/>
              </a:p>
              <a:p>
                <a:endParaRPr lang="en-US" dirty="0"/>
              </a:p>
            </p:txBody>
          </p:sp>
        </mc:Choice>
        <mc:Fallback xmlns="">
          <p:sp>
            <p:nvSpPr>
              <p:cNvPr id="3" name="Content Placeholder 2">
                <a:extLst>
                  <a:ext uri="{FF2B5EF4-FFF2-40B4-BE49-F238E27FC236}">
                    <a16:creationId xmlns:a16="http://schemas.microsoft.com/office/drawing/2014/main" id="{E63B7157-8535-FD65-F215-3A412FC713CA}"/>
                  </a:ext>
                </a:extLst>
              </p:cNvPr>
              <p:cNvSpPr>
                <a:spLocks noGrp="1" noRot="1" noChangeAspect="1" noMove="1" noResize="1" noEditPoints="1" noAdjustHandles="1" noChangeArrowheads="1" noChangeShapeType="1" noTextEdit="1"/>
              </p:cNvSpPr>
              <p:nvPr>
                <p:ph idx="1"/>
              </p:nvPr>
            </p:nvSpPr>
            <p:spPr>
              <a:xfrm>
                <a:off x="838200" y="1825625"/>
                <a:ext cx="6196781" cy="4149290"/>
              </a:xfrm>
              <a:blipFill>
                <a:blip r:embed="rId3"/>
                <a:stretch>
                  <a:fillRect l="-2049" t="-2439"/>
                </a:stretch>
              </a:blipFill>
            </p:spPr>
            <p:txBody>
              <a:bodyPr/>
              <a:lstStyle/>
              <a:p>
                <a:r>
                  <a:rPr lang="en-US">
                    <a:noFill/>
                  </a:rPr>
                  <a:t> </a:t>
                </a:r>
              </a:p>
            </p:txBody>
          </p:sp>
        </mc:Fallback>
      </mc:AlternateContent>
      <p:pic>
        <p:nvPicPr>
          <p:cNvPr id="15" name="Picture 14">
            <a:extLst>
              <a:ext uri="{FF2B5EF4-FFF2-40B4-BE49-F238E27FC236}">
                <a16:creationId xmlns:a16="http://schemas.microsoft.com/office/drawing/2014/main" id="{F8F071A3-F288-0D5D-7A6F-198AD65A460D}"/>
              </a:ext>
            </a:extLst>
          </p:cNvPr>
          <p:cNvPicPr>
            <a:picLocks noChangeAspect="1"/>
          </p:cNvPicPr>
          <p:nvPr/>
        </p:nvPicPr>
        <p:blipFill>
          <a:blip r:embed="rId4"/>
          <a:stretch>
            <a:fillRect/>
          </a:stretch>
        </p:blipFill>
        <p:spPr>
          <a:xfrm>
            <a:off x="7130846" y="2438990"/>
            <a:ext cx="4584290" cy="1561883"/>
          </a:xfrm>
          <a:prstGeom prst="rect">
            <a:avLst/>
          </a:prstGeom>
        </p:spPr>
      </p:pic>
      <p:sp>
        <p:nvSpPr>
          <p:cNvPr id="16" name="TextBox 15">
            <a:extLst>
              <a:ext uri="{FF2B5EF4-FFF2-40B4-BE49-F238E27FC236}">
                <a16:creationId xmlns:a16="http://schemas.microsoft.com/office/drawing/2014/main" id="{A50B41E4-3789-2F08-2908-756605AFE3E5}"/>
              </a:ext>
            </a:extLst>
          </p:cNvPr>
          <p:cNvSpPr txBox="1"/>
          <p:nvPr/>
        </p:nvSpPr>
        <p:spPr>
          <a:xfrm>
            <a:off x="838200" y="6292820"/>
            <a:ext cx="9313607" cy="246221"/>
          </a:xfrm>
          <a:prstGeom prst="rect">
            <a:avLst/>
          </a:prstGeom>
          <a:noFill/>
        </p:spPr>
        <p:txBody>
          <a:bodyPr wrap="square" rtlCol="0">
            <a:spAutoFit/>
          </a:bodyPr>
          <a:lstStyle/>
          <a:p>
            <a:r>
              <a:rPr lang="en-US" sz="1000" dirty="0"/>
              <a:t>Picture from https://</a:t>
            </a:r>
            <a:r>
              <a:rPr lang="en-US" sz="1000" dirty="0" err="1"/>
              <a:t>www.techtarget.com</a:t>
            </a:r>
            <a:r>
              <a:rPr lang="en-US" sz="1000" dirty="0"/>
              <a:t>/</a:t>
            </a:r>
            <a:r>
              <a:rPr lang="en-US" sz="1000" dirty="0" err="1"/>
              <a:t>searchenterpriseai</a:t>
            </a:r>
            <a:r>
              <a:rPr lang="en-US" sz="1000" dirty="0"/>
              <a:t>/definition/recurrent-neural-networks</a:t>
            </a:r>
          </a:p>
        </p:txBody>
      </p:sp>
    </p:spTree>
    <p:extLst>
      <p:ext uri="{BB962C8B-B14F-4D97-AF65-F5344CB8AC3E}">
        <p14:creationId xmlns:p14="http://schemas.microsoft.com/office/powerpoint/2010/main" val="225305569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58544C-08A6-B01D-F6E8-C36646CF5A04}"/>
              </a:ext>
            </a:extLst>
          </p:cNvPr>
          <p:cNvSpPr>
            <a:spLocks noGrp="1"/>
          </p:cNvSpPr>
          <p:nvPr>
            <p:ph type="title"/>
          </p:nvPr>
        </p:nvSpPr>
        <p:spPr/>
        <p:txBody>
          <a:bodyPr>
            <a:normAutofit/>
          </a:bodyPr>
          <a:lstStyle/>
          <a:p>
            <a:r>
              <a:rPr lang="en-US" dirty="0"/>
              <a:t>Training RNNs &amp; BPTT</a:t>
            </a:r>
          </a:p>
        </p:txBody>
      </p:sp>
      <p:sp>
        <p:nvSpPr>
          <p:cNvPr id="3" name="Content Placeholder 2">
            <a:extLst>
              <a:ext uri="{FF2B5EF4-FFF2-40B4-BE49-F238E27FC236}">
                <a16:creationId xmlns:a16="http://schemas.microsoft.com/office/drawing/2014/main" id="{F312D2DF-D94F-082F-E22F-80C14961363C}"/>
              </a:ext>
            </a:extLst>
          </p:cNvPr>
          <p:cNvSpPr>
            <a:spLocks noGrp="1"/>
          </p:cNvSpPr>
          <p:nvPr>
            <p:ph idx="1"/>
          </p:nvPr>
        </p:nvSpPr>
        <p:spPr>
          <a:xfrm>
            <a:off x="838200" y="1825625"/>
            <a:ext cx="6329516" cy="4149290"/>
          </a:xfrm>
        </p:spPr>
        <p:txBody>
          <a:bodyPr>
            <a:normAutofit fontScale="92500" lnSpcReduction="10000"/>
          </a:bodyPr>
          <a:lstStyle/>
          <a:p>
            <a:pPr marL="0" indent="0">
              <a:buNone/>
            </a:pPr>
            <a:r>
              <a:rPr lang="en-US" b="1" dirty="0"/>
              <a:t>Backpropagation Through Time</a:t>
            </a:r>
          </a:p>
          <a:p>
            <a:r>
              <a:rPr lang="en-US" dirty="0"/>
              <a:t>To train an RNN, the sequence is unrolled over time and gradients are accumulated across all time steps. This process is known as backpropagation through time (BPTT)</a:t>
            </a:r>
          </a:p>
          <a:p>
            <a:endParaRPr lang="en-US" dirty="0"/>
          </a:p>
          <a:p>
            <a:pPr marL="0" indent="0">
              <a:buNone/>
            </a:pPr>
            <a:r>
              <a:rPr lang="en-US" b="1" dirty="0"/>
              <a:t>Challenges</a:t>
            </a:r>
          </a:p>
          <a:p>
            <a:r>
              <a:rPr lang="en-US" dirty="0"/>
              <a:t>Gradients can explode or vanish when propagated through many time steps, making learning long‑range dependencies difficult</a:t>
            </a:r>
          </a:p>
          <a:p>
            <a:endParaRPr lang="en-US" dirty="0"/>
          </a:p>
          <a:p>
            <a:endParaRPr lang="en-US" dirty="0"/>
          </a:p>
        </p:txBody>
      </p:sp>
      <p:graphicFrame>
        <p:nvGraphicFramePr>
          <p:cNvPr id="4" name="Chart 0">
            <a:extLst>
              <a:ext uri="{FF2B5EF4-FFF2-40B4-BE49-F238E27FC236}">
                <a16:creationId xmlns:a16="http://schemas.microsoft.com/office/drawing/2014/main" id="{7E0F53C4-06DC-B7F6-1971-CAFD86AAAD89}"/>
              </a:ext>
            </a:extLst>
          </p:cNvPr>
          <p:cNvGraphicFramePr/>
          <p:nvPr>
            <p:extLst>
              <p:ext uri="{D42A27DB-BD31-4B8C-83A1-F6EECF244321}">
                <p14:modId xmlns:p14="http://schemas.microsoft.com/office/powerpoint/2010/main" val="3245716691"/>
              </p:ext>
            </p:extLst>
          </p:nvPr>
        </p:nvGraphicFramePr>
        <p:xfrm>
          <a:off x="7426304" y="1825625"/>
          <a:ext cx="4267200" cy="3048000"/>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11265564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FCCAFE1-45A8-A7C2-ADC8-ACE7ECF0AF96}"/>
              </a:ext>
            </a:extLst>
          </p:cNvPr>
          <p:cNvSpPr>
            <a:spLocks noGrp="1"/>
          </p:cNvSpPr>
          <p:nvPr>
            <p:ph type="title"/>
          </p:nvPr>
        </p:nvSpPr>
        <p:spPr/>
        <p:txBody>
          <a:bodyPr/>
          <a:lstStyle/>
          <a:p>
            <a:r>
              <a:rPr lang="en-US" dirty="0"/>
              <a:t>A weather prediction task</a:t>
            </a:r>
          </a:p>
        </p:txBody>
      </p:sp>
      <p:sp>
        <p:nvSpPr>
          <p:cNvPr id="3" name="Content Placeholder 2">
            <a:extLst>
              <a:ext uri="{FF2B5EF4-FFF2-40B4-BE49-F238E27FC236}">
                <a16:creationId xmlns:a16="http://schemas.microsoft.com/office/drawing/2014/main" id="{5B43D18F-294A-BD28-62A7-037B2BFEF8C1}"/>
              </a:ext>
            </a:extLst>
          </p:cNvPr>
          <p:cNvSpPr>
            <a:spLocks noGrp="1"/>
          </p:cNvSpPr>
          <p:nvPr>
            <p:ph idx="1"/>
          </p:nvPr>
        </p:nvSpPr>
        <p:spPr>
          <a:xfrm>
            <a:off x="838200" y="1825625"/>
            <a:ext cx="5879690" cy="4149290"/>
          </a:xfrm>
        </p:spPr>
        <p:txBody>
          <a:bodyPr>
            <a:normAutofit/>
          </a:bodyPr>
          <a:lstStyle/>
          <a:p>
            <a:r>
              <a:rPr lang="en-US" dirty="0"/>
              <a:t>Use historical measurements of temperature, rainfall and humidity to predict the next day’s weather</a:t>
            </a:r>
          </a:p>
          <a:p>
            <a:r>
              <a:rPr lang="en-US" dirty="0"/>
              <a:t>3 variables: temperature (°C), rainfall (mm), humidity (%)</a:t>
            </a:r>
          </a:p>
          <a:p>
            <a:r>
              <a:rPr lang="en-US" dirty="0"/>
              <a:t>We consider a 5‑day window to forecast the 6th day</a:t>
            </a:r>
          </a:p>
          <a:p>
            <a:r>
              <a:rPr lang="en-US" dirty="0">
                <a:solidFill>
                  <a:srgbClr val="009749"/>
                </a:solidFill>
              </a:rPr>
              <a:t>Let’s go through a simple RNN on the board</a:t>
            </a:r>
          </a:p>
          <a:p>
            <a:endParaRPr lang="en-US" dirty="0"/>
          </a:p>
          <a:p>
            <a:endParaRPr lang="en-US" dirty="0"/>
          </a:p>
        </p:txBody>
      </p:sp>
      <p:graphicFrame>
        <p:nvGraphicFramePr>
          <p:cNvPr id="4" name="Table 0">
            <a:extLst>
              <a:ext uri="{FF2B5EF4-FFF2-40B4-BE49-F238E27FC236}">
                <a16:creationId xmlns:a16="http://schemas.microsoft.com/office/drawing/2014/main" id="{94F04368-301D-E226-B8DA-00C4236273E8}"/>
              </a:ext>
            </a:extLst>
          </p:cNvPr>
          <p:cNvGraphicFramePr>
            <a:graphicFrameLocks noGrp="1"/>
          </p:cNvGraphicFramePr>
          <p:nvPr>
            <p:extLst>
              <p:ext uri="{D42A27DB-BD31-4B8C-83A1-F6EECF244321}">
                <p14:modId xmlns:p14="http://schemas.microsoft.com/office/powerpoint/2010/main" val="3167199912"/>
              </p:ext>
            </p:extLst>
          </p:nvPr>
        </p:nvGraphicFramePr>
        <p:xfrm>
          <a:off x="7057104" y="2150806"/>
          <a:ext cx="4632960" cy="2438400"/>
        </p:xfrm>
        <a:graphic>
          <a:graphicData uri="http://schemas.openxmlformats.org/drawingml/2006/table">
            <a:tbl>
              <a:tblPr/>
              <a:tblGrid>
                <a:gridCol w="1158240">
                  <a:extLst>
                    <a:ext uri="{9D8B030D-6E8A-4147-A177-3AD203B41FA5}">
                      <a16:colId xmlns:a16="http://schemas.microsoft.com/office/drawing/2014/main" val="20000"/>
                    </a:ext>
                  </a:extLst>
                </a:gridCol>
                <a:gridCol w="1158240">
                  <a:extLst>
                    <a:ext uri="{9D8B030D-6E8A-4147-A177-3AD203B41FA5}">
                      <a16:colId xmlns:a16="http://schemas.microsoft.com/office/drawing/2014/main" val="20001"/>
                    </a:ext>
                  </a:extLst>
                </a:gridCol>
                <a:gridCol w="1158240">
                  <a:extLst>
                    <a:ext uri="{9D8B030D-6E8A-4147-A177-3AD203B41FA5}">
                      <a16:colId xmlns:a16="http://schemas.microsoft.com/office/drawing/2014/main" val="20002"/>
                    </a:ext>
                  </a:extLst>
                </a:gridCol>
                <a:gridCol w="1158240">
                  <a:extLst>
                    <a:ext uri="{9D8B030D-6E8A-4147-A177-3AD203B41FA5}">
                      <a16:colId xmlns:a16="http://schemas.microsoft.com/office/drawing/2014/main" val="20003"/>
                    </a:ext>
                  </a:extLst>
                </a:gridCol>
              </a:tblGrid>
              <a:tr h="406400">
                <a:tc>
                  <a:txBody>
                    <a:bodyPr/>
                    <a:lstStyle/>
                    <a:p>
                      <a:pPr marL="0" indent="0">
                        <a:buNone/>
                      </a:pPr>
                      <a:r>
                        <a:rPr lang="en-US" sz="1100" b="1" dirty="0">
                          <a:solidFill>
                            <a:srgbClr val="030A18"/>
                          </a:solidFill>
                        </a:rPr>
                        <a:t>Day</a:t>
                      </a:r>
                      <a:endParaRPr lang="en-US" sz="1100" dirty="0"/>
                    </a:p>
                  </a:txBody>
                  <a:tcPr marL="121920" marR="121920" marT="60960" marB="60960" anchor="ctr">
                    <a:lnL w="3810" cap="flat" cmpd="sng" algn="ctr">
                      <a:solidFill>
                        <a:srgbClr val="DDDDDD"/>
                      </a:solidFill>
                      <a:prstDash val="solid"/>
                      <a:round/>
                      <a:headEnd type="none" w="med" len="med"/>
                      <a:tailEnd type="none" w="med" len="med"/>
                    </a:lnL>
                    <a:lnR w="3810" cap="flat" cmpd="sng" algn="ctr">
                      <a:solidFill>
                        <a:srgbClr val="DDDDDD"/>
                      </a:solidFill>
                      <a:prstDash val="solid"/>
                      <a:round/>
                      <a:headEnd type="none" w="med" len="med"/>
                      <a:tailEnd type="none" w="med" len="med"/>
                    </a:lnR>
                    <a:lnT w="3810" cap="flat" cmpd="sng" algn="ctr">
                      <a:solidFill>
                        <a:srgbClr val="DDDDDD"/>
                      </a:solidFill>
                      <a:prstDash val="solid"/>
                      <a:round/>
                      <a:headEnd type="none" w="med" len="med"/>
                      <a:tailEnd type="none" w="med" len="med"/>
                    </a:lnT>
                    <a:lnB w="3810" cap="flat" cmpd="sng" algn="ctr">
                      <a:solidFill>
                        <a:srgbClr val="DDDDDD"/>
                      </a:solidFill>
                      <a:prstDash val="solid"/>
                      <a:round/>
                      <a:headEnd type="none" w="med" len="med"/>
                      <a:tailEnd type="none" w="med" len="med"/>
                    </a:lnB>
                    <a:solidFill>
                      <a:srgbClr val="F5F5F5"/>
                    </a:solidFill>
                  </a:tcPr>
                </a:tc>
                <a:tc>
                  <a:txBody>
                    <a:bodyPr/>
                    <a:lstStyle/>
                    <a:p>
                      <a:pPr marL="0" indent="0">
                        <a:buNone/>
                      </a:pPr>
                      <a:r>
                        <a:rPr lang="en-US" sz="1100" b="1" dirty="0">
                          <a:solidFill>
                            <a:srgbClr val="030A18"/>
                          </a:solidFill>
                        </a:rPr>
                        <a:t>Temp (°C)</a:t>
                      </a:r>
                      <a:endParaRPr lang="en-US" sz="1100" dirty="0"/>
                    </a:p>
                  </a:txBody>
                  <a:tcPr marL="121920" marR="121920" marT="60960" marB="60960" anchor="ctr">
                    <a:lnL w="3810" cap="flat" cmpd="sng" algn="ctr">
                      <a:solidFill>
                        <a:srgbClr val="DDDDDD"/>
                      </a:solidFill>
                      <a:prstDash val="solid"/>
                      <a:round/>
                      <a:headEnd type="none" w="med" len="med"/>
                      <a:tailEnd type="none" w="med" len="med"/>
                    </a:lnL>
                    <a:lnR w="3810" cap="flat" cmpd="sng" algn="ctr">
                      <a:solidFill>
                        <a:srgbClr val="DDDDDD"/>
                      </a:solidFill>
                      <a:prstDash val="solid"/>
                      <a:round/>
                      <a:headEnd type="none" w="med" len="med"/>
                      <a:tailEnd type="none" w="med" len="med"/>
                    </a:lnR>
                    <a:lnT w="3810" cap="flat" cmpd="sng" algn="ctr">
                      <a:solidFill>
                        <a:srgbClr val="DDDDDD"/>
                      </a:solidFill>
                      <a:prstDash val="solid"/>
                      <a:round/>
                      <a:headEnd type="none" w="med" len="med"/>
                      <a:tailEnd type="none" w="med" len="med"/>
                    </a:lnT>
                    <a:lnB w="3810" cap="flat" cmpd="sng" algn="ctr">
                      <a:solidFill>
                        <a:srgbClr val="DDDDDD"/>
                      </a:solidFill>
                      <a:prstDash val="solid"/>
                      <a:round/>
                      <a:headEnd type="none" w="med" len="med"/>
                      <a:tailEnd type="none" w="med" len="med"/>
                    </a:lnB>
                    <a:solidFill>
                      <a:srgbClr val="F5F5F5"/>
                    </a:solidFill>
                  </a:tcPr>
                </a:tc>
                <a:tc>
                  <a:txBody>
                    <a:bodyPr/>
                    <a:lstStyle/>
                    <a:p>
                      <a:pPr marL="0" indent="0">
                        <a:buNone/>
                      </a:pPr>
                      <a:r>
                        <a:rPr lang="en-US" sz="1100" b="1" dirty="0">
                          <a:solidFill>
                            <a:srgbClr val="030A18"/>
                          </a:solidFill>
                        </a:rPr>
                        <a:t>Rain (mm)</a:t>
                      </a:r>
                      <a:endParaRPr lang="en-US" sz="1100" dirty="0"/>
                    </a:p>
                  </a:txBody>
                  <a:tcPr marL="121920" marR="121920" marT="60960" marB="60960" anchor="ctr">
                    <a:lnL w="3810" cap="flat" cmpd="sng" algn="ctr">
                      <a:solidFill>
                        <a:srgbClr val="DDDDDD"/>
                      </a:solidFill>
                      <a:prstDash val="solid"/>
                      <a:round/>
                      <a:headEnd type="none" w="med" len="med"/>
                      <a:tailEnd type="none" w="med" len="med"/>
                    </a:lnL>
                    <a:lnR w="3810" cap="flat" cmpd="sng" algn="ctr">
                      <a:solidFill>
                        <a:srgbClr val="DDDDDD"/>
                      </a:solidFill>
                      <a:prstDash val="solid"/>
                      <a:round/>
                      <a:headEnd type="none" w="med" len="med"/>
                      <a:tailEnd type="none" w="med" len="med"/>
                    </a:lnR>
                    <a:lnT w="3810" cap="flat" cmpd="sng" algn="ctr">
                      <a:solidFill>
                        <a:srgbClr val="DDDDDD"/>
                      </a:solidFill>
                      <a:prstDash val="solid"/>
                      <a:round/>
                      <a:headEnd type="none" w="med" len="med"/>
                      <a:tailEnd type="none" w="med" len="med"/>
                    </a:lnT>
                    <a:lnB w="3810" cap="flat" cmpd="sng" algn="ctr">
                      <a:solidFill>
                        <a:srgbClr val="DDDDDD"/>
                      </a:solidFill>
                      <a:prstDash val="solid"/>
                      <a:round/>
                      <a:headEnd type="none" w="med" len="med"/>
                      <a:tailEnd type="none" w="med" len="med"/>
                    </a:lnB>
                    <a:solidFill>
                      <a:srgbClr val="F5F5F5"/>
                    </a:solidFill>
                  </a:tcPr>
                </a:tc>
                <a:tc>
                  <a:txBody>
                    <a:bodyPr/>
                    <a:lstStyle/>
                    <a:p>
                      <a:pPr marL="0" indent="0">
                        <a:buNone/>
                      </a:pPr>
                      <a:r>
                        <a:rPr lang="en-US" sz="1100" b="1" dirty="0">
                          <a:solidFill>
                            <a:srgbClr val="030A18"/>
                          </a:solidFill>
                        </a:rPr>
                        <a:t>Humidity (%)</a:t>
                      </a:r>
                      <a:endParaRPr lang="en-US" sz="1100" dirty="0"/>
                    </a:p>
                  </a:txBody>
                  <a:tcPr marL="121920" marR="121920" marT="60960" marB="60960" anchor="ctr">
                    <a:lnL w="3810" cap="flat" cmpd="sng" algn="ctr">
                      <a:solidFill>
                        <a:srgbClr val="DDDDDD"/>
                      </a:solidFill>
                      <a:prstDash val="solid"/>
                      <a:round/>
                      <a:headEnd type="none" w="med" len="med"/>
                      <a:tailEnd type="none" w="med" len="med"/>
                    </a:lnL>
                    <a:lnR w="3810" cap="flat" cmpd="sng" algn="ctr">
                      <a:solidFill>
                        <a:srgbClr val="DDDDDD"/>
                      </a:solidFill>
                      <a:prstDash val="solid"/>
                      <a:round/>
                      <a:headEnd type="none" w="med" len="med"/>
                      <a:tailEnd type="none" w="med" len="med"/>
                    </a:lnR>
                    <a:lnT w="3810" cap="flat" cmpd="sng" algn="ctr">
                      <a:solidFill>
                        <a:srgbClr val="DDDDDD"/>
                      </a:solidFill>
                      <a:prstDash val="solid"/>
                      <a:round/>
                      <a:headEnd type="none" w="med" len="med"/>
                      <a:tailEnd type="none" w="med" len="med"/>
                    </a:lnT>
                    <a:lnB w="3810" cap="flat" cmpd="sng" algn="ctr">
                      <a:solidFill>
                        <a:srgbClr val="DDDDDD"/>
                      </a:solidFill>
                      <a:prstDash val="solid"/>
                      <a:round/>
                      <a:headEnd type="none" w="med" len="med"/>
                      <a:tailEnd type="none" w="med" len="med"/>
                    </a:lnB>
                    <a:solidFill>
                      <a:srgbClr val="F5F5F5"/>
                    </a:solidFill>
                  </a:tcPr>
                </a:tc>
                <a:extLst>
                  <a:ext uri="{0D108BD9-81ED-4DB2-BD59-A6C34878D82A}">
                    <a16:rowId xmlns:a16="http://schemas.microsoft.com/office/drawing/2014/main" val="10000"/>
                  </a:ext>
                </a:extLst>
              </a:tr>
              <a:tr h="406400">
                <a:tc>
                  <a:txBody>
                    <a:bodyPr/>
                    <a:lstStyle/>
                    <a:p>
                      <a:pPr marL="0" indent="0">
                        <a:buNone/>
                      </a:pPr>
                      <a:r>
                        <a:rPr lang="en-US" sz="1100" dirty="0">
                          <a:solidFill>
                            <a:srgbClr val="030A18"/>
                          </a:solidFill>
                        </a:rPr>
                        <a:t>D1</a:t>
                      </a:r>
                      <a:endParaRPr lang="en-US" sz="1100" dirty="0"/>
                    </a:p>
                  </a:txBody>
                  <a:tcPr marL="121920" marR="121920" marT="60960" marB="60960" anchor="ctr">
                    <a:lnL w="3810" cap="flat" cmpd="sng" algn="ctr">
                      <a:solidFill>
                        <a:srgbClr val="DDDDDD"/>
                      </a:solidFill>
                      <a:prstDash val="solid"/>
                      <a:round/>
                      <a:headEnd type="none" w="med" len="med"/>
                      <a:tailEnd type="none" w="med" len="med"/>
                    </a:lnL>
                    <a:lnR w="3810" cap="flat" cmpd="sng" algn="ctr">
                      <a:solidFill>
                        <a:srgbClr val="DDDDDD"/>
                      </a:solidFill>
                      <a:prstDash val="solid"/>
                      <a:round/>
                      <a:headEnd type="none" w="med" len="med"/>
                      <a:tailEnd type="none" w="med" len="med"/>
                    </a:lnR>
                    <a:lnT w="3810" cap="flat" cmpd="sng" algn="ctr">
                      <a:solidFill>
                        <a:srgbClr val="DDDDDD"/>
                      </a:solidFill>
                      <a:prstDash val="solid"/>
                      <a:round/>
                      <a:headEnd type="none" w="med" len="med"/>
                      <a:tailEnd type="none" w="med" len="med"/>
                    </a:lnT>
                    <a:lnB w="3810" cap="flat" cmpd="sng" algn="ctr">
                      <a:solidFill>
                        <a:srgbClr val="DDDDDD"/>
                      </a:solidFill>
                      <a:prstDash val="solid"/>
                      <a:round/>
                      <a:headEnd type="none" w="med" len="med"/>
                      <a:tailEnd type="none" w="med" len="med"/>
                    </a:lnB>
                    <a:solidFill>
                      <a:srgbClr val="FFFFFF"/>
                    </a:solidFill>
                  </a:tcPr>
                </a:tc>
                <a:tc>
                  <a:txBody>
                    <a:bodyPr/>
                    <a:lstStyle/>
                    <a:p>
                      <a:pPr marL="0" indent="0">
                        <a:buNone/>
                      </a:pPr>
                      <a:r>
                        <a:rPr lang="en-US" sz="1100" dirty="0">
                          <a:solidFill>
                            <a:srgbClr val="030A18"/>
                          </a:solidFill>
                        </a:rPr>
                        <a:t>20.9</a:t>
                      </a:r>
                      <a:endParaRPr lang="en-US" sz="1100" dirty="0"/>
                    </a:p>
                  </a:txBody>
                  <a:tcPr marL="121920" marR="121920" marT="60960" marB="60960" anchor="ctr">
                    <a:lnL w="3810" cap="flat" cmpd="sng" algn="ctr">
                      <a:solidFill>
                        <a:srgbClr val="DDDDDD"/>
                      </a:solidFill>
                      <a:prstDash val="solid"/>
                      <a:round/>
                      <a:headEnd type="none" w="med" len="med"/>
                      <a:tailEnd type="none" w="med" len="med"/>
                    </a:lnL>
                    <a:lnR w="3810" cap="flat" cmpd="sng" algn="ctr">
                      <a:solidFill>
                        <a:srgbClr val="DDDDDD"/>
                      </a:solidFill>
                      <a:prstDash val="solid"/>
                      <a:round/>
                      <a:headEnd type="none" w="med" len="med"/>
                      <a:tailEnd type="none" w="med" len="med"/>
                    </a:lnR>
                    <a:lnT w="3810" cap="flat" cmpd="sng" algn="ctr">
                      <a:solidFill>
                        <a:srgbClr val="DDDDDD"/>
                      </a:solidFill>
                      <a:prstDash val="solid"/>
                      <a:round/>
                      <a:headEnd type="none" w="med" len="med"/>
                      <a:tailEnd type="none" w="med" len="med"/>
                    </a:lnT>
                    <a:lnB w="3810" cap="flat" cmpd="sng" algn="ctr">
                      <a:solidFill>
                        <a:srgbClr val="DDDDDD"/>
                      </a:solidFill>
                      <a:prstDash val="solid"/>
                      <a:round/>
                      <a:headEnd type="none" w="med" len="med"/>
                      <a:tailEnd type="none" w="med" len="med"/>
                    </a:lnB>
                    <a:solidFill>
                      <a:srgbClr val="FFFFFF"/>
                    </a:solidFill>
                  </a:tcPr>
                </a:tc>
                <a:tc>
                  <a:txBody>
                    <a:bodyPr/>
                    <a:lstStyle/>
                    <a:p>
                      <a:pPr marL="0" indent="0">
                        <a:buNone/>
                      </a:pPr>
                      <a:r>
                        <a:rPr lang="en-US" sz="1100" dirty="0">
                          <a:solidFill>
                            <a:srgbClr val="030A18"/>
                          </a:solidFill>
                        </a:rPr>
                        <a:t>4.23</a:t>
                      </a:r>
                      <a:endParaRPr lang="en-US" sz="1100" dirty="0"/>
                    </a:p>
                  </a:txBody>
                  <a:tcPr marL="121920" marR="121920" marT="60960" marB="60960" anchor="ctr">
                    <a:lnL w="3810" cap="flat" cmpd="sng" algn="ctr">
                      <a:solidFill>
                        <a:srgbClr val="DDDDDD"/>
                      </a:solidFill>
                      <a:prstDash val="solid"/>
                      <a:round/>
                      <a:headEnd type="none" w="med" len="med"/>
                      <a:tailEnd type="none" w="med" len="med"/>
                    </a:lnL>
                    <a:lnR w="3810" cap="flat" cmpd="sng" algn="ctr">
                      <a:solidFill>
                        <a:srgbClr val="DDDDDD"/>
                      </a:solidFill>
                      <a:prstDash val="solid"/>
                      <a:round/>
                      <a:headEnd type="none" w="med" len="med"/>
                      <a:tailEnd type="none" w="med" len="med"/>
                    </a:lnR>
                    <a:lnT w="3810" cap="flat" cmpd="sng" algn="ctr">
                      <a:solidFill>
                        <a:srgbClr val="DDDDDD"/>
                      </a:solidFill>
                      <a:prstDash val="solid"/>
                      <a:round/>
                      <a:headEnd type="none" w="med" len="med"/>
                      <a:tailEnd type="none" w="med" len="med"/>
                    </a:lnT>
                    <a:lnB w="3810" cap="flat" cmpd="sng" algn="ctr">
                      <a:solidFill>
                        <a:srgbClr val="DDDDDD"/>
                      </a:solidFill>
                      <a:prstDash val="solid"/>
                      <a:round/>
                      <a:headEnd type="none" w="med" len="med"/>
                      <a:tailEnd type="none" w="med" len="med"/>
                    </a:lnB>
                    <a:solidFill>
                      <a:srgbClr val="FFFFFF"/>
                    </a:solidFill>
                  </a:tcPr>
                </a:tc>
                <a:tc>
                  <a:txBody>
                    <a:bodyPr/>
                    <a:lstStyle/>
                    <a:p>
                      <a:pPr marL="0" indent="0">
                        <a:buNone/>
                      </a:pPr>
                      <a:r>
                        <a:rPr lang="en-US" sz="1100" dirty="0">
                          <a:solidFill>
                            <a:srgbClr val="030A18"/>
                          </a:solidFill>
                        </a:rPr>
                        <a:t>69.48</a:t>
                      </a:r>
                      <a:endParaRPr lang="en-US" sz="1100" dirty="0"/>
                    </a:p>
                  </a:txBody>
                  <a:tcPr marL="121920" marR="121920" marT="60960" marB="60960" anchor="ctr">
                    <a:lnL w="3810" cap="flat" cmpd="sng" algn="ctr">
                      <a:solidFill>
                        <a:srgbClr val="DDDDDD"/>
                      </a:solidFill>
                      <a:prstDash val="solid"/>
                      <a:round/>
                      <a:headEnd type="none" w="med" len="med"/>
                      <a:tailEnd type="none" w="med" len="med"/>
                    </a:lnL>
                    <a:lnR w="3810" cap="flat" cmpd="sng" algn="ctr">
                      <a:solidFill>
                        <a:srgbClr val="DDDDDD"/>
                      </a:solidFill>
                      <a:prstDash val="solid"/>
                      <a:round/>
                      <a:headEnd type="none" w="med" len="med"/>
                      <a:tailEnd type="none" w="med" len="med"/>
                    </a:lnR>
                    <a:lnT w="3810" cap="flat" cmpd="sng" algn="ctr">
                      <a:solidFill>
                        <a:srgbClr val="DDDDDD"/>
                      </a:solidFill>
                      <a:prstDash val="solid"/>
                      <a:round/>
                      <a:headEnd type="none" w="med" len="med"/>
                      <a:tailEnd type="none" w="med" len="med"/>
                    </a:lnT>
                    <a:lnB w="3810"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06400">
                <a:tc>
                  <a:txBody>
                    <a:bodyPr/>
                    <a:lstStyle/>
                    <a:p>
                      <a:pPr marL="0" indent="0">
                        <a:buNone/>
                      </a:pPr>
                      <a:r>
                        <a:rPr lang="en-US" sz="1100" dirty="0">
                          <a:solidFill>
                            <a:srgbClr val="030A18"/>
                          </a:solidFill>
                        </a:rPr>
                        <a:t>D2</a:t>
                      </a:r>
                      <a:endParaRPr lang="en-US" sz="1100" dirty="0"/>
                    </a:p>
                  </a:txBody>
                  <a:tcPr marL="121920" marR="121920" marT="60960" marB="60960" anchor="ctr">
                    <a:lnL w="3810" cap="flat" cmpd="sng" algn="ctr">
                      <a:solidFill>
                        <a:srgbClr val="DDDDDD"/>
                      </a:solidFill>
                      <a:prstDash val="solid"/>
                      <a:round/>
                      <a:headEnd type="none" w="med" len="med"/>
                      <a:tailEnd type="none" w="med" len="med"/>
                    </a:lnL>
                    <a:lnR w="3810" cap="flat" cmpd="sng" algn="ctr">
                      <a:solidFill>
                        <a:srgbClr val="DDDDDD"/>
                      </a:solidFill>
                      <a:prstDash val="solid"/>
                      <a:round/>
                      <a:headEnd type="none" w="med" len="med"/>
                      <a:tailEnd type="none" w="med" len="med"/>
                    </a:lnR>
                    <a:lnT w="3810" cap="flat" cmpd="sng" algn="ctr">
                      <a:solidFill>
                        <a:srgbClr val="DDDDDD"/>
                      </a:solidFill>
                      <a:prstDash val="solid"/>
                      <a:round/>
                      <a:headEnd type="none" w="med" len="med"/>
                      <a:tailEnd type="none" w="med" len="med"/>
                    </a:lnT>
                    <a:lnB w="3810" cap="flat" cmpd="sng" algn="ctr">
                      <a:solidFill>
                        <a:srgbClr val="DDDDDD"/>
                      </a:solidFill>
                      <a:prstDash val="solid"/>
                      <a:round/>
                      <a:headEnd type="none" w="med" len="med"/>
                      <a:tailEnd type="none" w="med" len="med"/>
                    </a:lnB>
                    <a:solidFill>
                      <a:srgbClr val="F7F9FC"/>
                    </a:solidFill>
                  </a:tcPr>
                </a:tc>
                <a:tc>
                  <a:txBody>
                    <a:bodyPr/>
                    <a:lstStyle/>
                    <a:p>
                      <a:pPr marL="0" indent="0">
                        <a:buNone/>
                      </a:pPr>
                      <a:r>
                        <a:rPr lang="en-US" sz="1100" dirty="0">
                          <a:solidFill>
                            <a:srgbClr val="030A18"/>
                          </a:solidFill>
                        </a:rPr>
                        <a:t>20.5</a:t>
                      </a:r>
                      <a:endParaRPr lang="en-US" sz="1100" dirty="0"/>
                    </a:p>
                  </a:txBody>
                  <a:tcPr marL="121920" marR="121920" marT="60960" marB="60960" anchor="ctr">
                    <a:lnL w="3810" cap="flat" cmpd="sng" algn="ctr">
                      <a:solidFill>
                        <a:srgbClr val="DDDDDD"/>
                      </a:solidFill>
                      <a:prstDash val="solid"/>
                      <a:round/>
                      <a:headEnd type="none" w="med" len="med"/>
                      <a:tailEnd type="none" w="med" len="med"/>
                    </a:lnL>
                    <a:lnR w="3810" cap="flat" cmpd="sng" algn="ctr">
                      <a:solidFill>
                        <a:srgbClr val="DDDDDD"/>
                      </a:solidFill>
                      <a:prstDash val="solid"/>
                      <a:round/>
                      <a:headEnd type="none" w="med" len="med"/>
                      <a:tailEnd type="none" w="med" len="med"/>
                    </a:lnR>
                    <a:lnT w="3810" cap="flat" cmpd="sng" algn="ctr">
                      <a:solidFill>
                        <a:srgbClr val="DDDDDD"/>
                      </a:solidFill>
                      <a:prstDash val="solid"/>
                      <a:round/>
                      <a:headEnd type="none" w="med" len="med"/>
                      <a:tailEnd type="none" w="med" len="med"/>
                    </a:lnT>
                    <a:lnB w="3810" cap="flat" cmpd="sng" algn="ctr">
                      <a:solidFill>
                        <a:srgbClr val="DDDDDD"/>
                      </a:solidFill>
                      <a:prstDash val="solid"/>
                      <a:round/>
                      <a:headEnd type="none" w="med" len="med"/>
                      <a:tailEnd type="none" w="med" len="med"/>
                    </a:lnB>
                    <a:solidFill>
                      <a:srgbClr val="F7F9FC"/>
                    </a:solidFill>
                  </a:tcPr>
                </a:tc>
                <a:tc>
                  <a:txBody>
                    <a:bodyPr/>
                    <a:lstStyle/>
                    <a:p>
                      <a:pPr marL="0" indent="0">
                        <a:buNone/>
                      </a:pPr>
                      <a:r>
                        <a:rPr lang="en-US" sz="1100" dirty="0">
                          <a:solidFill>
                            <a:srgbClr val="030A18"/>
                          </a:solidFill>
                        </a:rPr>
                        <a:t>5.67</a:t>
                      </a:r>
                      <a:endParaRPr lang="en-US" sz="1100" dirty="0"/>
                    </a:p>
                  </a:txBody>
                  <a:tcPr marL="121920" marR="121920" marT="60960" marB="60960" anchor="ctr">
                    <a:lnL w="3810" cap="flat" cmpd="sng" algn="ctr">
                      <a:solidFill>
                        <a:srgbClr val="DDDDDD"/>
                      </a:solidFill>
                      <a:prstDash val="solid"/>
                      <a:round/>
                      <a:headEnd type="none" w="med" len="med"/>
                      <a:tailEnd type="none" w="med" len="med"/>
                    </a:lnL>
                    <a:lnR w="3810" cap="flat" cmpd="sng" algn="ctr">
                      <a:solidFill>
                        <a:srgbClr val="DDDDDD"/>
                      </a:solidFill>
                      <a:prstDash val="solid"/>
                      <a:round/>
                      <a:headEnd type="none" w="med" len="med"/>
                      <a:tailEnd type="none" w="med" len="med"/>
                    </a:lnR>
                    <a:lnT w="3810" cap="flat" cmpd="sng" algn="ctr">
                      <a:solidFill>
                        <a:srgbClr val="DDDDDD"/>
                      </a:solidFill>
                      <a:prstDash val="solid"/>
                      <a:round/>
                      <a:headEnd type="none" w="med" len="med"/>
                      <a:tailEnd type="none" w="med" len="med"/>
                    </a:lnT>
                    <a:lnB w="3810" cap="flat" cmpd="sng" algn="ctr">
                      <a:solidFill>
                        <a:srgbClr val="DDDDDD"/>
                      </a:solidFill>
                      <a:prstDash val="solid"/>
                      <a:round/>
                      <a:headEnd type="none" w="med" len="med"/>
                      <a:tailEnd type="none" w="med" len="med"/>
                    </a:lnB>
                    <a:solidFill>
                      <a:srgbClr val="F7F9FC"/>
                    </a:solidFill>
                  </a:tcPr>
                </a:tc>
                <a:tc>
                  <a:txBody>
                    <a:bodyPr/>
                    <a:lstStyle/>
                    <a:p>
                      <a:pPr marL="0" indent="0">
                        <a:buNone/>
                      </a:pPr>
                      <a:r>
                        <a:rPr lang="en-US" sz="1100" dirty="0">
                          <a:solidFill>
                            <a:srgbClr val="030A18"/>
                          </a:solidFill>
                        </a:rPr>
                        <a:t>68.75</a:t>
                      </a:r>
                      <a:endParaRPr lang="en-US" sz="1100" dirty="0"/>
                    </a:p>
                  </a:txBody>
                  <a:tcPr marL="121920" marR="121920" marT="60960" marB="60960" anchor="ctr">
                    <a:lnL w="3810" cap="flat" cmpd="sng" algn="ctr">
                      <a:solidFill>
                        <a:srgbClr val="DDDDDD"/>
                      </a:solidFill>
                      <a:prstDash val="solid"/>
                      <a:round/>
                      <a:headEnd type="none" w="med" len="med"/>
                      <a:tailEnd type="none" w="med" len="med"/>
                    </a:lnL>
                    <a:lnR w="3810" cap="flat" cmpd="sng" algn="ctr">
                      <a:solidFill>
                        <a:srgbClr val="DDDDDD"/>
                      </a:solidFill>
                      <a:prstDash val="solid"/>
                      <a:round/>
                      <a:headEnd type="none" w="med" len="med"/>
                      <a:tailEnd type="none" w="med" len="med"/>
                    </a:lnR>
                    <a:lnT w="3810" cap="flat" cmpd="sng" algn="ctr">
                      <a:solidFill>
                        <a:srgbClr val="DDDDDD"/>
                      </a:solidFill>
                      <a:prstDash val="solid"/>
                      <a:round/>
                      <a:headEnd type="none" w="med" len="med"/>
                      <a:tailEnd type="none" w="med" len="med"/>
                    </a:lnT>
                    <a:lnB w="3810" cap="flat" cmpd="sng" algn="ctr">
                      <a:solidFill>
                        <a:srgbClr val="DDDDDD"/>
                      </a:solidFill>
                      <a:prstDash val="solid"/>
                      <a:round/>
                      <a:headEnd type="none" w="med" len="med"/>
                      <a:tailEnd type="none" w="med" len="med"/>
                    </a:lnB>
                    <a:solidFill>
                      <a:srgbClr val="F7F9FC"/>
                    </a:solidFill>
                  </a:tcPr>
                </a:tc>
                <a:extLst>
                  <a:ext uri="{0D108BD9-81ED-4DB2-BD59-A6C34878D82A}">
                    <a16:rowId xmlns:a16="http://schemas.microsoft.com/office/drawing/2014/main" val="10002"/>
                  </a:ext>
                </a:extLst>
              </a:tr>
              <a:tr h="406400">
                <a:tc>
                  <a:txBody>
                    <a:bodyPr/>
                    <a:lstStyle/>
                    <a:p>
                      <a:pPr marL="0" indent="0">
                        <a:buNone/>
                      </a:pPr>
                      <a:r>
                        <a:rPr lang="en-US" sz="1100" dirty="0">
                          <a:solidFill>
                            <a:srgbClr val="030A18"/>
                          </a:solidFill>
                        </a:rPr>
                        <a:t>D3</a:t>
                      </a:r>
                      <a:endParaRPr lang="en-US" sz="1100" dirty="0"/>
                    </a:p>
                  </a:txBody>
                  <a:tcPr marL="121920" marR="121920" marT="60960" marB="60960" anchor="ctr">
                    <a:lnL w="3810" cap="flat" cmpd="sng" algn="ctr">
                      <a:solidFill>
                        <a:srgbClr val="DDDDDD"/>
                      </a:solidFill>
                      <a:prstDash val="solid"/>
                      <a:round/>
                      <a:headEnd type="none" w="med" len="med"/>
                      <a:tailEnd type="none" w="med" len="med"/>
                    </a:lnL>
                    <a:lnR w="3810" cap="flat" cmpd="sng" algn="ctr">
                      <a:solidFill>
                        <a:srgbClr val="DDDDDD"/>
                      </a:solidFill>
                      <a:prstDash val="solid"/>
                      <a:round/>
                      <a:headEnd type="none" w="med" len="med"/>
                      <a:tailEnd type="none" w="med" len="med"/>
                    </a:lnR>
                    <a:lnT w="3810" cap="flat" cmpd="sng" algn="ctr">
                      <a:solidFill>
                        <a:srgbClr val="DDDDDD"/>
                      </a:solidFill>
                      <a:prstDash val="solid"/>
                      <a:round/>
                      <a:headEnd type="none" w="med" len="med"/>
                      <a:tailEnd type="none" w="med" len="med"/>
                    </a:lnT>
                    <a:lnB w="3810" cap="flat" cmpd="sng" algn="ctr">
                      <a:solidFill>
                        <a:srgbClr val="DDDDDD"/>
                      </a:solidFill>
                      <a:prstDash val="solid"/>
                      <a:round/>
                      <a:headEnd type="none" w="med" len="med"/>
                      <a:tailEnd type="none" w="med" len="med"/>
                    </a:lnB>
                    <a:solidFill>
                      <a:srgbClr val="FFFFFF"/>
                    </a:solidFill>
                  </a:tcPr>
                </a:tc>
                <a:tc>
                  <a:txBody>
                    <a:bodyPr/>
                    <a:lstStyle/>
                    <a:p>
                      <a:pPr marL="0" indent="0">
                        <a:buNone/>
                      </a:pPr>
                      <a:r>
                        <a:rPr lang="en-US" sz="1100" dirty="0">
                          <a:solidFill>
                            <a:srgbClr val="030A18"/>
                          </a:solidFill>
                        </a:rPr>
                        <a:t>21.0</a:t>
                      </a:r>
                      <a:endParaRPr lang="en-US" sz="1100" dirty="0"/>
                    </a:p>
                  </a:txBody>
                  <a:tcPr marL="121920" marR="121920" marT="60960" marB="60960" anchor="ctr">
                    <a:lnL w="3810" cap="flat" cmpd="sng" algn="ctr">
                      <a:solidFill>
                        <a:srgbClr val="DDDDDD"/>
                      </a:solidFill>
                      <a:prstDash val="solid"/>
                      <a:round/>
                      <a:headEnd type="none" w="med" len="med"/>
                      <a:tailEnd type="none" w="med" len="med"/>
                    </a:lnL>
                    <a:lnR w="3810" cap="flat" cmpd="sng" algn="ctr">
                      <a:solidFill>
                        <a:srgbClr val="DDDDDD"/>
                      </a:solidFill>
                      <a:prstDash val="solid"/>
                      <a:round/>
                      <a:headEnd type="none" w="med" len="med"/>
                      <a:tailEnd type="none" w="med" len="med"/>
                    </a:lnR>
                    <a:lnT w="3810" cap="flat" cmpd="sng" algn="ctr">
                      <a:solidFill>
                        <a:srgbClr val="DDDDDD"/>
                      </a:solidFill>
                      <a:prstDash val="solid"/>
                      <a:round/>
                      <a:headEnd type="none" w="med" len="med"/>
                      <a:tailEnd type="none" w="med" len="med"/>
                    </a:lnT>
                    <a:lnB w="3810" cap="flat" cmpd="sng" algn="ctr">
                      <a:solidFill>
                        <a:srgbClr val="DDDDDD"/>
                      </a:solidFill>
                      <a:prstDash val="solid"/>
                      <a:round/>
                      <a:headEnd type="none" w="med" len="med"/>
                      <a:tailEnd type="none" w="med" len="med"/>
                    </a:lnB>
                    <a:solidFill>
                      <a:srgbClr val="FFFFFF"/>
                    </a:solidFill>
                  </a:tcPr>
                </a:tc>
                <a:tc>
                  <a:txBody>
                    <a:bodyPr/>
                    <a:lstStyle/>
                    <a:p>
                      <a:pPr marL="0" indent="0">
                        <a:buNone/>
                      </a:pPr>
                      <a:r>
                        <a:rPr lang="en-US" sz="1100" dirty="0">
                          <a:solidFill>
                            <a:srgbClr val="030A18"/>
                          </a:solidFill>
                        </a:rPr>
                        <a:t>6.10</a:t>
                      </a:r>
                      <a:endParaRPr lang="en-US" sz="1100" dirty="0"/>
                    </a:p>
                  </a:txBody>
                  <a:tcPr marL="121920" marR="121920" marT="60960" marB="60960" anchor="ctr">
                    <a:lnL w="3810" cap="flat" cmpd="sng" algn="ctr">
                      <a:solidFill>
                        <a:srgbClr val="DDDDDD"/>
                      </a:solidFill>
                      <a:prstDash val="solid"/>
                      <a:round/>
                      <a:headEnd type="none" w="med" len="med"/>
                      <a:tailEnd type="none" w="med" len="med"/>
                    </a:lnL>
                    <a:lnR w="3810" cap="flat" cmpd="sng" algn="ctr">
                      <a:solidFill>
                        <a:srgbClr val="DDDDDD"/>
                      </a:solidFill>
                      <a:prstDash val="solid"/>
                      <a:round/>
                      <a:headEnd type="none" w="med" len="med"/>
                      <a:tailEnd type="none" w="med" len="med"/>
                    </a:lnR>
                    <a:lnT w="3810" cap="flat" cmpd="sng" algn="ctr">
                      <a:solidFill>
                        <a:srgbClr val="DDDDDD"/>
                      </a:solidFill>
                      <a:prstDash val="solid"/>
                      <a:round/>
                      <a:headEnd type="none" w="med" len="med"/>
                      <a:tailEnd type="none" w="med" len="med"/>
                    </a:lnT>
                    <a:lnB w="3810" cap="flat" cmpd="sng" algn="ctr">
                      <a:solidFill>
                        <a:srgbClr val="DDDDDD"/>
                      </a:solidFill>
                      <a:prstDash val="solid"/>
                      <a:round/>
                      <a:headEnd type="none" w="med" len="med"/>
                      <a:tailEnd type="none" w="med" len="med"/>
                    </a:lnB>
                    <a:solidFill>
                      <a:srgbClr val="FFFFFF"/>
                    </a:solidFill>
                  </a:tcPr>
                </a:tc>
                <a:tc>
                  <a:txBody>
                    <a:bodyPr/>
                    <a:lstStyle/>
                    <a:p>
                      <a:pPr marL="0" indent="0">
                        <a:buNone/>
                      </a:pPr>
                      <a:r>
                        <a:rPr lang="en-US" sz="1100" dirty="0">
                          <a:solidFill>
                            <a:srgbClr val="030A18"/>
                          </a:solidFill>
                        </a:rPr>
                        <a:t>67.04</a:t>
                      </a:r>
                      <a:endParaRPr lang="en-US" sz="1100" dirty="0"/>
                    </a:p>
                  </a:txBody>
                  <a:tcPr marL="121920" marR="121920" marT="60960" marB="60960" anchor="ctr">
                    <a:lnL w="3810" cap="flat" cmpd="sng" algn="ctr">
                      <a:solidFill>
                        <a:srgbClr val="DDDDDD"/>
                      </a:solidFill>
                      <a:prstDash val="solid"/>
                      <a:round/>
                      <a:headEnd type="none" w="med" len="med"/>
                      <a:tailEnd type="none" w="med" len="med"/>
                    </a:lnL>
                    <a:lnR w="3810" cap="flat" cmpd="sng" algn="ctr">
                      <a:solidFill>
                        <a:srgbClr val="DDDDDD"/>
                      </a:solidFill>
                      <a:prstDash val="solid"/>
                      <a:round/>
                      <a:headEnd type="none" w="med" len="med"/>
                      <a:tailEnd type="none" w="med" len="med"/>
                    </a:lnR>
                    <a:lnT w="3810" cap="flat" cmpd="sng" algn="ctr">
                      <a:solidFill>
                        <a:srgbClr val="DDDDDD"/>
                      </a:solidFill>
                      <a:prstDash val="solid"/>
                      <a:round/>
                      <a:headEnd type="none" w="med" len="med"/>
                      <a:tailEnd type="none" w="med" len="med"/>
                    </a:lnT>
                    <a:lnB w="3810"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06400">
                <a:tc>
                  <a:txBody>
                    <a:bodyPr/>
                    <a:lstStyle/>
                    <a:p>
                      <a:pPr marL="0" indent="0">
                        <a:buNone/>
                      </a:pPr>
                      <a:r>
                        <a:rPr lang="en-US" sz="1100" dirty="0">
                          <a:solidFill>
                            <a:srgbClr val="030A18"/>
                          </a:solidFill>
                        </a:rPr>
                        <a:t>D4</a:t>
                      </a:r>
                      <a:endParaRPr lang="en-US" sz="1100" dirty="0"/>
                    </a:p>
                  </a:txBody>
                  <a:tcPr marL="121920" marR="121920" marT="60960" marB="60960" anchor="ctr">
                    <a:lnL w="3810" cap="flat" cmpd="sng" algn="ctr">
                      <a:solidFill>
                        <a:srgbClr val="DDDDDD"/>
                      </a:solidFill>
                      <a:prstDash val="solid"/>
                      <a:round/>
                      <a:headEnd type="none" w="med" len="med"/>
                      <a:tailEnd type="none" w="med" len="med"/>
                    </a:lnL>
                    <a:lnR w="3810" cap="flat" cmpd="sng" algn="ctr">
                      <a:solidFill>
                        <a:srgbClr val="DDDDDD"/>
                      </a:solidFill>
                      <a:prstDash val="solid"/>
                      <a:round/>
                      <a:headEnd type="none" w="med" len="med"/>
                      <a:tailEnd type="none" w="med" len="med"/>
                    </a:lnR>
                    <a:lnT w="3810" cap="flat" cmpd="sng" algn="ctr">
                      <a:solidFill>
                        <a:srgbClr val="DDDDDD"/>
                      </a:solidFill>
                      <a:prstDash val="solid"/>
                      <a:round/>
                      <a:headEnd type="none" w="med" len="med"/>
                      <a:tailEnd type="none" w="med" len="med"/>
                    </a:lnT>
                    <a:lnB w="3810" cap="flat" cmpd="sng" algn="ctr">
                      <a:solidFill>
                        <a:srgbClr val="DDDDDD"/>
                      </a:solidFill>
                      <a:prstDash val="solid"/>
                      <a:round/>
                      <a:headEnd type="none" w="med" len="med"/>
                      <a:tailEnd type="none" w="med" len="med"/>
                    </a:lnB>
                    <a:solidFill>
                      <a:srgbClr val="F7F9FC"/>
                    </a:solidFill>
                  </a:tcPr>
                </a:tc>
                <a:tc>
                  <a:txBody>
                    <a:bodyPr/>
                    <a:lstStyle/>
                    <a:p>
                      <a:pPr marL="0" indent="0">
                        <a:buNone/>
                      </a:pPr>
                      <a:r>
                        <a:rPr lang="en-US" sz="1100" dirty="0">
                          <a:solidFill>
                            <a:srgbClr val="030A18"/>
                          </a:solidFill>
                        </a:rPr>
                        <a:t>21.9</a:t>
                      </a:r>
                      <a:endParaRPr lang="en-US" sz="1100" dirty="0"/>
                    </a:p>
                  </a:txBody>
                  <a:tcPr marL="121920" marR="121920" marT="60960" marB="60960" anchor="ctr">
                    <a:lnL w="3810" cap="flat" cmpd="sng" algn="ctr">
                      <a:solidFill>
                        <a:srgbClr val="DDDDDD"/>
                      </a:solidFill>
                      <a:prstDash val="solid"/>
                      <a:round/>
                      <a:headEnd type="none" w="med" len="med"/>
                      <a:tailEnd type="none" w="med" len="med"/>
                    </a:lnL>
                    <a:lnR w="3810" cap="flat" cmpd="sng" algn="ctr">
                      <a:solidFill>
                        <a:srgbClr val="DDDDDD"/>
                      </a:solidFill>
                      <a:prstDash val="solid"/>
                      <a:round/>
                      <a:headEnd type="none" w="med" len="med"/>
                      <a:tailEnd type="none" w="med" len="med"/>
                    </a:lnR>
                    <a:lnT w="3810" cap="flat" cmpd="sng" algn="ctr">
                      <a:solidFill>
                        <a:srgbClr val="DDDDDD"/>
                      </a:solidFill>
                      <a:prstDash val="solid"/>
                      <a:round/>
                      <a:headEnd type="none" w="med" len="med"/>
                      <a:tailEnd type="none" w="med" len="med"/>
                    </a:lnT>
                    <a:lnB w="3810" cap="flat" cmpd="sng" algn="ctr">
                      <a:solidFill>
                        <a:srgbClr val="DDDDDD"/>
                      </a:solidFill>
                      <a:prstDash val="solid"/>
                      <a:round/>
                      <a:headEnd type="none" w="med" len="med"/>
                      <a:tailEnd type="none" w="med" len="med"/>
                    </a:lnB>
                    <a:solidFill>
                      <a:srgbClr val="F7F9FC"/>
                    </a:solidFill>
                  </a:tcPr>
                </a:tc>
                <a:tc>
                  <a:txBody>
                    <a:bodyPr/>
                    <a:lstStyle/>
                    <a:p>
                      <a:pPr marL="0" indent="0">
                        <a:buNone/>
                      </a:pPr>
                      <a:r>
                        <a:rPr lang="en-US" sz="1100" dirty="0">
                          <a:solidFill>
                            <a:srgbClr val="030A18"/>
                          </a:solidFill>
                        </a:rPr>
                        <a:t>5.77</a:t>
                      </a:r>
                      <a:endParaRPr lang="en-US" sz="1100" dirty="0"/>
                    </a:p>
                  </a:txBody>
                  <a:tcPr marL="121920" marR="121920" marT="60960" marB="60960" anchor="ctr">
                    <a:lnL w="3810" cap="flat" cmpd="sng" algn="ctr">
                      <a:solidFill>
                        <a:srgbClr val="DDDDDD"/>
                      </a:solidFill>
                      <a:prstDash val="solid"/>
                      <a:round/>
                      <a:headEnd type="none" w="med" len="med"/>
                      <a:tailEnd type="none" w="med" len="med"/>
                    </a:lnL>
                    <a:lnR w="3810" cap="flat" cmpd="sng" algn="ctr">
                      <a:solidFill>
                        <a:srgbClr val="DDDDDD"/>
                      </a:solidFill>
                      <a:prstDash val="solid"/>
                      <a:round/>
                      <a:headEnd type="none" w="med" len="med"/>
                      <a:tailEnd type="none" w="med" len="med"/>
                    </a:lnR>
                    <a:lnT w="3810" cap="flat" cmpd="sng" algn="ctr">
                      <a:solidFill>
                        <a:srgbClr val="DDDDDD"/>
                      </a:solidFill>
                      <a:prstDash val="solid"/>
                      <a:round/>
                      <a:headEnd type="none" w="med" len="med"/>
                      <a:tailEnd type="none" w="med" len="med"/>
                    </a:lnT>
                    <a:lnB w="3810" cap="flat" cmpd="sng" algn="ctr">
                      <a:solidFill>
                        <a:srgbClr val="DDDDDD"/>
                      </a:solidFill>
                      <a:prstDash val="solid"/>
                      <a:round/>
                      <a:headEnd type="none" w="med" len="med"/>
                      <a:tailEnd type="none" w="med" len="med"/>
                    </a:lnB>
                    <a:solidFill>
                      <a:srgbClr val="F7F9FC"/>
                    </a:solidFill>
                  </a:tcPr>
                </a:tc>
                <a:tc>
                  <a:txBody>
                    <a:bodyPr/>
                    <a:lstStyle/>
                    <a:p>
                      <a:pPr marL="0" indent="0">
                        <a:buNone/>
                      </a:pPr>
                      <a:r>
                        <a:rPr lang="en-US" sz="1100" dirty="0">
                          <a:solidFill>
                            <a:srgbClr val="030A18"/>
                          </a:solidFill>
                        </a:rPr>
                        <a:t>66.44</a:t>
                      </a:r>
                      <a:endParaRPr lang="en-US" sz="1100" dirty="0"/>
                    </a:p>
                  </a:txBody>
                  <a:tcPr marL="121920" marR="121920" marT="60960" marB="60960" anchor="ctr">
                    <a:lnL w="3810" cap="flat" cmpd="sng" algn="ctr">
                      <a:solidFill>
                        <a:srgbClr val="DDDDDD"/>
                      </a:solidFill>
                      <a:prstDash val="solid"/>
                      <a:round/>
                      <a:headEnd type="none" w="med" len="med"/>
                      <a:tailEnd type="none" w="med" len="med"/>
                    </a:lnL>
                    <a:lnR w="3810" cap="flat" cmpd="sng" algn="ctr">
                      <a:solidFill>
                        <a:srgbClr val="DDDDDD"/>
                      </a:solidFill>
                      <a:prstDash val="solid"/>
                      <a:round/>
                      <a:headEnd type="none" w="med" len="med"/>
                      <a:tailEnd type="none" w="med" len="med"/>
                    </a:lnR>
                    <a:lnT w="3810" cap="flat" cmpd="sng" algn="ctr">
                      <a:solidFill>
                        <a:srgbClr val="DDDDDD"/>
                      </a:solidFill>
                      <a:prstDash val="solid"/>
                      <a:round/>
                      <a:headEnd type="none" w="med" len="med"/>
                      <a:tailEnd type="none" w="med" len="med"/>
                    </a:lnT>
                    <a:lnB w="3810" cap="flat" cmpd="sng" algn="ctr">
                      <a:solidFill>
                        <a:srgbClr val="DDDDDD"/>
                      </a:solidFill>
                      <a:prstDash val="solid"/>
                      <a:round/>
                      <a:headEnd type="none" w="med" len="med"/>
                      <a:tailEnd type="none" w="med" len="med"/>
                    </a:lnB>
                    <a:solidFill>
                      <a:srgbClr val="F7F9FC"/>
                    </a:solidFill>
                  </a:tcPr>
                </a:tc>
                <a:extLst>
                  <a:ext uri="{0D108BD9-81ED-4DB2-BD59-A6C34878D82A}">
                    <a16:rowId xmlns:a16="http://schemas.microsoft.com/office/drawing/2014/main" val="10004"/>
                  </a:ext>
                </a:extLst>
              </a:tr>
              <a:tr h="406400">
                <a:tc>
                  <a:txBody>
                    <a:bodyPr/>
                    <a:lstStyle/>
                    <a:p>
                      <a:pPr marL="0" indent="0">
                        <a:buNone/>
                      </a:pPr>
                      <a:r>
                        <a:rPr lang="en-US" sz="1100" dirty="0">
                          <a:solidFill>
                            <a:srgbClr val="030A18"/>
                          </a:solidFill>
                        </a:rPr>
                        <a:t>D5</a:t>
                      </a:r>
                      <a:endParaRPr lang="en-US" sz="1100" dirty="0"/>
                    </a:p>
                  </a:txBody>
                  <a:tcPr marL="121920" marR="121920" marT="60960" marB="60960" anchor="ctr">
                    <a:lnL w="3810" cap="flat" cmpd="sng" algn="ctr">
                      <a:solidFill>
                        <a:srgbClr val="DDDDDD"/>
                      </a:solidFill>
                      <a:prstDash val="solid"/>
                      <a:round/>
                      <a:headEnd type="none" w="med" len="med"/>
                      <a:tailEnd type="none" w="med" len="med"/>
                    </a:lnL>
                    <a:lnR w="3810" cap="flat" cmpd="sng" algn="ctr">
                      <a:solidFill>
                        <a:srgbClr val="DDDDDD"/>
                      </a:solidFill>
                      <a:prstDash val="solid"/>
                      <a:round/>
                      <a:headEnd type="none" w="med" len="med"/>
                      <a:tailEnd type="none" w="med" len="med"/>
                    </a:lnR>
                    <a:lnT w="3810" cap="flat" cmpd="sng" algn="ctr">
                      <a:solidFill>
                        <a:srgbClr val="DDDDDD"/>
                      </a:solidFill>
                      <a:prstDash val="solid"/>
                      <a:round/>
                      <a:headEnd type="none" w="med" len="med"/>
                      <a:tailEnd type="none" w="med" len="med"/>
                    </a:lnT>
                    <a:lnB w="3810" cap="flat" cmpd="sng" algn="ctr">
                      <a:solidFill>
                        <a:srgbClr val="DDDDDD"/>
                      </a:solidFill>
                      <a:prstDash val="solid"/>
                      <a:round/>
                      <a:headEnd type="none" w="med" len="med"/>
                      <a:tailEnd type="none" w="med" len="med"/>
                    </a:lnB>
                    <a:solidFill>
                      <a:srgbClr val="FFFFFF"/>
                    </a:solidFill>
                  </a:tcPr>
                </a:tc>
                <a:tc>
                  <a:txBody>
                    <a:bodyPr/>
                    <a:lstStyle/>
                    <a:p>
                      <a:pPr marL="0" indent="0">
                        <a:buNone/>
                      </a:pPr>
                      <a:r>
                        <a:rPr lang="en-US" sz="1100" dirty="0">
                          <a:solidFill>
                            <a:srgbClr val="030A18"/>
                          </a:solidFill>
                        </a:rPr>
                        <a:t>22.0</a:t>
                      </a:r>
                      <a:endParaRPr lang="en-US" sz="1100" dirty="0"/>
                    </a:p>
                  </a:txBody>
                  <a:tcPr marL="121920" marR="121920" marT="60960" marB="60960" anchor="ctr">
                    <a:lnL w="3810" cap="flat" cmpd="sng" algn="ctr">
                      <a:solidFill>
                        <a:srgbClr val="DDDDDD"/>
                      </a:solidFill>
                      <a:prstDash val="solid"/>
                      <a:round/>
                      <a:headEnd type="none" w="med" len="med"/>
                      <a:tailEnd type="none" w="med" len="med"/>
                    </a:lnL>
                    <a:lnR w="3810" cap="flat" cmpd="sng" algn="ctr">
                      <a:solidFill>
                        <a:srgbClr val="DDDDDD"/>
                      </a:solidFill>
                      <a:prstDash val="solid"/>
                      <a:round/>
                      <a:headEnd type="none" w="med" len="med"/>
                      <a:tailEnd type="none" w="med" len="med"/>
                    </a:lnR>
                    <a:lnT w="3810" cap="flat" cmpd="sng" algn="ctr">
                      <a:solidFill>
                        <a:srgbClr val="DDDDDD"/>
                      </a:solidFill>
                      <a:prstDash val="solid"/>
                      <a:round/>
                      <a:headEnd type="none" w="med" len="med"/>
                      <a:tailEnd type="none" w="med" len="med"/>
                    </a:lnT>
                    <a:lnB w="3810" cap="flat" cmpd="sng" algn="ctr">
                      <a:solidFill>
                        <a:srgbClr val="DDDDDD"/>
                      </a:solidFill>
                      <a:prstDash val="solid"/>
                      <a:round/>
                      <a:headEnd type="none" w="med" len="med"/>
                      <a:tailEnd type="none" w="med" len="med"/>
                    </a:lnB>
                    <a:solidFill>
                      <a:srgbClr val="FFFFFF"/>
                    </a:solidFill>
                  </a:tcPr>
                </a:tc>
                <a:tc>
                  <a:txBody>
                    <a:bodyPr/>
                    <a:lstStyle/>
                    <a:p>
                      <a:pPr marL="0" indent="0">
                        <a:buNone/>
                      </a:pPr>
                      <a:r>
                        <a:rPr lang="en-US" sz="1100" dirty="0">
                          <a:solidFill>
                            <a:srgbClr val="030A18"/>
                          </a:solidFill>
                        </a:rPr>
                        <a:t>6.60</a:t>
                      </a:r>
                      <a:endParaRPr lang="en-US" sz="1100" dirty="0"/>
                    </a:p>
                  </a:txBody>
                  <a:tcPr marL="121920" marR="121920" marT="60960" marB="60960" anchor="ctr">
                    <a:lnL w="3810" cap="flat" cmpd="sng" algn="ctr">
                      <a:solidFill>
                        <a:srgbClr val="DDDDDD"/>
                      </a:solidFill>
                      <a:prstDash val="solid"/>
                      <a:round/>
                      <a:headEnd type="none" w="med" len="med"/>
                      <a:tailEnd type="none" w="med" len="med"/>
                    </a:lnL>
                    <a:lnR w="3810" cap="flat" cmpd="sng" algn="ctr">
                      <a:solidFill>
                        <a:srgbClr val="DDDDDD"/>
                      </a:solidFill>
                      <a:prstDash val="solid"/>
                      <a:round/>
                      <a:headEnd type="none" w="med" len="med"/>
                      <a:tailEnd type="none" w="med" len="med"/>
                    </a:lnR>
                    <a:lnT w="3810" cap="flat" cmpd="sng" algn="ctr">
                      <a:solidFill>
                        <a:srgbClr val="DDDDDD"/>
                      </a:solidFill>
                      <a:prstDash val="solid"/>
                      <a:round/>
                      <a:headEnd type="none" w="med" len="med"/>
                      <a:tailEnd type="none" w="med" len="med"/>
                    </a:lnT>
                    <a:lnB w="3810" cap="flat" cmpd="sng" algn="ctr">
                      <a:solidFill>
                        <a:srgbClr val="DDDDDD"/>
                      </a:solidFill>
                      <a:prstDash val="solid"/>
                      <a:round/>
                      <a:headEnd type="none" w="med" len="med"/>
                      <a:tailEnd type="none" w="med" len="med"/>
                    </a:lnB>
                    <a:solidFill>
                      <a:srgbClr val="FFFFFF"/>
                    </a:solidFill>
                  </a:tcPr>
                </a:tc>
                <a:tc>
                  <a:txBody>
                    <a:bodyPr/>
                    <a:lstStyle/>
                    <a:p>
                      <a:pPr marL="0" indent="0">
                        <a:buNone/>
                      </a:pPr>
                      <a:r>
                        <a:rPr lang="en-US" sz="1100" dirty="0">
                          <a:solidFill>
                            <a:srgbClr val="030A18"/>
                          </a:solidFill>
                        </a:rPr>
                        <a:t>62.20</a:t>
                      </a:r>
                      <a:endParaRPr lang="en-US" sz="1100" dirty="0"/>
                    </a:p>
                  </a:txBody>
                  <a:tcPr marL="121920" marR="121920" marT="60960" marB="60960" anchor="ctr">
                    <a:lnL w="3810" cap="flat" cmpd="sng" algn="ctr">
                      <a:solidFill>
                        <a:srgbClr val="DDDDDD"/>
                      </a:solidFill>
                      <a:prstDash val="solid"/>
                      <a:round/>
                      <a:headEnd type="none" w="med" len="med"/>
                      <a:tailEnd type="none" w="med" len="med"/>
                    </a:lnL>
                    <a:lnR w="3810" cap="flat" cmpd="sng" algn="ctr">
                      <a:solidFill>
                        <a:srgbClr val="DDDDDD"/>
                      </a:solidFill>
                      <a:prstDash val="solid"/>
                      <a:round/>
                      <a:headEnd type="none" w="med" len="med"/>
                      <a:tailEnd type="none" w="med" len="med"/>
                    </a:lnR>
                    <a:lnT w="3810" cap="flat" cmpd="sng" algn="ctr">
                      <a:solidFill>
                        <a:srgbClr val="DDDDDD"/>
                      </a:solidFill>
                      <a:prstDash val="solid"/>
                      <a:round/>
                      <a:headEnd type="none" w="med" len="med"/>
                      <a:tailEnd type="none" w="med" len="med"/>
                    </a:lnT>
                    <a:lnB w="3810"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5156567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87014A-385F-12A3-1178-AD2A540E89EA}"/>
              </a:ext>
            </a:extLst>
          </p:cNvPr>
          <p:cNvSpPr>
            <a:spLocks noGrp="1"/>
          </p:cNvSpPr>
          <p:nvPr>
            <p:ph type="title"/>
          </p:nvPr>
        </p:nvSpPr>
        <p:spPr/>
        <p:txBody>
          <a:bodyPr/>
          <a:lstStyle/>
          <a:p>
            <a:r>
              <a:rPr lang="en-US" dirty="0"/>
              <a:t>Training the RNN</a:t>
            </a:r>
          </a:p>
        </p:txBody>
      </p:sp>
      <mc:AlternateContent xmlns:mc="http://schemas.openxmlformats.org/markup-compatibility/2006" xmlns:a14="http://schemas.microsoft.com/office/drawing/2010/main">
        <mc:Choice Requires="a14">
          <p:sp>
            <p:nvSpPr>
              <p:cNvPr id="5" name="Content Placeholder 4">
                <a:extLst>
                  <a:ext uri="{FF2B5EF4-FFF2-40B4-BE49-F238E27FC236}">
                    <a16:creationId xmlns:a16="http://schemas.microsoft.com/office/drawing/2014/main" id="{2203C958-F85E-0A30-C9C3-49383901F37C}"/>
                  </a:ext>
                </a:extLst>
              </p:cNvPr>
              <p:cNvSpPr>
                <a:spLocks noGrp="1"/>
              </p:cNvSpPr>
              <p:nvPr>
                <p:ph idx="1"/>
              </p:nvPr>
            </p:nvSpPr>
            <p:spPr/>
            <p:txBody>
              <a:bodyPr>
                <a:normAutofit/>
              </a:bodyPr>
              <a:lstStyle/>
              <a:p>
                <a:r>
                  <a:rPr lang="en-US" dirty="0"/>
                  <a:t>Backpropagate errors through time to update parameters (</a:t>
                </a:r>
                <a14:m>
                  <m:oMath xmlns:m="http://schemas.openxmlformats.org/officeDocument/2006/math">
                    <m:sSub>
                      <m:sSubPr>
                        <m:ctrlPr>
                          <a:rPr lang="en-US" i="1" dirty="0" smtClean="0">
                            <a:latin typeface="Cambria Math" panose="02040503050406030204" pitchFamily="18" charset="0"/>
                          </a:rPr>
                        </m:ctrlPr>
                      </m:sSubPr>
                      <m:e>
                        <m:r>
                          <a:rPr lang="en-US" i="1" dirty="0" smtClean="0">
                            <a:latin typeface="Cambria Math" panose="02040503050406030204" pitchFamily="18" charset="0"/>
                          </a:rPr>
                          <m:t>𝑊</m:t>
                        </m:r>
                      </m:e>
                      <m:sub>
                        <m:r>
                          <a:rPr lang="en-US" i="1" dirty="0" smtClean="0">
                            <a:latin typeface="Cambria Math" panose="02040503050406030204" pitchFamily="18" charset="0"/>
                          </a:rPr>
                          <m:t>𝑥h</m:t>
                        </m:r>
                      </m:sub>
                    </m:sSub>
                  </m:oMath>
                </a14:m>
                <a:r>
                  <a:rPr lang="en-US" dirty="0"/>
                  <a:t>, </a:t>
                </a:r>
                <a14:m>
                  <m:oMath xmlns:m="http://schemas.openxmlformats.org/officeDocument/2006/math">
                    <m:sSub>
                      <m:sSubPr>
                        <m:ctrlPr>
                          <a:rPr lang="en-US" i="1" dirty="0" smtClean="0">
                            <a:latin typeface="Cambria Math" panose="02040503050406030204" pitchFamily="18" charset="0"/>
                          </a:rPr>
                        </m:ctrlPr>
                      </m:sSubPr>
                      <m:e>
                        <m:r>
                          <a:rPr lang="en-US" i="1" dirty="0" smtClean="0">
                            <a:latin typeface="Cambria Math" panose="02040503050406030204" pitchFamily="18" charset="0"/>
                          </a:rPr>
                          <m:t>𝑊</m:t>
                        </m:r>
                      </m:e>
                      <m:sub>
                        <m:r>
                          <a:rPr lang="en-US" i="1" dirty="0" smtClean="0">
                            <a:latin typeface="Cambria Math" panose="02040503050406030204" pitchFamily="18" charset="0"/>
                          </a:rPr>
                          <m:t>hh</m:t>
                        </m:r>
                      </m:sub>
                    </m:sSub>
                  </m:oMath>
                </a14:m>
                <a:r>
                  <a:rPr lang="en-US" dirty="0"/>
                  <a:t>,</a:t>
                </a:r>
                <a14:m>
                  <m:oMath xmlns:m="http://schemas.openxmlformats.org/officeDocument/2006/math">
                    <m:r>
                      <a:rPr lang="en-US" i="1" dirty="0" smtClean="0">
                        <a:latin typeface="Cambria Math" panose="02040503050406030204" pitchFamily="18" charset="0"/>
                      </a:rPr>
                      <m:t> </m:t>
                    </m:r>
                    <m:r>
                      <a:rPr lang="en-IE" b="0" i="1" dirty="0" smtClean="0">
                        <a:latin typeface="Cambria Math" panose="02040503050406030204" pitchFamily="18" charset="0"/>
                      </a:rPr>
                      <m:t> </m:t>
                    </m:r>
                    <m:sSub>
                      <m:sSubPr>
                        <m:ctrlPr>
                          <a:rPr lang="en-IE" b="0" i="1" dirty="0" smtClean="0">
                            <a:latin typeface="Cambria Math" panose="02040503050406030204" pitchFamily="18" charset="0"/>
                          </a:rPr>
                        </m:ctrlPr>
                      </m:sSubPr>
                      <m:e>
                        <m:r>
                          <a:rPr lang="en-US" i="1" dirty="0" smtClean="0">
                            <a:latin typeface="Cambria Math" panose="02040503050406030204" pitchFamily="18" charset="0"/>
                          </a:rPr>
                          <m:t>𝑊</m:t>
                        </m:r>
                      </m:e>
                      <m:sub>
                        <m:r>
                          <a:rPr lang="en-US" i="1" dirty="0" smtClean="0">
                            <a:latin typeface="Cambria Math" panose="02040503050406030204" pitchFamily="18" charset="0"/>
                          </a:rPr>
                          <m:t>h𝑦</m:t>
                        </m:r>
                      </m:sub>
                    </m:sSub>
                  </m:oMath>
                </a14:m>
                <a:r>
                  <a:rPr lang="en-US" dirty="0"/>
                  <a:t>). Derivatives accumulate across the unrolled network</a:t>
                </a:r>
              </a:p>
              <a:p>
                <a:r>
                  <a:rPr lang="en-US" dirty="0"/>
                  <a:t>For long sequences, gradients tend to vanish or explode, leading to slow or unstable learning</a:t>
                </a:r>
              </a:p>
              <a:p>
                <a:r>
                  <a:rPr lang="en-US" dirty="0"/>
                  <a:t>Often the model fails to capture long‑range patterns (e.g., seasonal weather cycles)</a:t>
                </a:r>
              </a:p>
              <a:p>
                <a:endParaRPr lang="en-US" dirty="0"/>
              </a:p>
              <a:p>
                <a:endParaRPr lang="en-US" dirty="0"/>
              </a:p>
            </p:txBody>
          </p:sp>
        </mc:Choice>
        <mc:Fallback xmlns="">
          <p:sp>
            <p:nvSpPr>
              <p:cNvPr id="5" name="Content Placeholder 4">
                <a:extLst>
                  <a:ext uri="{FF2B5EF4-FFF2-40B4-BE49-F238E27FC236}">
                    <a16:creationId xmlns:a16="http://schemas.microsoft.com/office/drawing/2014/main" id="{2203C958-F85E-0A30-C9C3-49383901F37C}"/>
                  </a:ext>
                </a:extLst>
              </p:cNvPr>
              <p:cNvSpPr>
                <a:spLocks noGrp="1" noRot="1" noChangeAspect="1" noMove="1" noResize="1" noEditPoints="1" noAdjustHandles="1" noChangeArrowheads="1" noChangeShapeType="1" noTextEdit="1"/>
              </p:cNvSpPr>
              <p:nvPr>
                <p:ph idx="1"/>
              </p:nvPr>
            </p:nvSpPr>
            <p:spPr>
              <a:blipFill>
                <a:blip r:embed="rId2"/>
                <a:stretch>
                  <a:fillRect l="-1368" t="-2439"/>
                </a:stretch>
              </a:blipFill>
            </p:spPr>
            <p:txBody>
              <a:bodyPr/>
              <a:lstStyle/>
              <a:p>
                <a:r>
                  <a:rPr lang="en-US">
                    <a:noFill/>
                  </a:rPr>
                  <a:t> </a:t>
                </a:r>
              </a:p>
            </p:txBody>
          </p:sp>
        </mc:Fallback>
      </mc:AlternateContent>
    </p:spTree>
    <p:extLst>
      <p:ext uri="{BB962C8B-B14F-4D97-AF65-F5344CB8AC3E}">
        <p14:creationId xmlns:p14="http://schemas.microsoft.com/office/powerpoint/2010/main" val="392982654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91D1C9-DF92-A429-C9B0-85567D1E86A5}"/>
              </a:ext>
            </a:extLst>
          </p:cNvPr>
          <p:cNvSpPr>
            <a:spLocks noGrp="1"/>
          </p:cNvSpPr>
          <p:nvPr>
            <p:ph type="title"/>
          </p:nvPr>
        </p:nvSpPr>
        <p:spPr/>
        <p:txBody>
          <a:bodyPr/>
          <a:lstStyle/>
          <a:p>
            <a:r>
              <a:rPr lang="en-US" dirty="0"/>
              <a:t>Implementation of an RNN</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CBE03336-E66B-9ACF-6DD2-3B65CCF5BAF3}"/>
                  </a:ext>
                </a:extLst>
              </p:cNvPr>
              <p:cNvSpPr>
                <a:spLocks noGrp="1"/>
              </p:cNvSpPr>
              <p:nvPr>
                <p:ph sz="half" idx="1"/>
              </p:nvPr>
            </p:nvSpPr>
            <p:spPr/>
            <p:txBody>
              <a:bodyPr>
                <a:noAutofit/>
              </a:bodyPr>
              <a:lstStyle/>
              <a:p>
                <a:r>
                  <a:rPr lang="en-US" dirty="0"/>
                  <a:t>Initialize hidden state </a:t>
                </a:r>
                <a14:m>
                  <m:oMath xmlns:m="http://schemas.openxmlformats.org/officeDocument/2006/math">
                    <m:r>
                      <a:rPr lang="en-US" i="1" dirty="0" smtClean="0">
                        <a:latin typeface="Cambria Math" panose="02040503050406030204" pitchFamily="18" charset="0"/>
                      </a:rPr>
                      <m:t>h</m:t>
                    </m:r>
                    <m:r>
                      <a:rPr lang="en-US" i="1" dirty="0" smtClean="0">
                        <a:latin typeface="Cambria Math" panose="02040503050406030204" pitchFamily="18" charset="0"/>
                      </a:rPr>
                      <m:t>₀</m:t>
                    </m:r>
                  </m:oMath>
                </a14:m>
                <a:r>
                  <a:rPr lang="en-US" dirty="0"/>
                  <a:t> to zeros</a:t>
                </a:r>
              </a:p>
              <a:p>
                <a:r>
                  <a:rPr lang="en-US" dirty="0"/>
                  <a:t>At each time step </a:t>
                </a:r>
                <a14:m>
                  <m:oMath xmlns:m="http://schemas.openxmlformats.org/officeDocument/2006/math">
                    <m:r>
                      <a:rPr lang="en-US" i="1" dirty="0" smtClean="0">
                        <a:latin typeface="Cambria Math" panose="02040503050406030204" pitchFamily="18" charset="0"/>
                      </a:rPr>
                      <m:t>𝑡</m:t>
                    </m:r>
                  </m:oMath>
                </a14:m>
                <a:r>
                  <a:rPr lang="en-US" dirty="0"/>
                  <a:t>:</a:t>
                </a:r>
              </a:p>
              <a:p>
                <a:pPr lvl="1"/>
                <a:r>
                  <a:rPr lang="en-US" sz="2800" dirty="0"/>
                  <a:t>Compute new hidden state </a:t>
                </a:r>
                <a14:m>
                  <m:oMath xmlns:m="http://schemas.openxmlformats.org/officeDocument/2006/math">
                    <m:r>
                      <a:rPr lang="en-US" sz="2800" i="1" dirty="0" smtClean="0">
                        <a:latin typeface="Cambria Math" panose="02040503050406030204" pitchFamily="18" charset="0"/>
                      </a:rPr>
                      <m:t>h</m:t>
                    </m:r>
                    <m:r>
                      <a:rPr lang="en-US" sz="2800" i="1" dirty="0" smtClean="0">
                        <a:latin typeface="Cambria Math" panose="02040503050406030204" pitchFamily="18" charset="0"/>
                      </a:rPr>
                      <m:t>ₜ</m:t>
                    </m:r>
                  </m:oMath>
                </a14:m>
                <a:r>
                  <a:rPr lang="en-US" sz="2800" dirty="0"/>
                  <a:t> via tanh activation</a:t>
                </a:r>
              </a:p>
              <a:p>
                <a:pPr lvl="1"/>
                <a:r>
                  <a:rPr lang="en-US" sz="2800" dirty="0"/>
                  <a:t>Generate output </a:t>
                </a:r>
                <a14:m>
                  <m:oMath xmlns:m="http://schemas.openxmlformats.org/officeDocument/2006/math">
                    <m:r>
                      <a:rPr lang="en-US" sz="2800" i="1" dirty="0" smtClean="0">
                        <a:latin typeface="Cambria Math" panose="02040503050406030204" pitchFamily="18" charset="0"/>
                      </a:rPr>
                      <m:t>𝑦</m:t>
                    </m:r>
                    <m:r>
                      <a:rPr lang="en-US" sz="2800" i="1" dirty="0" smtClean="0">
                        <a:latin typeface="Cambria Math" panose="02040503050406030204" pitchFamily="18" charset="0"/>
                      </a:rPr>
                      <m:t>ₜ</m:t>
                    </m:r>
                  </m:oMath>
                </a14:m>
                <a:r>
                  <a:rPr lang="en-US" sz="2800" dirty="0"/>
                  <a:t> from </a:t>
                </a:r>
                <a14:m>
                  <m:oMath xmlns:m="http://schemas.openxmlformats.org/officeDocument/2006/math">
                    <m:r>
                      <a:rPr lang="en-US" sz="2800" i="1" dirty="0" smtClean="0">
                        <a:latin typeface="Cambria Math" panose="02040503050406030204" pitchFamily="18" charset="0"/>
                      </a:rPr>
                      <m:t>h</m:t>
                    </m:r>
                    <m:r>
                      <a:rPr lang="en-US" sz="2800" i="1" dirty="0" smtClean="0">
                        <a:latin typeface="Cambria Math" panose="02040503050406030204" pitchFamily="18" charset="0"/>
                      </a:rPr>
                      <m:t>ₜ</m:t>
                    </m:r>
                  </m:oMath>
                </a14:m>
              </a:p>
              <a:p>
                <a:pPr lvl="1"/>
                <a:r>
                  <a:rPr lang="en-US" sz="2800" dirty="0"/>
                  <a:t>Store predictions for loss calculation</a:t>
                </a:r>
              </a:p>
            </p:txBody>
          </p:sp>
        </mc:Choice>
        <mc:Fallback>
          <p:sp>
            <p:nvSpPr>
              <p:cNvPr id="3" name="Content Placeholder 2">
                <a:extLst>
                  <a:ext uri="{FF2B5EF4-FFF2-40B4-BE49-F238E27FC236}">
                    <a16:creationId xmlns:a16="http://schemas.microsoft.com/office/drawing/2014/main" id="{CBE03336-E66B-9ACF-6DD2-3B65CCF5BAF3}"/>
                  </a:ext>
                </a:extLst>
              </p:cNvPr>
              <p:cNvSpPr>
                <a:spLocks noGrp="1" noRot="1" noChangeAspect="1" noMove="1" noResize="1" noEditPoints="1" noAdjustHandles="1" noChangeArrowheads="1" noChangeShapeType="1" noTextEdit="1"/>
              </p:cNvSpPr>
              <p:nvPr>
                <p:ph sz="half" idx="1"/>
              </p:nvPr>
            </p:nvSpPr>
            <p:spPr>
              <a:blipFill>
                <a:blip r:embed="rId2"/>
                <a:stretch>
                  <a:fillRect l="-2200" t="-2326" r="-1222"/>
                </a:stretch>
              </a:blipFill>
            </p:spPr>
            <p:txBody>
              <a:bodyPr/>
              <a:lstStyle/>
              <a:p>
                <a:r>
                  <a:rPr lang="en-US">
                    <a:noFill/>
                  </a:rPr>
                  <a:t> </a:t>
                </a:r>
              </a:p>
            </p:txBody>
          </p:sp>
        </mc:Fallback>
      </mc:AlternateContent>
      <p:sp>
        <p:nvSpPr>
          <p:cNvPr id="4" name="Content Placeholder 3">
            <a:extLst>
              <a:ext uri="{FF2B5EF4-FFF2-40B4-BE49-F238E27FC236}">
                <a16:creationId xmlns:a16="http://schemas.microsoft.com/office/drawing/2014/main" id="{B8511E6F-DF4F-DF37-6420-3A97AF24C307}"/>
              </a:ext>
            </a:extLst>
          </p:cNvPr>
          <p:cNvSpPr>
            <a:spLocks noGrp="1"/>
          </p:cNvSpPr>
          <p:nvPr>
            <p:ph sz="half" idx="2"/>
          </p:nvPr>
        </p:nvSpPr>
        <p:spPr/>
        <p:txBody>
          <a:bodyPr>
            <a:normAutofit fontScale="40000" lnSpcReduction="20000"/>
          </a:bodyPr>
          <a:lstStyle/>
          <a:p>
            <a:pPr marL="0" indent="0">
              <a:buNone/>
            </a:pPr>
            <a:r>
              <a:rPr lang="en-US" dirty="0">
                <a:latin typeface="Courier New" panose="02070309020205020404" pitchFamily="49" charset="0"/>
                <a:cs typeface="Courier New" panose="02070309020205020404" pitchFamily="49" charset="0"/>
              </a:rPr>
              <a:t>import </a:t>
            </a:r>
            <a:r>
              <a:rPr lang="en-US" dirty="0" err="1">
                <a:latin typeface="Courier New" panose="02070309020205020404" pitchFamily="49" charset="0"/>
                <a:cs typeface="Courier New" panose="02070309020205020404" pitchFamily="49" charset="0"/>
              </a:rPr>
              <a:t>numpy</a:t>
            </a:r>
            <a:r>
              <a:rPr lang="en-US" dirty="0">
                <a:latin typeface="Courier New" panose="02070309020205020404" pitchFamily="49" charset="0"/>
                <a:cs typeface="Courier New" panose="02070309020205020404" pitchFamily="49" charset="0"/>
              </a:rPr>
              <a:t> as np</a:t>
            </a:r>
          </a:p>
          <a:p>
            <a:pPr marL="0" indent="0">
              <a:buNone/>
            </a:pPr>
            <a:endParaRPr lang="en-US" dirty="0">
              <a:latin typeface="Courier New" panose="02070309020205020404" pitchFamily="49" charset="0"/>
              <a:cs typeface="Courier New" panose="02070309020205020404" pitchFamily="49" charset="0"/>
            </a:endParaRPr>
          </a:p>
          <a:p>
            <a:pPr marL="0" indent="0">
              <a:buNone/>
            </a:pPr>
            <a:r>
              <a:rPr lang="en-US" dirty="0">
                <a:latin typeface="Courier New" panose="02070309020205020404" pitchFamily="49" charset="0"/>
                <a:cs typeface="Courier New" panose="02070309020205020404" pitchFamily="49" charset="0"/>
              </a:rPr>
              <a:t># weights and biases</a:t>
            </a:r>
          </a:p>
          <a:p>
            <a:pPr marL="0" indent="0">
              <a:buNone/>
            </a:pPr>
            <a:r>
              <a:rPr lang="en-US" dirty="0" err="1">
                <a:latin typeface="Courier New" panose="02070309020205020404" pitchFamily="49" charset="0"/>
                <a:cs typeface="Courier New" panose="02070309020205020404" pitchFamily="49" charset="0"/>
              </a:rPr>
              <a:t>Wxh</a:t>
            </a:r>
            <a:r>
              <a:rPr lang="en-US" dirty="0">
                <a:latin typeface="Courier New" panose="02070309020205020404" pitchFamily="49" charset="0"/>
                <a:cs typeface="Courier New" panose="02070309020205020404" pitchFamily="49" charset="0"/>
              </a:rPr>
              <a:t> = </a:t>
            </a:r>
            <a:r>
              <a:rPr lang="en-US" dirty="0" err="1">
                <a:latin typeface="Courier New" panose="02070309020205020404" pitchFamily="49" charset="0"/>
                <a:cs typeface="Courier New" panose="02070309020205020404" pitchFamily="49" charset="0"/>
              </a:rPr>
              <a:t>np.random.randn</a:t>
            </a:r>
            <a:r>
              <a:rPr lang="en-US" dirty="0">
                <a:latin typeface="Courier New" panose="02070309020205020404" pitchFamily="49" charset="0"/>
                <a:cs typeface="Courier New" panose="02070309020205020404" pitchFamily="49" charset="0"/>
              </a:rPr>
              <a:t>(</a:t>
            </a:r>
            <a:r>
              <a:rPr lang="en-US" dirty="0" err="1">
                <a:latin typeface="Courier New" panose="02070309020205020404" pitchFamily="49" charset="0"/>
                <a:cs typeface="Courier New" panose="02070309020205020404" pitchFamily="49" charset="0"/>
              </a:rPr>
              <a:t>input_dim</a:t>
            </a:r>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hidden_dim</a:t>
            </a:r>
            <a:r>
              <a:rPr lang="en-US" dirty="0">
                <a:latin typeface="Courier New" panose="02070309020205020404" pitchFamily="49" charset="0"/>
                <a:cs typeface="Courier New" panose="02070309020205020404" pitchFamily="49" charset="0"/>
              </a:rPr>
              <a:t>)</a:t>
            </a:r>
          </a:p>
          <a:p>
            <a:pPr marL="0" indent="0">
              <a:buNone/>
            </a:pPr>
            <a:r>
              <a:rPr lang="en-US" dirty="0" err="1">
                <a:latin typeface="Courier New" panose="02070309020205020404" pitchFamily="49" charset="0"/>
                <a:cs typeface="Courier New" panose="02070309020205020404" pitchFamily="49" charset="0"/>
              </a:rPr>
              <a:t>Whh</a:t>
            </a:r>
            <a:r>
              <a:rPr lang="en-US" dirty="0">
                <a:latin typeface="Courier New" panose="02070309020205020404" pitchFamily="49" charset="0"/>
                <a:cs typeface="Courier New" panose="02070309020205020404" pitchFamily="49" charset="0"/>
              </a:rPr>
              <a:t> = </a:t>
            </a:r>
            <a:r>
              <a:rPr lang="en-US" dirty="0" err="1">
                <a:latin typeface="Courier New" panose="02070309020205020404" pitchFamily="49" charset="0"/>
                <a:cs typeface="Courier New" panose="02070309020205020404" pitchFamily="49" charset="0"/>
              </a:rPr>
              <a:t>np.random.randn</a:t>
            </a:r>
            <a:r>
              <a:rPr lang="en-US" dirty="0">
                <a:latin typeface="Courier New" panose="02070309020205020404" pitchFamily="49" charset="0"/>
                <a:cs typeface="Courier New" panose="02070309020205020404" pitchFamily="49" charset="0"/>
              </a:rPr>
              <a:t>(</a:t>
            </a:r>
            <a:r>
              <a:rPr lang="en-US" dirty="0" err="1">
                <a:latin typeface="Courier New" panose="02070309020205020404" pitchFamily="49" charset="0"/>
                <a:cs typeface="Courier New" panose="02070309020205020404" pitchFamily="49" charset="0"/>
              </a:rPr>
              <a:t>hidden_dim</a:t>
            </a:r>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hidden_dim</a:t>
            </a:r>
            <a:r>
              <a:rPr lang="en-US" dirty="0">
                <a:latin typeface="Courier New" panose="02070309020205020404" pitchFamily="49" charset="0"/>
                <a:cs typeface="Courier New" panose="02070309020205020404" pitchFamily="49" charset="0"/>
              </a:rPr>
              <a:t>)</a:t>
            </a:r>
          </a:p>
          <a:p>
            <a:pPr marL="0" indent="0">
              <a:buNone/>
            </a:pPr>
            <a:r>
              <a:rPr lang="en-US" dirty="0" err="1">
                <a:latin typeface="Courier New" panose="02070309020205020404" pitchFamily="49" charset="0"/>
                <a:cs typeface="Courier New" panose="02070309020205020404" pitchFamily="49" charset="0"/>
              </a:rPr>
              <a:t>bh</a:t>
            </a:r>
            <a:r>
              <a:rPr lang="en-US" dirty="0">
                <a:latin typeface="Courier New" panose="02070309020205020404" pitchFamily="49" charset="0"/>
                <a:cs typeface="Courier New" panose="02070309020205020404" pitchFamily="49" charset="0"/>
              </a:rPr>
              <a:t> = </a:t>
            </a:r>
            <a:r>
              <a:rPr lang="en-US" dirty="0" err="1">
                <a:latin typeface="Courier New" panose="02070309020205020404" pitchFamily="49" charset="0"/>
                <a:cs typeface="Courier New" panose="02070309020205020404" pitchFamily="49" charset="0"/>
              </a:rPr>
              <a:t>np.zeros</a:t>
            </a:r>
            <a:r>
              <a:rPr lang="en-US" dirty="0">
                <a:latin typeface="Courier New" panose="02070309020205020404" pitchFamily="49" charset="0"/>
                <a:cs typeface="Courier New" panose="02070309020205020404" pitchFamily="49" charset="0"/>
              </a:rPr>
              <a:t>((1, </a:t>
            </a:r>
            <a:r>
              <a:rPr lang="en-US" dirty="0" err="1">
                <a:latin typeface="Courier New" panose="02070309020205020404" pitchFamily="49" charset="0"/>
                <a:cs typeface="Courier New" panose="02070309020205020404" pitchFamily="49" charset="0"/>
              </a:rPr>
              <a:t>hidden_dim</a:t>
            </a:r>
            <a:r>
              <a:rPr lang="en-US" dirty="0">
                <a:latin typeface="Courier New" panose="02070309020205020404" pitchFamily="49" charset="0"/>
                <a:cs typeface="Courier New" panose="02070309020205020404" pitchFamily="49" charset="0"/>
              </a:rPr>
              <a:t>))</a:t>
            </a:r>
          </a:p>
          <a:p>
            <a:pPr marL="0" indent="0">
              <a:buNone/>
            </a:pPr>
            <a:r>
              <a:rPr lang="en-US" dirty="0">
                <a:latin typeface="Courier New" panose="02070309020205020404" pitchFamily="49" charset="0"/>
                <a:cs typeface="Courier New" panose="02070309020205020404" pitchFamily="49" charset="0"/>
              </a:rPr>
              <a:t>Why = </a:t>
            </a:r>
            <a:r>
              <a:rPr lang="en-US" dirty="0" err="1">
                <a:latin typeface="Courier New" panose="02070309020205020404" pitchFamily="49" charset="0"/>
                <a:cs typeface="Courier New" panose="02070309020205020404" pitchFamily="49" charset="0"/>
              </a:rPr>
              <a:t>np.random.randn</a:t>
            </a:r>
            <a:r>
              <a:rPr lang="en-US" dirty="0">
                <a:latin typeface="Courier New" panose="02070309020205020404" pitchFamily="49" charset="0"/>
                <a:cs typeface="Courier New" panose="02070309020205020404" pitchFamily="49" charset="0"/>
              </a:rPr>
              <a:t>(</a:t>
            </a:r>
            <a:r>
              <a:rPr lang="en-US" dirty="0" err="1">
                <a:latin typeface="Courier New" panose="02070309020205020404" pitchFamily="49" charset="0"/>
                <a:cs typeface="Courier New" panose="02070309020205020404" pitchFamily="49" charset="0"/>
              </a:rPr>
              <a:t>hidden_dim</a:t>
            </a:r>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output_dim</a:t>
            </a:r>
            <a:r>
              <a:rPr lang="en-US" dirty="0">
                <a:latin typeface="Courier New" panose="02070309020205020404" pitchFamily="49" charset="0"/>
                <a:cs typeface="Courier New" panose="02070309020205020404" pitchFamily="49" charset="0"/>
              </a:rPr>
              <a:t>)</a:t>
            </a:r>
          </a:p>
          <a:p>
            <a:pPr marL="0" indent="0">
              <a:buNone/>
            </a:pPr>
            <a:r>
              <a:rPr lang="en-US" dirty="0">
                <a:latin typeface="Courier New" panose="02070309020205020404" pitchFamily="49" charset="0"/>
                <a:cs typeface="Courier New" panose="02070309020205020404" pitchFamily="49" charset="0"/>
              </a:rPr>
              <a:t>by = </a:t>
            </a:r>
            <a:r>
              <a:rPr lang="en-US" dirty="0" err="1">
                <a:latin typeface="Courier New" panose="02070309020205020404" pitchFamily="49" charset="0"/>
                <a:cs typeface="Courier New" panose="02070309020205020404" pitchFamily="49" charset="0"/>
              </a:rPr>
              <a:t>np.zeros</a:t>
            </a:r>
            <a:r>
              <a:rPr lang="en-US" dirty="0">
                <a:latin typeface="Courier New" panose="02070309020205020404" pitchFamily="49" charset="0"/>
                <a:cs typeface="Courier New" panose="02070309020205020404" pitchFamily="49" charset="0"/>
              </a:rPr>
              <a:t>((1, </a:t>
            </a:r>
            <a:r>
              <a:rPr lang="en-US" dirty="0" err="1">
                <a:latin typeface="Courier New" panose="02070309020205020404" pitchFamily="49" charset="0"/>
                <a:cs typeface="Courier New" panose="02070309020205020404" pitchFamily="49" charset="0"/>
              </a:rPr>
              <a:t>output_dim</a:t>
            </a:r>
            <a:r>
              <a:rPr lang="en-US" dirty="0">
                <a:latin typeface="Courier New" panose="02070309020205020404" pitchFamily="49" charset="0"/>
                <a:cs typeface="Courier New" panose="02070309020205020404" pitchFamily="49" charset="0"/>
              </a:rPr>
              <a:t>))</a:t>
            </a:r>
          </a:p>
          <a:p>
            <a:pPr marL="0" indent="0">
              <a:buNone/>
            </a:pPr>
            <a:endParaRPr lang="en-US" dirty="0">
              <a:latin typeface="Courier New" panose="02070309020205020404" pitchFamily="49" charset="0"/>
              <a:cs typeface="Courier New" panose="02070309020205020404" pitchFamily="49" charset="0"/>
            </a:endParaRPr>
          </a:p>
          <a:p>
            <a:pPr marL="0" indent="0">
              <a:buNone/>
            </a:pPr>
            <a:r>
              <a:rPr lang="en-US" dirty="0">
                <a:latin typeface="Courier New" panose="02070309020205020404" pitchFamily="49" charset="0"/>
                <a:cs typeface="Courier New" panose="02070309020205020404" pitchFamily="49" charset="0"/>
              </a:rPr>
              <a:t># forward pass</a:t>
            </a:r>
          </a:p>
          <a:p>
            <a:pPr marL="0" indent="0">
              <a:buNone/>
            </a:pPr>
            <a:r>
              <a:rPr lang="en-US" dirty="0" err="1">
                <a:latin typeface="Courier New" panose="02070309020205020404" pitchFamily="49" charset="0"/>
                <a:cs typeface="Courier New" panose="02070309020205020404" pitchFamily="49" charset="0"/>
              </a:rPr>
              <a:t>h_prev</a:t>
            </a:r>
            <a:r>
              <a:rPr lang="en-US" dirty="0">
                <a:latin typeface="Courier New" panose="02070309020205020404" pitchFamily="49" charset="0"/>
                <a:cs typeface="Courier New" panose="02070309020205020404" pitchFamily="49" charset="0"/>
              </a:rPr>
              <a:t> = </a:t>
            </a:r>
            <a:r>
              <a:rPr lang="en-US" dirty="0" err="1">
                <a:latin typeface="Courier New" panose="02070309020205020404" pitchFamily="49" charset="0"/>
                <a:cs typeface="Courier New" panose="02070309020205020404" pitchFamily="49" charset="0"/>
              </a:rPr>
              <a:t>np.zeros</a:t>
            </a:r>
            <a:r>
              <a:rPr lang="en-US" dirty="0">
                <a:latin typeface="Courier New" panose="02070309020205020404" pitchFamily="49" charset="0"/>
                <a:cs typeface="Courier New" panose="02070309020205020404" pitchFamily="49" charset="0"/>
              </a:rPr>
              <a:t>((1, </a:t>
            </a:r>
            <a:r>
              <a:rPr lang="en-US" dirty="0" err="1">
                <a:latin typeface="Courier New" panose="02070309020205020404" pitchFamily="49" charset="0"/>
                <a:cs typeface="Courier New" panose="02070309020205020404" pitchFamily="49" charset="0"/>
              </a:rPr>
              <a:t>hidden_dim</a:t>
            </a:r>
            <a:r>
              <a:rPr lang="en-US" dirty="0">
                <a:latin typeface="Courier New" panose="02070309020205020404" pitchFamily="49" charset="0"/>
                <a:cs typeface="Courier New" panose="02070309020205020404" pitchFamily="49" charset="0"/>
              </a:rPr>
              <a:t>))</a:t>
            </a:r>
          </a:p>
          <a:p>
            <a:pPr marL="0" indent="0">
              <a:buNone/>
            </a:pPr>
            <a:r>
              <a:rPr lang="en-US" dirty="0" err="1">
                <a:latin typeface="Courier New" panose="02070309020205020404" pitchFamily="49" charset="0"/>
                <a:cs typeface="Courier New" panose="02070309020205020404" pitchFamily="49" charset="0"/>
              </a:rPr>
              <a:t>y_preds</a:t>
            </a:r>
            <a:r>
              <a:rPr lang="en-US" dirty="0">
                <a:latin typeface="Courier New" panose="02070309020205020404" pitchFamily="49" charset="0"/>
                <a:cs typeface="Courier New" panose="02070309020205020404" pitchFamily="49" charset="0"/>
              </a:rPr>
              <a:t> = []</a:t>
            </a:r>
          </a:p>
          <a:p>
            <a:pPr marL="0" indent="0">
              <a:buNone/>
            </a:pPr>
            <a:r>
              <a:rPr lang="en-US" dirty="0">
                <a:latin typeface="Courier New" panose="02070309020205020404" pitchFamily="49" charset="0"/>
                <a:cs typeface="Courier New" panose="02070309020205020404" pitchFamily="49" charset="0"/>
              </a:rPr>
              <a:t>for t in range(T):</a:t>
            </a:r>
          </a:p>
          <a:p>
            <a:pPr marL="0" indent="0">
              <a:buNone/>
            </a:pPr>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x_t</a:t>
            </a:r>
            <a:r>
              <a:rPr lang="en-US" dirty="0">
                <a:latin typeface="Courier New" panose="02070309020205020404" pitchFamily="49" charset="0"/>
                <a:cs typeface="Courier New" panose="02070309020205020404" pitchFamily="49" charset="0"/>
              </a:rPr>
              <a:t> = X[t]  # shape (1, </a:t>
            </a:r>
            <a:r>
              <a:rPr lang="en-US" dirty="0" err="1">
                <a:latin typeface="Courier New" panose="02070309020205020404" pitchFamily="49" charset="0"/>
                <a:cs typeface="Courier New" panose="02070309020205020404" pitchFamily="49" charset="0"/>
              </a:rPr>
              <a:t>input_dim</a:t>
            </a:r>
            <a:r>
              <a:rPr lang="en-US" dirty="0">
                <a:latin typeface="Courier New" panose="02070309020205020404" pitchFamily="49" charset="0"/>
                <a:cs typeface="Courier New" panose="02070309020205020404" pitchFamily="49" charset="0"/>
              </a:rPr>
              <a:t>)</a:t>
            </a:r>
          </a:p>
          <a:p>
            <a:pPr marL="0" indent="0">
              <a:buNone/>
            </a:pPr>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h_prev</a:t>
            </a:r>
            <a:r>
              <a:rPr lang="en-US" dirty="0">
                <a:latin typeface="Courier New" panose="02070309020205020404" pitchFamily="49" charset="0"/>
                <a:cs typeface="Courier New" panose="02070309020205020404" pitchFamily="49" charset="0"/>
              </a:rPr>
              <a:t> = </a:t>
            </a:r>
            <a:r>
              <a:rPr lang="en-US" dirty="0" err="1">
                <a:latin typeface="Courier New" panose="02070309020205020404" pitchFamily="49" charset="0"/>
                <a:cs typeface="Courier New" panose="02070309020205020404" pitchFamily="49" charset="0"/>
              </a:rPr>
              <a:t>np.tanh</a:t>
            </a:r>
            <a:r>
              <a:rPr lang="en-US" dirty="0">
                <a:latin typeface="Courier New" panose="02070309020205020404" pitchFamily="49" charset="0"/>
                <a:cs typeface="Courier New" panose="02070309020205020404" pitchFamily="49" charset="0"/>
              </a:rPr>
              <a:t>(</a:t>
            </a:r>
            <a:r>
              <a:rPr lang="en-US" dirty="0" err="1">
                <a:latin typeface="Courier New" panose="02070309020205020404" pitchFamily="49" charset="0"/>
                <a:cs typeface="Courier New" panose="02070309020205020404" pitchFamily="49" charset="0"/>
              </a:rPr>
              <a:t>x_t</a:t>
            </a:r>
            <a:r>
              <a:rPr lang="en-US" dirty="0">
                <a:latin typeface="Courier New" panose="02070309020205020404" pitchFamily="49" charset="0"/>
                <a:cs typeface="Courier New" panose="02070309020205020404" pitchFamily="49" charset="0"/>
              </a:rPr>
              <a:t> @ </a:t>
            </a:r>
            <a:r>
              <a:rPr lang="en-US" dirty="0" err="1">
                <a:latin typeface="Courier New" panose="02070309020205020404" pitchFamily="49" charset="0"/>
                <a:cs typeface="Courier New" panose="02070309020205020404" pitchFamily="49" charset="0"/>
              </a:rPr>
              <a:t>Wxh</a:t>
            </a:r>
            <a:r>
              <a:rPr lang="en-US" dirty="0">
                <a:latin typeface="Courier New" panose="02070309020205020404" pitchFamily="49" charset="0"/>
                <a:cs typeface="Courier New" panose="02070309020205020404" pitchFamily="49" charset="0"/>
              </a:rPr>
              <a:t> + </a:t>
            </a:r>
            <a:r>
              <a:rPr lang="en-US" dirty="0" err="1">
                <a:latin typeface="Courier New" panose="02070309020205020404" pitchFamily="49" charset="0"/>
                <a:cs typeface="Courier New" panose="02070309020205020404" pitchFamily="49" charset="0"/>
              </a:rPr>
              <a:t>h_prev</a:t>
            </a:r>
            <a:r>
              <a:rPr lang="en-US" dirty="0">
                <a:latin typeface="Courier New" panose="02070309020205020404" pitchFamily="49" charset="0"/>
                <a:cs typeface="Courier New" panose="02070309020205020404" pitchFamily="49" charset="0"/>
              </a:rPr>
              <a:t> @ </a:t>
            </a:r>
            <a:r>
              <a:rPr lang="en-US" dirty="0" err="1">
                <a:latin typeface="Courier New" panose="02070309020205020404" pitchFamily="49" charset="0"/>
                <a:cs typeface="Courier New" panose="02070309020205020404" pitchFamily="49" charset="0"/>
              </a:rPr>
              <a:t>Whh</a:t>
            </a:r>
            <a:r>
              <a:rPr lang="en-US" dirty="0">
                <a:latin typeface="Courier New" panose="02070309020205020404" pitchFamily="49" charset="0"/>
                <a:cs typeface="Courier New" panose="02070309020205020404" pitchFamily="49" charset="0"/>
              </a:rPr>
              <a:t> + </a:t>
            </a:r>
            <a:r>
              <a:rPr lang="en-US" dirty="0" err="1">
                <a:latin typeface="Courier New" panose="02070309020205020404" pitchFamily="49" charset="0"/>
                <a:cs typeface="Courier New" panose="02070309020205020404" pitchFamily="49" charset="0"/>
              </a:rPr>
              <a:t>bh</a:t>
            </a:r>
            <a:r>
              <a:rPr lang="en-US" dirty="0">
                <a:latin typeface="Courier New" panose="02070309020205020404" pitchFamily="49" charset="0"/>
                <a:cs typeface="Courier New" panose="02070309020205020404" pitchFamily="49" charset="0"/>
              </a:rPr>
              <a:t>)</a:t>
            </a:r>
          </a:p>
          <a:p>
            <a:pPr marL="0" indent="0">
              <a:buNone/>
            </a:pPr>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y_t</a:t>
            </a:r>
            <a:r>
              <a:rPr lang="en-US" dirty="0">
                <a:latin typeface="Courier New" panose="02070309020205020404" pitchFamily="49" charset="0"/>
                <a:cs typeface="Courier New" panose="02070309020205020404" pitchFamily="49" charset="0"/>
              </a:rPr>
              <a:t> = </a:t>
            </a:r>
            <a:r>
              <a:rPr lang="en-US" dirty="0" err="1">
                <a:latin typeface="Courier New" panose="02070309020205020404" pitchFamily="49" charset="0"/>
                <a:cs typeface="Courier New" panose="02070309020205020404" pitchFamily="49" charset="0"/>
              </a:rPr>
              <a:t>h_prev</a:t>
            </a:r>
            <a:r>
              <a:rPr lang="en-US" dirty="0">
                <a:latin typeface="Courier New" panose="02070309020205020404" pitchFamily="49" charset="0"/>
                <a:cs typeface="Courier New" panose="02070309020205020404" pitchFamily="49" charset="0"/>
              </a:rPr>
              <a:t> @ Why + by</a:t>
            </a:r>
          </a:p>
          <a:p>
            <a:pPr marL="0" indent="0">
              <a:buNone/>
            </a:pPr>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y_preds.append</a:t>
            </a:r>
            <a:r>
              <a:rPr lang="en-US" dirty="0">
                <a:latin typeface="Courier New" panose="02070309020205020404" pitchFamily="49" charset="0"/>
                <a:cs typeface="Courier New" panose="02070309020205020404" pitchFamily="49" charset="0"/>
              </a:rPr>
              <a:t>(</a:t>
            </a:r>
            <a:r>
              <a:rPr lang="en-US" dirty="0" err="1">
                <a:latin typeface="Courier New" panose="02070309020205020404" pitchFamily="49" charset="0"/>
                <a:cs typeface="Courier New" panose="02070309020205020404" pitchFamily="49" charset="0"/>
              </a:rPr>
              <a:t>y_t</a:t>
            </a:r>
            <a:r>
              <a:rPr lang="en-US" dirty="0">
                <a:latin typeface="Courier New" panose="02070309020205020404" pitchFamily="49" charset="0"/>
                <a:cs typeface="Courier New" panose="02070309020205020404" pitchFamily="49" charset="0"/>
              </a:rPr>
              <a:t>)</a:t>
            </a:r>
          </a:p>
          <a:p>
            <a:pPr marL="0" indent="0">
              <a:buNone/>
            </a:pPr>
            <a:endParaRPr lang="en-US" dirty="0"/>
          </a:p>
        </p:txBody>
      </p:sp>
    </p:spTree>
    <p:extLst>
      <p:ext uri="{BB962C8B-B14F-4D97-AF65-F5344CB8AC3E}">
        <p14:creationId xmlns:p14="http://schemas.microsoft.com/office/powerpoint/2010/main" val="42527897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E8D695-57E2-DEA2-78DD-5AD28F8764E6}"/>
              </a:ext>
            </a:extLst>
          </p:cNvPr>
          <p:cNvSpPr>
            <a:spLocks noGrp="1"/>
          </p:cNvSpPr>
          <p:nvPr>
            <p:ph type="ctrTitle"/>
          </p:nvPr>
        </p:nvSpPr>
        <p:spPr/>
        <p:txBody>
          <a:bodyPr/>
          <a:lstStyle/>
          <a:p>
            <a:endParaRPr lang="en-US"/>
          </a:p>
        </p:txBody>
      </p:sp>
      <p:sp>
        <p:nvSpPr>
          <p:cNvPr id="3" name="Subtitle 2">
            <a:extLst>
              <a:ext uri="{FF2B5EF4-FFF2-40B4-BE49-F238E27FC236}">
                <a16:creationId xmlns:a16="http://schemas.microsoft.com/office/drawing/2014/main" id="{D8716C72-BE24-436A-3241-50D579A2FFE8}"/>
              </a:ext>
            </a:extLst>
          </p:cNvPr>
          <p:cNvSpPr>
            <a:spLocks noGrp="1"/>
          </p:cNvSpPr>
          <p:nvPr>
            <p:ph type="subTitle" idx="1"/>
          </p:nvPr>
        </p:nvSpPr>
        <p:spPr/>
        <p:txBody>
          <a:bodyPr/>
          <a:lstStyle/>
          <a:p>
            <a:endParaRPr lang="en-US"/>
          </a:p>
        </p:txBody>
      </p:sp>
      <p:pic>
        <p:nvPicPr>
          <p:cNvPr id="5" name="slide.url=https://www.polleverywhere.com/multiple_choice_polls/SlUK7xUZGy47LKoc5TzCU?state=opened&amp;flow=Default&amp;onscreen=persist">
            <a:extLst>
              <a:ext uri="{FF2B5EF4-FFF2-40B4-BE49-F238E27FC236}">
                <a16:creationId xmlns:a16="http://schemas.microsoft.com/office/drawing/2014/main" id="{17A62C63-DBF2-CBB6-428D-2A3C7ADC5C26}"/>
              </a:ext>
            </a:extLst>
          </p:cNvPr>
          <p:cNvPicPr>
            <a:picLocks/>
          </p:cNvPicPr>
          <p:nvPr/>
        </p:nvPicPr>
        <p:blipFill>
          <a:blip r:embed="rId3"/>
          <a:stretch>
            <a:fillRect/>
          </a:stretch>
        </p:blipFill>
        <p:spPr>
          <a:xfrm>
            <a:off x="63500" y="63500"/>
            <a:ext cx="12065000" cy="6731000"/>
          </a:xfrm>
          <a:prstGeom prst="rect">
            <a:avLst/>
          </a:prstGeom>
        </p:spPr>
      </p:pic>
    </p:spTree>
    <p:extLst>
      <p:ext uri="{BB962C8B-B14F-4D97-AF65-F5344CB8AC3E}">
        <p14:creationId xmlns:p14="http://schemas.microsoft.com/office/powerpoint/2010/main" val="4505421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229DC323-B4E5-093F-6D5E-DEE2EBA55A03}"/>
              </a:ext>
            </a:extLst>
          </p:cNvPr>
          <p:cNvSpPr>
            <a:spLocks noGrp="1"/>
          </p:cNvSpPr>
          <p:nvPr>
            <p:ph idx="1"/>
          </p:nvPr>
        </p:nvSpPr>
        <p:spPr/>
        <p:txBody>
          <a:bodyPr/>
          <a:lstStyle/>
          <a:p>
            <a:r>
              <a:rPr lang="en-US" dirty="0"/>
              <a:t>Long Short Term Memory Networks (LSTMs)</a:t>
            </a:r>
          </a:p>
        </p:txBody>
      </p:sp>
    </p:spTree>
    <p:extLst>
      <p:ext uri="{BB962C8B-B14F-4D97-AF65-F5344CB8AC3E}">
        <p14:creationId xmlns:p14="http://schemas.microsoft.com/office/powerpoint/2010/main" val="52902752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06ADF00B-1D26-8A0D-95F3-808521FD71AF}"/>
              </a:ext>
            </a:extLst>
          </p:cNvPr>
          <p:cNvSpPr>
            <a:spLocks noGrp="1"/>
          </p:cNvSpPr>
          <p:nvPr>
            <p:ph type="title"/>
          </p:nvPr>
        </p:nvSpPr>
        <p:spPr/>
        <p:txBody>
          <a:bodyPr>
            <a:normAutofit/>
          </a:bodyPr>
          <a:lstStyle/>
          <a:p>
            <a:r>
              <a:rPr lang="en-US" dirty="0"/>
              <a:t>Long Short‑Term Memory (LSTM)</a:t>
            </a:r>
          </a:p>
        </p:txBody>
      </p:sp>
      <p:sp>
        <p:nvSpPr>
          <p:cNvPr id="8" name="Content Placeholder 7">
            <a:extLst>
              <a:ext uri="{FF2B5EF4-FFF2-40B4-BE49-F238E27FC236}">
                <a16:creationId xmlns:a16="http://schemas.microsoft.com/office/drawing/2014/main" id="{7A8D1424-A097-944D-9AC3-3DD95C94C64D}"/>
              </a:ext>
            </a:extLst>
          </p:cNvPr>
          <p:cNvSpPr>
            <a:spLocks noGrp="1"/>
          </p:cNvSpPr>
          <p:nvPr>
            <p:ph idx="1"/>
          </p:nvPr>
        </p:nvSpPr>
        <p:spPr/>
        <p:txBody>
          <a:bodyPr>
            <a:normAutofit lnSpcReduction="10000"/>
          </a:bodyPr>
          <a:lstStyle/>
          <a:p>
            <a:pPr marL="0" indent="0">
              <a:buNone/>
            </a:pPr>
            <a:r>
              <a:rPr lang="en-US" b="1" dirty="0"/>
              <a:t>Motivation</a:t>
            </a:r>
          </a:p>
          <a:p>
            <a:r>
              <a:rPr lang="en-US" dirty="0"/>
              <a:t>LSTMs were proposed to overcome vanishing gradients by introducing a dedicated long term memory cell</a:t>
            </a:r>
          </a:p>
          <a:p>
            <a:endParaRPr lang="en-US" dirty="0"/>
          </a:p>
          <a:p>
            <a:pPr marL="0" indent="0">
              <a:buNone/>
            </a:pPr>
            <a:r>
              <a:rPr lang="en-US" b="1" dirty="0"/>
              <a:t>Key idea</a:t>
            </a:r>
          </a:p>
          <a:p>
            <a:r>
              <a:rPr lang="en-US" dirty="0"/>
              <a:t>Control the flow of information with ‘gates’ that learn when to forget past data, when to incorporate new input and when to expose the memory to the rest of the network</a:t>
            </a:r>
          </a:p>
          <a:p>
            <a:endParaRPr lang="en-US" dirty="0"/>
          </a:p>
          <a:p>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FCA0F73-DBE6-3244-34D8-B63CF84D6B5E}"/>
              </a:ext>
            </a:extLst>
          </p:cNvPr>
          <p:cNvSpPr>
            <a:spLocks noGrp="1"/>
          </p:cNvSpPr>
          <p:nvPr>
            <p:ph type="title"/>
          </p:nvPr>
        </p:nvSpPr>
        <p:spPr/>
        <p:txBody>
          <a:bodyPr>
            <a:normAutofit/>
          </a:bodyPr>
          <a:lstStyle/>
          <a:p>
            <a:r>
              <a:rPr lang="en-US" dirty="0"/>
              <a:t>Anatomy of an LSTM Cell</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57BFE5B8-1654-D2A5-B6FC-23BCF9FFE9F6}"/>
                  </a:ext>
                </a:extLst>
              </p:cNvPr>
              <p:cNvSpPr>
                <a:spLocks noGrp="1"/>
              </p:cNvSpPr>
              <p:nvPr>
                <p:ph idx="1"/>
              </p:nvPr>
            </p:nvSpPr>
            <p:spPr/>
            <p:txBody>
              <a:bodyPr/>
              <a:lstStyle/>
              <a:p>
                <a:r>
                  <a:rPr lang="en-US" dirty="0"/>
                  <a:t>Have two current states: a long-term memory and a short-term memory (which gives our prediction)</a:t>
                </a:r>
              </a:p>
              <a:p>
                <a:r>
                  <a:rPr lang="en-US" dirty="0"/>
                  <a:t>Forget gate (</a:t>
                </a:r>
                <a14:m>
                  <m:oMath xmlns:m="http://schemas.openxmlformats.org/officeDocument/2006/math">
                    <m:r>
                      <a:rPr lang="en-US" i="1" dirty="0">
                        <a:latin typeface="Cambria Math" panose="02040503050406030204" pitchFamily="18" charset="0"/>
                      </a:rPr>
                      <m:t>𝐹</m:t>
                    </m:r>
                    <m:r>
                      <a:rPr lang="en-US" i="1" dirty="0">
                        <a:latin typeface="Cambria Math" panose="02040503050406030204" pitchFamily="18" charset="0"/>
                      </a:rPr>
                      <m:t>ₜ</m:t>
                    </m:r>
                  </m:oMath>
                </a14:m>
                <a:r>
                  <a:rPr lang="en-US" dirty="0"/>
                  <a:t>): controls what fraction of the long-term memory is kept</a:t>
                </a:r>
              </a:p>
              <a:p>
                <a:r>
                  <a:rPr lang="en-US" dirty="0"/>
                  <a:t>Input gate (</a:t>
                </a:r>
                <a14:m>
                  <m:oMath xmlns:m="http://schemas.openxmlformats.org/officeDocument/2006/math">
                    <m:r>
                      <a:rPr lang="en-US" i="1" dirty="0" smtClean="0">
                        <a:latin typeface="Cambria Math" panose="02040503050406030204" pitchFamily="18" charset="0"/>
                      </a:rPr>
                      <m:t>𝐼</m:t>
                    </m:r>
                    <m:r>
                      <a:rPr lang="en-US" i="1" dirty="0" smtClean="0">
                        <a:latin typeface="Cambria Math" panose="02040503050406030204" pitchFamily="18" charset="0"/>
                      </a:rPr>
                      <m:t>ₜ</m:t>
                    </m:r>
                  </m:oMath>
                </a14:m>
                <a:r>
                  <a:rPr lang="en-US" dirty="0"/>
                  <a:t>): updates the long-term memory value</a:t>
                </a:r>
              </a:p>
              <a:p>
                <a:r>
                  <a:rPr lang="en-US" dirty="0"/>
                  <a:t>Output gate (</a:t>
                </a:r>
                <a14:m>
                  <m:oMath xmlns:m="http://schemas.openxmlformats.org/officeDocument/2006/math">
                    <m:r>
                      <a:rPr lang="en-US" i="1" dirty="0" smtClean="0">
                        <a:latin typeface="Cambria Math" panose="02040503050406030204" pitchFamily="18" charset="0"/>
                      </a:rPr>
                      <m:t>𝑂</m:t>
                    </m:r>
                    <m:r>
                      <a:rPr lang="en-US" i="1" dirty="0" smtClean="0">
                        <a:latin typeface="Cambria Math" panose="02040503050406030204" pitchFamily="18" charset="0"/>
                      </a:rPr>
                      <m:t>ₜ</m:t>
                    </m:r>
                  </m:oMath>
                </a14:m>
                <a:r>
                  <a:rPr lang="en-US" dirty="0"/>
                  <a:t>): updates the short-term memory and provides our new prediction</a:t>
                </a:r>
              </a:p>
              <a:p>
                <a:endParaRPr lang="en-US" dirty="0"/>
              </a:p>
              <a:p>
                <a:endParaRPr lang="en-US" dirty="0"/>
              </a:p>
            </p:txBody>
          </p:sp>
        </mc:Choice>
        <mc:Fallback xmlns="">
          <p:sp>
            <p:nvSpPr>
              <p:cNvPr id="3" name="Content Placeholder 2">
                <a:extLst>
                  <a:ext uri="{FF2B5EF4-FFF2-40B4-BE49-F238E27FC236}">
                    <a16:creationId xmlns:a16="http://schemas.microsoft.com/office/drawing/2014/main" id="{57BFE5B8-1654-D2A5-B6FC-23BCF9FFE9F6}"/>
                  </a:ext>
                </a:extLst>
              </p:cNvPr>
              <p:cNvSpPr>
                <a:spLocks noGrp="1" noRot="1" noChangeAspect="1" noMove="1" noResize="1" noEditPoints="1" noAdjustHandles="1" noChangeArrowheads="1" noChangeShapeType="1" noTextEdit="1"/>
              </p:cNvSpPr>
              <p:nvPr>
                <p:ph idx="1"/>
              </p:nvPr>
            </p:nvSpPr>
            <p:spPr>
              <a:blipFill>
                <a:blip r:embed="rId2"/>
                <a:stretch>
                  <a:fillRect l="-1368" t="-2439" r="-912"/>
                </a:stretch>
              </a:blipFill>
            </p:spPr>
            <p:txBody>
              <a:bodyPr/>
              <a:lstStyle/>
              <a:p>
                <a:r>
                  <a:rPr lang="en-US">
                    <a:noFill/>
                  </a:rPr>
                  <a:t> </a:t>
                </a:r>
              </a:p>
            </p:txBody>
          </p:sp>
        </mc:Fallback>
      </mc:AlternateContent>
    </p:spTree>
    <p:extLst>
      <p:ext uri="{BB962C8B-B14F-4D97-AF65-F5344CB8AC3E}">
        <p14:creationId xmlns:p14="http://schemas.microsoft.com/office/powerpoint/2010/main" val="352733128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A26B4F-D4A5-265E-8D94-66A1631F7D4A}"/>
              </a:ext>
            </a:extLst>
          </p:cNvPr>
          <p:cNvSpPr>
            <a:spLocks noGrp="1"/>
          </p:cNvSpPr>
          <p:nvPr>
            <p:ph type="title"/>
          </p:nvPr>
        </p:nvSpPr>
        <p:spPr/>
        <p:txBody>
          <a:bodyPr>
            <a:normAutofit/>
          </a:bodyPr>
          <a:lstStyle/>
          <a:p>
            <a:r>
              <a:rPr lang="en-US" dirty="0"/>
              <a:t>First set of gates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A98F5FA5-6C95-84EA-6E34-F68DA33C67CD}"/>
                  </a:ext>
                </a:extLst>
              </p:cNvPr>
              <p:cNvSpPr>
                <a:spLocks noGrp="1"/>
              </p:cNvSpPr>
              <p:nvPr>
                <p:ph idx="1"/>
              </p:nvPr>
            </p:nvSpPr>
            <p:spPr/>
            <p:txBody>
              <a:bodyPr>
                <a:normAutofit/>
              </a:bodyPr>
              <a:lstStyle/>
              <a:p>
                <a:r>
                  <a:rPr lang="en-US" dirty="0"/>
                  <a:t>Input gate:</a:t>
                </a:r>
              </a:p>
              <a:p>
                <a:pPr marL="0" indent="0">
                  <a:buNone/>
                </a:pPr>
                <a14:m>
                  <m:oMathPara xmlns:m="http://schemas.openxmlformats.org/officeDocument/2006/math">
                    <m:oMathParaPr>
                      <m:jc m:val="centerGroup"/>
                    </m:oMathParaPr>
                    <m:oMath xmlns:m="http://schemas.openxmlformats.org/officeDocument/2006/math">
                      <m:r>
                        <a:rPr lang="en-IE" b="0" i="1" dirty="0" smtClean="0">
                          <a:latin typeface="Cambria Math" panose="02040503050406030204" pitchFamily="18" charset="0"/>
                        </a:rPr>
                        <m:t>𝑖</m:t>
                      </m:r>
                      <m:r>
                        <a:rPr lang="en-US" i="1" dirty="0" smtClean="0">
                          <a:latin typeface="Cambria Math" panose="02040503050406030204" pitchFamily="18" charset="0"/>
                        </a:rPr>
                        <m:t>ₜ = </m:t>
                      </m:r>
                      <m:r>
                        <a:rPr lang="el-GR" i="1" dirty="0" smtClean="0">
                          <a:latin typeface="Cambria Math" panose="02040503050406030204" pitchFamily="18" charset="0"/>
                        </a:rPr>
                        <m:t>𝜎</m:t>
                      </m:r>
                      <m:r>
                        <a:rPr lang="el-GR" i="1" dirty="0" smtClean="0">
                          <a:latin typeface="Cambria Math" panose="02040503050406030204" pitchFamily="18" charset="0"/>
                        </a:rPr>
                        <m:t>(</m:t>
                      </m:r>
                      <m:r>
                        <a:rPr lang="en-US" i="1" dirty="0" smtClean="0">
                          <a:latin typeface="Cambria Math" panose="02040503050406030204" pitchFamily="18" charset="0"/>
                        </a:rPr>
                        <m:t>𝑋</m:t>
                      </m:r>
                      <m:r>
                        <a:rPr lang="en-US" i="1" dirty="0" smtClean="0">
                          <a:latin typeface="Cambria Math" panose="02040503050406030204" pitchFamily="18" charset="0"/>
                        </a:rPr>
                        <m:t>ₜ </m:t>
                      </m:r>
                      <m:sSub>
                        <m:sSubPr>
                          <m:ctrlPr>
                            <a:rPr lang="en-IE" b="0" i="1" dirty="0" smtClean="0">
                              <a:latin typeface="Cambria Math" panose="02040503050406030204" pitchFamily="18" charset="0"/>
                            </a:rPr>
                          </m:ctrlPr>
                        </m:sSubPr>
                        <m:e>
                          <m:r>
                            <a:rPr lang="en-US" i="1" dirty="0" smtClean="0">
                              <a:latin typeface="Cambria Math" panose="02040503050406030204" pitchFamily="18" charset="0"/>
                            </a:rPr>
                            <m:t>𝑊</m:t>
                          </m:r>
                        </m:e>
                        <m:sub>
                          <m:r>
                            <a:rPr lang="en-IE" b="0" i="1" dirty="0" smtClean="0">
                              <a:latin typeface="Cambria Math" panose="02040503050406030204" pitchFamily="18" charset="0"/>
                            </a:rPr>
                            <m:t>𝑋𝑖</m:t>
                          </m:r>
                        </m:sub>
                      </m:sSub>
                      <m:r>
                        <a:rPr lang="en-US" i="1" dirty="0" smtClean="0">
                          <a:latin typeface="Cambria Math" panose="02040503050406030204" pitchFamily="18" charset="0"/>
                        </a:rPr>
                        <m:t> + </m:t>
                      </m:r>
                      <m:sSub>
                        <m:sSubPr>
                          <m:ctrlPr>
                            <a:rPr lang="en-IE" b="0" i="1" dirty="0" smtClean="0">
                              <a:latin typeface="Cambria Math" panose="02040503050406030204" pitchFamily="18" charset="0"/>
                            </a:rPr>
                          </m:ctrlPr>
                        </m:sSubPr>
                        <m:e>
                          <m:r>
                            <a:rPr lang="en-US" i="1" dirty="0" smtClean="0">
                              <a:latin typeface="Cambria Math" panose="02040503050406030204" pitchFamily="18" charset="0"/>
                            </a:rPr>
                            <m:t>𝐻</m:t>
                          </m:r>
                        </m:e>
                        <m:sub>
                          <m:r>
                            <a:rPr lang="en-IE" b="0" i="1" dirty="0" smtClean="0">
                              <a:latin typeface="Cambria Math" panose="02040503050406030204" pitchFamily="18" charset="0"/>
                            </a:rPr>
                            <m:t>𝑡</m:t>
                          </m:r>
                          <m:r>
                            <a:rPr lang="en-IE" b="0" i="1" dirty="0" smtClean="0">
                              <a:latin typeface="Cambria Math" panose="02040503050406030204" pitchFamily="18" charset="0"/>
                            </a:rPr>
                            <m:t>−1</m:t>
                          </m:r>
                        </m:sub>
                      </m:sSub>
                      <m:sSub>
                        <m:sSubPr>
                          <m:ctrlPr>
                            <a:rPr lang="en-IE" b="0" i="1" dirty="0" smtClean="0">
                              <a:latin typeface="Cambria Math" panose="02040503050406030204" pitchFamily="18" charset="0"/>
                            </a:rPr>
                          </m:ctrlPr>
                        </m:sSubPr>
                        <m:e>
                          <m:r>
                            <a:rPr lang="en-US" i="1" dirty="0" smtClean="0">
                              <a:latin typeface="Cambria Math" panose="02040503050406030204" pitchFamily="18" charset="0"/>
                            </a:rPr>
                            <m:t>𝑊</m:t>
                          </m:r>
                        </m:e>
                        <m:sub>
                          <m:r>
                            <a:rPr lang="en-IE" b="0" i="1" dirty="0" smtClean="0">
                              <a:latin typeface="Cambria Math" panose="02040503050406030204" pitchFamily="18" charset="0"/>
                            </a:rPr>
                            <m:t>h𝑖</m:t>
                          </m:r>
                        </m:sub>
                      </m:sSub>
                      <m:r>
                        <a:rPr lang="en-US" i="1" dirty="0" smtClean="0">
                          <a:latin typeface="Cambria Math" panose="02040503050406030204" pitchFamily="18" charset="0"/>
                        </a:rPr>
                        <m:t> + </m:t>
                      </m:r>
                      <m:r>
                        <a:rPr lang="en-US" i="1" dirty="0" smtClean="0">
                          <a:latin typeface="Cambria Math" panose="02040503050406030204" pitchFamily="18" charset="0"/>
                        </a:rPr>
                        <m:t>𝑏</m:t>
                      </m:r>
                      <m:r>
                        <a:rPr lang="en-US" i="1" dirty="0" smtClean="0">
                          <a:latin typeface="Cambria Math" panose="02040503050406030204" pitchFamily="18" charset="0"/>
                        </a:rPr>
                        <m:t>ᵢ)</m:t>
                      </m:r>
                    </m:oMath>
                  </m:oMathPara>
                </a14:m>
                <a:endParaRPr lang="en-US" dirty="0"/>
              </a:p>
              <a:p>
                <a:r>
                  <a:rPr lang="en-US" dirty="0"/>
                  <a:t>Forget gate:</a:t>
                </a:r>
              </a:p>
              <a:p>
                <a:pPr marL="0" indent="0">
                  <a:buNone/>
                </a:pPr>
                <a14:m>
                  <m:oMathPara xmlns:m="http://schemas.openxmlformats.org/officeDocument/2006/math">
                    <m:oMathParaPr>
                      <m:jc m:val="centerGroup"/>
                    </m:oMathParaPr>
                    <m:oMath xmlns:m="http://schemas.openxmlformats.org/officeDocument/2006/math">
                      <m:r>
                        <a:rPr lang="en-IE" b="0" i="1" dirty="0" smtClean="0">
                          <a:latin typeface="Cambria Math" panose="02040503050406030204" pitchFamily="18" charset="0"/>
                        </a:rPr>
                        <m:t>𝑓</m:t>
                      </m:r>
                      <m:r>
                        <a:rPr lang="en-US" i="1" dirty="0">
                          <a:latin typeface="Cambria Math" panose="02040503050406030204" pitchFamily="18" charset="0"/>
                        </a:rPr>
                        <m:t>ₜ = </m:t>
                      </m:r>
                      <m:r>
                        <a:rPr lang="el-GR" i="1" dirty="0">
                          <a:latin typeface="Cambria Math" panose="02040503050406030204" pitchFamily="18" charset="0"/>
                        </a:rPr>
                        <m:t>𝜎</m:t>
                      </m:r>
                      <m:r>
                        <a:rPr lang="el-GR" i="1" dirty="0">
                          <a:latin typeface="Cambria Math" panose="02040503050406030204" pitchFamily="18" charset="0"/>
                        </a:rPr>
                        <m:t>(</m:t>
                      </m:r>
                      <m:r>
                        <a:rPr lang="en-US" i="1" dirty="0">
                          <a:latin typeface="Cambria Math" panose="02040503050406030204" pitchFamily="18" charset="0"/>
                        </a:rPr>
                        <m:t>𝑋</m:t>
                      </m:r>
                      <m:r>
                        <a:rPr lang="en-US" i="1" dirty="0">
                          <a:latin typeface="Cambria Math" panose="02040503050406030204" pitchFamily="18" charset="0"/>
                        </a:rPr>
                        <m:t>ₜ </m:t>
                      </m:r>
                      <m:sSub>
                        <m:sSubPr>
                          <m:ctrlPr>
                            <a:rPr lang="en-IE" b="0" i="1" dirty="0" smtClean="0">
                              <a:latin typeface="Cambria Math" panose="02040503050406030204" pitchFamily="18" charset="0"/>
                            </a:rPr>
                          </m:ctrlPr>
                        </m:sSubPr>
                        <m:e>
                          <m:r>
                            <a:rPr lang="en-US" i="1" dirty="0">
                              <a:latin typeface="Cambria Math" panose="02040503050406030204" pitchFamily="18" charset="0"/>
                            </a:rPr>
                            <m:t>𝑊</m:t>
                          </m:r>
                        </m:e>
                        <m:sub>
                          <m:r>
                            <a:rPr lang="en-IE" i="1" dirty="0">
                              <a:latin typeface="Cambria Math" panose="02040503050406030204" pitchFamily="18" charset="0"/>
                            </a:rPr>
                            <m:t>𝑋</m:t>
                          </m:r>
                          <m:r>
                            <a:rPr lang="en-IE" b="0" i="1" dirty="0" smtClean="0">
                              <a:latin typeface="Cambria Math" panose="02040503050406030204" pitchFamily="18" charset="0"/>
                            </a:rPr>
                            <m:t>𝑓</m:t>
                          </m:r>
                        </m:sub>
                      </m:sSub>
                      <m:r>
                        <a:rPr lang="en-US" i="1" dirty="0">
                          <a:latin typeface="Cambria Math" panose="02040503050406030204" pitchFamily="18" charset="0"/>
                        </a:rPr>
                        <m:t> + </m:t>
                      </m:r>
                      <m:sSub>
                        <m:sSubPr>
                          <m:ctrlPr>
                            <a:rPr lang="en-IE" b="0" i="1" dirty="0" smtClean="0">
                              <a:latin typeface="Cambria Math" panose="02040503050406030204" pitchFamily="18" charset="0"/>
                            </a:rPr>
                          </m:ctrlPr>
                        </m:sSubPr>
                        <m:e>
                          <m:r>
                            <a:rPr lang="en-US" i="1" dirty="0">
                              <a:latin typeface="Cambria Math" panose="02040503050406030204" pitchFamily="18" charset="0"/>
                            </a:rPr>
                            <m:t>𝐻</m:t>
                          </m:r>
                        </m:e>
                        <m:sub>
                          <m:r>
                            <a:rPr lang="en-IE" b="0" i="1" dirty="0" smtClean="0">
                              <a:latin typeface="Cambria Math" panose="02040503050406030204" pitchFamily="18" charset="0"/>
                            </a:rPr>
                            <m:t>𝑡</m:t>
                          </m:r>
                          <m:r>
                            <a:rPr lang="en-IE" b="0" i="1" dirty="0" smtClean="0">
                              <a:latin typeface="Cambria Math" panose="02040503050406030204" pitchFamily="18" charset="0"/>
                            </a:rPr>
                            <m:t>−1</m:t>
                          </m:r>
                        </m:sub>
                      </m:sSub>
                      <m:sSub>
                        <m:sSubPr>
                          <m:ctrlPr>
                            <a:rPr lang="en-IE" b="0" i="1" dirty="0" smtClean="0">
                              <a:latin typeface="Cambria Math" panose="02040503050406030204" pitchFamily="18" charset="0"/>
                            </a:rPr>
                          </m:ctrlPr>
                        </m:sSubPr>
                        <m:e>
                          <m:r>
                            <a:rPr lang="en-US" i="1" dirty="0">
                              <a:latin typeface="Cambria Math" panose="02040503050406030204" pitchFamily="18" charset="0"/>
                            </a:rPr>
                            <m:t>𝑊</m:t>
                          </m:r>
                        </m:e>
                        <m:sub>
                          <m:r>
                            <a:rPr lang="en-IE" b="0" i="1" dirty="0" smtClean="0">
                              <a:latin typeface="Cambria Math" panose="02040503050406030204" pitchFamily="18" charset="0"/>
                            </a:rPr>
                            <m:t>h𝑓</m:t>
                          </m:r>
                        </m:sub>
                      </m:sSub>
                      <m:r>
                        <a:rPr lang="en-US" i="1" dirty="0">
                          <a:latin typeface="Cambria Math" panose="02040503050406030204" pitchFamily="18" charset="0"/>
                        </a:rPr>
                        <m:t> + </m:t>
                      </m:r>
                      <m:sSub>
                        <m:sSubPr>
                          <m:ctrlPr>
                            <a:rPr lang="en-IE" b="0" i="1" dirty="0" smtClean="0">
                              <a:latin typeface="Cambria Math" panose="02040503050406030204" pitchFamily="18" charset="0"/>
                            </a:rPr>
                          </m:ctrlPr>
                        </m:sSubPr>
                        <m:e>
                          <m:r>
                            <a:rPr lang="en-US" i="1" dirty="0">
                              <a:latin typeface="Cambria Math" panose="02040503050406030204" pitchFamily="18" charset="0"/>
                            </a:rPr>
                            <m:t>𝑏</m:t>
                          </m:r>
                        </m:e>
                        <m:sub>
                          <m:r>
                            <a:rPr lang="en-IE" b="0" i="1" dirty="0" smtClean="0">
                              <a:latin typeface="Cambria Math" panose="02040503050406030204" pitchFamily="18" charset="0"/>
                            </a:rPr>
                            <m:t>𝑓</m:t>
                          </m:r>
                        </m:sub>
                      </m:sSub>
                      <m:r>
                        <a:rPr lang="en-US" i="1" dirty="0">
                          <a:latin typeface="Cambria Math" panose="02040503050406030204" pitchFamily="18" charset="0"/>
                        </a:rPr>
                        <m:t>)</m:t>
                      </m:r>
                    </m:oMath>
                  </m:oMathPara>
                </a14:m>
                <a:endParaRPr lang="en-US" dirty="0"/>
              </a:p>
              <a:p>
                <a:r>
                  <a:rPr lang="en-US" dirty="0"/>
                  <a:t>Memory cell gate:</a:t>
                </a:r>
              </a:p>
              <a:p>
                <a:pPr marL="0" indent="0">
                  <a:buNone/>
                </a:pPr>
                <a14:m>
                  <m:oMathPara xmlns:m="http://schemas.openxmlformats.org/officeDocument/2006/math">
                    <m:oMathParaPr>
                      <m:jc m:val="centerGroup"/>
                    </m:oMathParaPr>
                    <m:oMath xmlns:m="http://schemas.openxmlformats.org/officeDocument/2006/math">
                      <m:acc>
                        <m:accPr>
                          <m:chr m:val="̃"/>
                          <m:ctrlPr>
                            <a:rPr lang="en-US" i="1" dirty="0" smtClean="0">
                              <a:latin typeface="Cambria Math" panose="02040503050406030204" pitchFamily="18" charset="0"/>
                            </a:rPr>
                          </m:ctrlPr>
                        </m:accPr>
                        <m:e>
                          <m:sSub>
                            <m:sSubPr>
                              <m:ctrlPr>
                                <a:rPr lang="en-IE" b="0" i="1" dirty="0" smtClean="0">
                                  <a:latin typeface="Cambria Math" panose="02040503050406030204" pitchFamily="18" charset="0"/>
                                </a:rPr>
                              </m:ctrlPr>
                            </m:sSubPr>
                            <m:e>
                              <m:r>
                                <a:rPr lang="en-IE" b="0" i="1" dirty="0" smtClean="0">
                                  <a:latin typeface="Cambria Math" panose="02040503050406030204" pitchFamily="18" charset="0"/>
                                </a:rPr>
                                <m:t>𝑐</m:t>
                              </m:r>
                            </m:e>
                            <m:sub>
                              <m:r>
                                <a:rPr lang="en-IE" b="0" i="1" dirty="0" smtClean="0">
                                  <a:latin typeface="Cambria Math" panose="02040503050406030204" pitchFamily="18" charset="0"/>
                                </a:rPr>
                                <m:t>𝑡</m:t>
                              </m:r>
                            </m:sub>
                          </m:sSub>
                        </m:e>
                      </m:acc>
                      <m:r>
                        <a:rPr lang="en-US" i="1" dirty="0">
                          <a:latin typeface="Cambria Math" panose="02040503050406030204" pitchFamily="18" charset="0"/>
                        </a:rPr>
                        <m:t> =</m:t>
                      </m:r>
                      <m:r>
                        <a:rPr lang="en-IE" b="0" i="1" dirty="0" smtClean="0">
                          <a:latin typeface="Cambria Math" panose="02040503050406030204" pitchFamily="18" charset="0"/>
                        </a:rPr>
                        <m:t>𝑡𝑎𝑛h</m:t>
                      </m:r>
                      <m:r>
                        <a:rPr lang="el-GR" i="1" dirty="0">
                          <a:latin typeface="Cambria Math" panose="02040503050406030204" pitchFamily="18" charset="0"/>
                        </a:rPr>
                        <m:t>(</m:t>
                      </m:r>
                      <m:r>
                        <a:rPr lang="en-US" i="1" dirty="0">
                          <a:latin typeface="Cambria Math" panose="02040503050406030204" pitchFamily="18" charset="0"/>
                        </a:rPr>
                        <m:t>𝑋</m:t>
                      </m:r>
                      <m:r>
                        <a:rPr lang="en-US" i="1" dirty="0">
                          <a:latin typeface="Cambria Math" panose="02040503050406030204" pitchFamily="18" charset="0"/>
                        </a:rPr>
                        <m:t>ₜ </m:t>
                      </m:r>
                      <m:sSub>
                        <m:sSubPr>
                          <m:ctrlPr>
                            <a:rPr lang="en-IE" b="0" i="1" dirty="0" smtClean="0">
                              <a:latin typeface="Cambria Math" panose="02040503050406030204" pitchFamily="18" charset="0"/>
                            </a:rPr>
                          </m:ctrlPr>
                        </m:sSubPr>
                        <m:e>
                          <m:r>
                            <a:rPr lang="en-US" i="1" dirty="0">
                              <a:latin typeface="Cambria Math" panose="02040503050406030204" pitchFamily="18" charset="0"/>
                            </a:rPr>
                            <m:t>𝑊</m:t>
                          </m:r>
                        </m:e>
                        <m:sub>
                          <m:r>
                            <a:rPr lang="en-IE" b="0" i="1" dirty="0" smtClean="0">
                              <a:latin typeface="Cambria Math" panose="02040503050406030204" pitchFamily="18" charset="0"/>
                            </a:rPr>
                            <m:t>𝑥𝑐</m:t>
                          </m:r>
                        </m:sub>
                      </m:sSub>
                      <m:r>
                        <a:rPr lang="en-US" i="1" dirty="0" smtClean="0">
                          <a:latin typeface="Cambria Math" panose="02040503050406030204" pitchFamily="18" charset="0"/>
                        </a:rPr>
                        <m:t> </m:t>
                      </m:r>
                      <m:r>
                        <a:rPr lang="en-US" i="1" dirty="0">
                          <a:latin typeface="Cambria Math" panose="02040503050406030204" pitchFamily="18" charset="0"/>
                        </a:rPr>
                        <m:t>+ </m:t>
                      </m:r>
                      <m:sSub>
                        <m:sSubPr>
                          <m:ctrlPr>
                            <a:rPr lang="en-IE" b="0" i="1" dirty="0" smtClean="0">
                              <a:latin typeface="Cambria Math" panose="02040503050406030204" pitchFamily="18" charset="0"/>
                            </a:rPr>
                          </m:ctrlPr>
                        </m:sSubPr>
                        <m:e>
                          <m:r>
                            <a:rPr lang="en-US" i="1" dirty="0">
                              <a:latin typeface="Cambria Math" panose="02040503050406030204" pitchFamily="18" charset="0"/>
                            </a:rPr>
                            <m:t>𝐻</m:t>
                          </m:r>
                        </m:e>
                        <m:sub>
                          <m:r>
                            <a:rPr lang="en-IE" b="0" i="1" dirty="0" smtClean="0">
                              <a:latin typeface="Cambria Math" panose="02040503050406030204" pitchFamily="18" charset="0"/>
                            </a:rPr>
                            <m:t>𝑡</m:t>
                          </m:r>
                          <m:r>
                            <a:rPr lang="en-IE" b="0" i="1" dirty="0" smtClean="0">
                              <a:latin typeface="Cambria Math" panose="02040503050406030204" pitchFamily="18" charset="0"/>
                            </a:rPr>
                            <m:t>−1</m:t>
                          </m:r>
                        </m:sub>
                      </m:sSub>
                      <m:sSub>
                        <m:sSubPr>
                          <m:ctrlPr>
                            <a:rPr lang="en-IE" b="0" i="1" dirty="0" smtClean="0">
                              <a:latin typeface="Cambria Math" panose="02040503050406030204" pitchFamily="18" charset="0"/>
                            </a:rPr>
                          </m:ctrlPr>
                        </m:sSubPr>
                        <m:e>
                          <m:r>
                            <a:rPr lang="en-IE" b="0" i="1" dirty="0" smtClean="0">
                              <a:latin typeface="Cambria Math" panose="02040503050406030204" pitchFamily="18" charset="0"/>
                            </a:rPr>
                            <m:t>𝑊</m:t>
                          </m:r>
                        </m:e>
                        <m:sub>
                          <m:r>
                            <a:rPr lang="en-IE" b="0" i="1" dirty="0" smtClean="0">
                              <a:latin typeface="Cambria Math" panose="02040503050406030204" pitchFamily="18" charset="0"/>
                            </a:rPr>
                            <m:t>h𝑐</m:t>
                          </m:r>
                        </m:sub>
                      </m:sSub>
                      <m:r>
                        <a:rPr lang="en-US" i="1" dirty="0">
                          <a:latin typeface="Cambria Math" panose="02040503050406030204" pitchFamily="18" charset="0"/>
                        </a:rPr>
                        <m:t> + </m:t>
                      </m:r>
                      <m:sSub>
                        <m:sSubPr>
                          <m:ctrlPr>
                            <a:rPr lang="en-IE" b="0" i="1" dirty="0" smtClean="0">
                              <a:latin typeface="Cambria Math" panose="02040503050406030204" pitchFamily="18" charset="0"/>
                            </a:rPr>
                          </m:ctrlPr>
                        </m:sSubPr>
                        <m:e>
                          <m:r>
                            <a:rPr lang="en-US" i="1" dirty="0">
                              <a:latin typeface="Cambria Math" panose="02040503050406030204" pitchFamily="18" charset="0"/>
                            </a:rPr>
                            <m:t>𝑏</m:t>
                          </m:r>
                        </m:e>
                        <m:sub>
                          <m:r>
                            <a:rPr lang="en-IE" b="0" i="1" dirty="0" smtClean="0">
                              <a:latin typeface="Cambria Math" panose="02040503050406030204" pitchFamily="18" charset="0"/>
                            </a:rPr>
                            <m:t>𝑐</m:t>
                          </m:r>
                        </m:sub>
                      </m:sSub>
                      <m:r>
                        <a:rPr lang="en-US" i="1" dirty="0">
                          <a:latin typeface="Cambria Math" panose="02040503050406030204" pitchFamily="18" charset="0"/>
                        </a:rPr>
                        <m:t>)</m:t>
                      </m:r>
                    </m:oMath>
                  </m:oMathPara>
                </a14:m>
                <a:endParaRPr lang="en-US" dirty="0"/>
              </a:p>
              <a:p>
                <a:r>
                  <a:rPr lang="en-US" dirty="0"/>
                  <a:t>Output gate</a:t>
                </a:r>
              </a:p>
              <a:p>
                <a:pPr marL="0" indent="0">
                  <a:buNone/>
                </a:pPr>
                <a14:m>
                  <m:oMathPara xmlns:m="http://schemas.openxmlformats.org/officeDocument/2006/math">
                    <m:oMathParaPr>
                      <m:jc m:val="centerGroup"/>
                    </m:oMathParaPr>
                    <m:oMath xmlns:m="http://schemas.openxmlformats.org/officeDocument/2006/math">
                      <m:r>
                        <a:rPr lang="en-IE" b="0" i="1" dirty="0" smtClean="0">
                          <a:latin typeface="Cambria Math" panose="02040503050406030204" pitchFamily="18" charset="0"/>
                        </a:rPr>
                        <m:t>𝑜</m:t>
                      </m:r>
                      <m:r>
                        <a:rPr lang="en-US" i="1" dirty="0">
                          <a:latin typeface="Cambria Math" panose="02040503050406030204" pitchFamily="18" charset="0"/>
                        </a:rPr>
                        <m:t>ₜ = </m:t>
                      </m:r>
                      <m:r>
                        <a:rPr lang="el-GR" i="1" dirty="0">
                          <a:latin typeface="Cambria Math" panose="02040503050406030204" pitchFamily="18" charset="0"/>
                        </a:rPr>
                        <m:t>𝜎</m:t>
                      </m:r>
                      <m:r>
                        <a:rPr lang="el-GR" i="1" dirty="0">
                          <a:latin typeface="Cambria Math" panose="02040503050406030204" pitchFamily="18" charset="0"/>
                        </a:rPr>
                        <m:t>(</m:t>
                      </m:r>
                      <m:r>
                        <a:rPr lang="en-US" i="1" dirty="0">
                          <a:latin typeface="Cambria Math" panose="02040503050406030204" pitchFamily="18" charset="0"/>
                        </a:rPr>
                        <m:t>𝑋</m:t>
                      </m:r>
                      <m:r>
                        <a:rPr lang="en-US" i="1" dirty="0">
                          <a:latin typeface="Cambria Math" panose="02040503050406030204" pitchFamily="18" charset="0"/>
                        </a:rPr>
                        <m:t>ₜ </m:t>
                      </m:r>
                      <m:sSub>
                        <m:sSubPr>
                          <m:ctrlPr>
                            <a:rPr lang="en-IE" b="0" i="1" dirty="0" smtClean="0">
                              <a:latin typeface="Cambria Math" panose="02040503050406030204" pitchFamily="18" charset="0"/>
                            </a:rPr>
                          </m:ctrlPr>
                        </m:sSubPr>
                        <m:e>
                          <m:r>
                            <a:rPr lang="en-US" i="1" dirty="0">
                              <a:latin typeface="Cambria Math" panose="02040503050406030204" pitchFamily="18" charset="0"/>
                            </a:rPr>
                            <m:t>𝑊</m:t>
                          </m:r>
                        </m:e>
                        <m:sub>
                          <m:r>
                            <a:rPr lang="en-IE" b="0" i="1" dirty="0" smtClean="0">
                              <a:latin typeface="Cambria Math" panose="02040503050406030204" pitchFamily="18" charset="0"/>
                            </a:rPr>
                            <m:t>𝑥𝑜</m:t>
                          </m:r>
                        </m:sub>
                      </m:sSub>
                      <m:r>
                        <a:rPr lang="en-US" i="1" dirty="0">
                          <a:latin typeface="Cambria Math" panose="02040503050406030204" pitchFamily="18" charset="0"/>
                        </a:rPr>
                        <m:t> + </m:t>
                      </m:r>
                      <m:sSub>
                        <m:sSubPr>
                          <m:ctrlPr>
                            <a:rPr lang="en-IE" b="0" i="1" dirty="0" smtClean="0">
                              <a:latin typeface="Cambria Math" panose="02040503050406030204" pitchFamily="18" charset="0"/>
                            </a:rPr>
                          </m:ctrlPr>
                        </m:sSubPr>
                        <m:e>
                          <m:r>
                            <a:rPr lang="en-US" i="1" dirty="0">
                              <a:latin typeface="Cambria Math" panose="02040503050406030204" pitchFamily="18" charset="0"/>
                            </a:rPr>
                            <m:t>𝐻</m:t>
                          </m:r>
                        </m:e>
                        <m:sub>
                          <m:r>
                            <a:rPr lang="en-IE" b="0" i="1" dirty="0" smtClean="0">
                              <a:latin typeface="Cambria Math" panose="02040503050406030204" pitchFamily="18" charset="0"/>
                            </a:rPr>
                            <m:t>𝑡</m:t>
                          </m:r>
                          <m:r>
                            <a:rPr lang="en-IE" b="0" i="1" dirty="0" smtClean="0">
                              <a:latin typeface="Cambria Math" panose="02040503050406030204" pitchFamily="18" charset="0"/>
                            </a:rPr>
                            <m:t>−1</m:t>
                          </m:r>
                        </m:sub>
                      </m:sSub>
                      <m:sSub>
                        <m:sSubPr>
                          <m:ctrlPr>
                            <a:rPr lang="en-IE" b="0" i="1" dirty="0" smtClean="0">
                              <a:latin typeface="Cambria Math" panose="02040503050406030204" pitchFamily="18" charset="0"/>
                            </a:rPr>
                          </m:ctrlPr>
                        </m:sSubPr>
                        <m:e>
                          <m:r>
                            <a:rPr lang="en-US" i="1" dirty="0">
                              <a:latin typeface="Cambria Math" panose="02040503050406030204" pitchFamily="18" charset="0"/>
                            </a:rPr>
                            <m:t>𝑊</m:t>
                          </m:r>
                        </m:e>
                        <m:sub>
                          <m:r>
                            <a:rPr lang="en-IE" b="0" i="1" dirty="0" smtClean="0">
                              <a:latin typeface="Cambria Math" panose="02040503050406030204" pitchFamily="18" charset="0"/>
                            </a:rPr>
                            <m:t>h𝑜</m:t>
                          </m:r>
                        </m:sub>
                      </m:sSub>
                      <m:r>
                        <a:rPr lang="en-US" i="1" dirty="0">
                          <a:latin typeface="Cambria Math" panose="02040503050406030204" pitchFamily="18" charset="0"/>
                        </a:rPr>
                        <m:t> + </m:t>
                      </m:r>
                      <m:sSub>
                        <m:sSubPr>
                          <m:ctrlPr>
                            <a:rPr lang="en-IE" b="0" i="1" dirty="0" smtClean="0">
                              <a:latin typeface="Cambria Math" panose="02040503050406030204" pitchFamily="18" charset="0"/>
                            </a:rPr>
                          </m:ctrlPr>
                        </m:sSubPr>
                        <m:e>
                          <m:r>
                            <a:rPr lang="en-US" i="1" dirty="0">
                              <a:latin typeface="Cambria Math" panose="02040503050406030204" pitchFamily="18" charset="0"/>
                            </a:rPr>
                            <m:t>𝑏</m:t>
                          </m:r>
                        </m:e>
                        <m:sub>
                          <m:r>
                            <a:rPr lang="en-IE" b="0" i="1" dirty="0" smtClean="0">
                              <a:latin typeface="Cambria Math" panose="02040503050406030204" pitchFamily="18" charset="0"/>
                            </a:rPr>
                            <m:t>𝑜</m:t>
                          </m:r>
                        </m:sub>
                      </m:sSub>
                      <m:r>
                        <a:rPr lang="en-US" i="1" dirty="0">
                          <a:latin typeface="Cambria Math" panose="02040503050406030204" pitchFamily="18" charset="0"/>
                        </a:rPr>
                        <m:t>)</m:t>
                      </m:r>
                    </m:oMath>
                  </m:oMathPara>
                </a14:m>
                <a:endParaRPr lang="en-US" dirty="0"/>
              </a:p>
              <a:p>
                <a:endParaRPr lang="en-US" dirty="0"/>
              </a:p>
            </p:txBody>
          </p:sp>
        </mc:Choice>
        <mc:Fallback xmlns="">
          <p:sp>
            <p:nvSpPr>
              <p:cNvPr id="3" name="Content Placeholder 2">
                <a:extLst>
                  <a:ext uri="{FF2B5EF4-FFF2-40B4-BE49-F238E27FC236}">
                    <a16:creationId xmlns:a16="http://schemas.microsoft.com/office/drawing/2014/main" id="{A98F5FA5-6C95-84EA-6E34-F68DA33C67CD}"/>
                  </a:ext>
                </a:extLst>
              </p:cNvPr>
              <p:cNvSpPr>
                <a:spLocks noGrp="1" noRot="1" noChangeAspect="1" noMove="1" noResize="1" noEditPoints="1" noAdjustHandles="1" noChangeArrowheads="1" noChangeShapeType="1" noTextEdit="1"/>
              </p:cNvSpPr>
              <p:nvPr>
                <p:ph idx="1"/>
              </p:nvPr>
            </p:nvSpPr>
            <p:spPr>
              <a:blipFill>
                <a:blip r:embed="rId2"/>
                <a:stretch>
                  <a:fillRect l="-1368" t="-2439"/>
                </a:stretch>
              </a:blipFill>
            </p:spPr>
            <p:txBody>
              <a:bodyPr/>
              <a:lstStyle/>
              <a:p>
                <a:r>
                  <a:rPr lang="en-US">
                    <a:noFill/>
                  </a:rPr>
                  <a:t> </a:t>
                </a:r>
              </a:p>
            </p:txBody>
          </p:sp>
        </mc:Fallback>
      </mc:AlternateContent>
    </p:spTree>
    <p:extLst>
      <p:ext uri="{BB962C8B-B14F-4D97-AF65-F5344CB8AC3E}">
        <p14:creationId xmlns:p14="http://schemas.microsoft.com/office/powerpoint/2010/main" val="67431652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343BEE-42CA-64C4-2E37-29E06BB4BBA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0FA80C3-C1CA-206E-0D33-57EEA58542FE}"/>
              </a:ext>
            </a:extLst>
          </p:cNvPr>
          <p:cNvSpPr>
            <a:spLocks noGrp="1"/>
          </p:cNvSpPr>
          <p:nvPr>
            <p:ph type="title"/>
          </p:nvPr>
        </p:nvSpPr>
        <p:spPr/>
        <p:txBody>
          <a:bodyPr>
            <a:normAutofit/>
          </a:bodyPr>
          <a:lstStyle/>
          <a:p>
            <a:r>
              <a:rPr lang="en-US" dirty="0"/>
              <a:t>Updates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8418B980-392F-40A7-2416-34B3A9B9A5B2}"/>
                  </a:ext>
                </a:extLst>
              </p:cNvPr>
              <p:cNvSpPr>
                <a:spLocks noGrp="1"/>
              </p:cNvSpPr>
              <p:nvPr>
                <p:ph idx="1"/>
              </p:nvPr>
            </p:nvSpPr>
            <p:spPr/>
            <p:txBody>
              <a:bodyPr>
                <a:normAutofit/>
              </a:bodyPr>
              <a:lstStyle/>
              <a:p>
                <a:r>
                  <a:rPr lang="en-US" dirty="0"/>
                  <a:t>Update the cell (long term memory):</a:t>
                </a:r>
              </a:p>
              <a:p>
                <a:pPr marL="0" indent="0">
                  <a:buNone/>
                </a:pPr>
                <a14:m>
                  <m:oMathPara xmlns:m="http://schemas.openxmlformats.org/officeDocument/2006/math">
                    <m:oMathParaPr>
                      <m:jc m:val="centerGroup"/>
                    </m:oMathParaPr>
                    <m:oMath xmlns:m="http://schemas.openxmlformats.org/officeDocument/2006/math">
                      <m:r>
                        <a:rPr lang="en-IE" b="0" i="1" dirty="0" smtClean="0">
                          <a:latin typeface="Cambria Math" panose="02040503050406030204" pitchFamily="18" charset="0"/>
                        </a:rPr>
                        <m:t>𝑐</m:t>
                      </m:r>
                      <m:r>
                        <a:rPr lang="en-US" i="1" dirty="0" smtClean="0">
                          <a:latin typeface="Cambria Math" panose="02040503050406030204" pitchFamily="18" charset="0"/>
                        </a:rPr>
                        <m:t>ₜ =</m:t>
                      </m:r>
                      <m:sSub>
                        <m:sSubPr>
                          <m:ctrlPr>
                            <a:rPr lang="en-IE" b="0" i="1" dirty="0" smtClean="0">
                              <a:latin typeface="Cambria Math" panose="02040503050406030204" pitchFamily="18" charset="0"/>
                            </a:rPr>
                          </m:ctrlPr>
                        </m:sSubPr>
                        <m:e>
                          <m:r>
                            <a:rPr lang="en-IE" b="0" i="1" dirty="0" smtClean="0">
                              <a:latin typeface="Cambria Math" panose="02040503050406030204" pitchFamily="18" charset="0"/>
                            </a:rPr>
                            <m:t>𝑓</m:t>
                          </m:r>
                        </m:e>
                        <m:sub>
                          <m:r>
                            <a:rPr lang="en-IE" b="0" i="1" dirty="0" smtClean="0">
                              <a:latin typeface="Cambria Math" panose="02040503050406030204" pitchFamily="18" charset="0"/>
                            </a:rPr>
                            <m:t>𝑡</m:t>
                          </m:r>
                        </m:sub>
                      </m:sSub>
                      <m:sSub>
                        <m:sSubPr>
                          <m:ctrlPr>
                            <a:rPr lang="en-IE" b="0" i="1" dirty="0" smtClean="0">
                              <a:latin typeface="Cambria Math" panose="02040503050406030204" pitchFamily="18" charset="0"/>
                            </a:rPr>
                          </m:ctrlPr>
                        </m:sSubPr>
                        <m:e>
                          <m:r>
                            <a:rPr lang="en-IE" b="0" i="1" dirty="0" smtClean="0">
                              <a:latin typeface="Cambria Math" panose="02040503050406030204" pitchFamily="18" charset="0"/>
                            </a:rPr>
                            <m:t>𝑐</m:t>
                          </m:r>
                        </m:e>
                        <m:sub>
                          <m:r>
                            <a:rPr lang="en-IE" b="0" i="1" dirty="0" smtClean="0">
                              <a:latin typeface="Cambria Math" panose="02040503050406030204" pitchFamily="18" charset="0"/>
                            </a:rPr>
                            <m:t>𝑡</m:t>
                          </m:r>
                          <m:r>
                            <a:rPr lang="en-IE" b="0" i="1" dirty="0" smtClean="0">
                              <a:latin typeface="Cambria Math" panose="02040503050406030204" pitchFamily="18" charset="0"/>
                            </a:rPr>
                            <m:t>−1</m:t>
                          </m:r>
                        </m:sub>
                      </m:sSub>
                      <m:r>
                        <a:rPr lang="en-IE" b="0" i="1" dirty="0" smtClean="0">
                          <a:latin typeface="Cambria Math" panose="02040503050406030204" pitchFamily="18" charset="0"/>
                        </a:rPr>
                        <m:t>+</m:t>
                      </m:r>
                      <m:sSub>
                        <m:sSubPr>
                          <m:ctrlPr>
                            <a:rPr lang="en-IE" b="0" i="1" dirty="0" smtClean="0">
                              <a:latin typeface="Cambria Math" panose="02040503050406030204" pitchFamily="18" charset="0"/>
                            </a:rPr>
                          </m:ctrlPr>
                        </m:sSubPr>
                        <m:e>
                          <m:r>
                            <a:rPr lang="en-IE" b="0" i="1" dirty="0" smtClean="0">
                              <a:latin typeface="Cambria Math" panose="02040503050406030204" pitchFamily="18" charset="0"/>
                            </a:rPr>
                            <m:t>𝑖</m:t>
                          </m:r>
                        </m:e>
                        <m:sub>
                          <m:r>
                            <a:rPr lang="en-IE" b="0" i="1" dirty="0" smtClean="0">
                              <a:latin typeface="Cambria Math" panose="02040503050406030204" pitchFamily="18" charset="0"/>
                            </a:rPr>
                            <m:t>𝑡</m:t>
                          </m:r>
                        </m:sub>
                      </m:sSub>
                      <m:acc>
                        <m:accPr>
                          <m:chr m:val="̃"/>
                          <m:ctrlPr>
                            <a:rPr lang="en-US" i="1" dirty="0">
                              <a:latin typeface="Cambria Math" panose="02040503050406030204" pitchFamily="18" charset="0"/>
                            </a:rPr>
                          </m:ctrlPr>
                        </m:accPr>
                        <m:e>
                          <m:sSub>
                            <m:sSubPr>
                              <m:ctrlPr>
                                <a:rPr lang="en-IE" i="1" dirty="0">
                                  <a:latin typeface="Cambria Math" panose="02040503050406030204" pitchFamily="18" charset="0"/>
                                </a:rPr>
                              </m:ctrlPr>
                            </m:sSubPr>
                            <m:e>
                              <m:r>
                                <a:rPr lang="en-IE" i="1" dirty="0">
                                  <a:latin typeface="Cambria Math" panose="02040503050406030204" pitchFamily="18" charset="0"/>
                                </a:rPr>
                                <m:t>𝑐</m:t>
                              </m:r>
                            </m:e>
                            <m:sub>
                              <m:r>
                                <a:rPr lang="en-IE" i="1" dirty="0">
                                  <a:latin typeface="Cambria Math" panose="02040503050406030204" pitchFamily="18" charset="0"/>
                                </a:rPr>
                                <m:t>𝑡</m:t>
                              </m:r>
                            </m:sub>
                          </m:sSub>
                        </m:e>
                      </m:acc>
                    </m:oMath>
                  </m:oMathPara>
                </a14:m>
                <a:endParaRPr lang="en-IE" b="0" dirty="0"/>
              </a:p>
              <a:p>
                <a:r>
                  <a:rPr lang="en-US" dirty="0"/>
                  <a:t>Update the hidden state (short-term memory):</a:t>
                </a:r>
              </a:p>
              <a:p>
                <a:pPr marL="0" indent="0">
                  <a:buNone/>
                </a:pPr>
                <a14:m>
                  <m:oMathPara xmlns:m="http://schemas.openxmlformats.org/officeDocument/2006/math">
                    <m:oMathParaPr>
                      <m:jc m:val="centerGroup"/>
                    </m:oMathParaPr>
                    <m:oMath xmlns:m="http://schemas.openxmlformats.org/officeDocument/2006/math">
                      <m:sSub>
                        <m:sSubPr>
                          <m:ctrlPr>
                            <a:rPr lang="en-IE" b="0" i="1" dirty="0" smtClean="0">
                              <a:latin typeface="Cambria Math" panose="02040503050406030204" pitchFamily="18" charset="0"/>
                            </a:rPr>
                          </m:ctrlPr>
                        </m:sSubPr>
                        <m:e>
                          <m:r>
                            <a:rPr lang="en-IE" b="0" i="1" dirty="0" smtClean="0">
                              <a:latin typeface="Cambria Math" panose="02040503050406030204" pitchFamily="18" charset="0"/>
                            </a:rPr>
                            <m:t>h</m:t>
                          </m:r>
                        </m:e>
                        <m:sub>
                          <m:r>
                            <a:rPr lang="en-IE" b="0" i="1" dirty="0" smtClean="0">
                              <a:latin typeface="Cambria Math" panose="02040503050406030204" pitchFamily="18" charset="0"/>
                            </a:rPr>
                            <m:t>𝑡</m:t>
                          </m:r>
                        </m:sub>
                      </m:sSub>
                      <m:r>
                        <a:rPr lang="en-IE" b="0" i="1" dirty="0" smtClean="0">
                          <a:latin typeface="Cambria Math" panose="02040503050406030204" pitchFamily="18" charset="0"/>
                        </a:rPr>
                        <m:t>=</m:t>
                      </m:r>
                      <m:sSub>
                        <m:sSubPr>
                          <m:ctrlPr>
                            <a:rPr lang="en-IE" b="0" i="1" dirty="0" smtClean="0">
                              <a:latin typeface="Cambria Math" panose="02040503050406030204" pitchFamily="18" charset="0"/>
                            </a:rPr>
                          </m:ctrlPr>
                        </m:sSubPr>
                        <m:e>
                          <m:r>
                            <a:rPr lang="en-IE" b="0" i="1" dirty="0" smtClean="0">
                              <a:latin typeface="Cambria Math" panose="02040503050406030204" pitchFamily="18" charset="0"/>
                            </a:rPr>
                            <m:t>𝑜</m:t>
                          </m:r>
                        </m:e>
                        <m:sub>
                          <m:r>
                            <a:rPr lang="en-IE" b="0" i="1" dirty="0" smtClean="0">
                              <a:latin typeface="Cambria Math" panose="02040503050406030204" pitchFamily="18" charset="0"/>
                            </a:rPr>
                            <m:t>𝑡</m:t>
                          </m:r>
                        </m:sub>
                      </m:sSub>
                      <m:func>
                        <m:funcPr>
                          <m:ctrlPr>
                            <a:rPr lang="en-IE" b="0" i="1" dirty="0" smtClean="0">
                              <a:latin typeface="Cambria Math" panose="02040503050406030204" pitchFamily="18" charset="0"/>
                            </a:rPr>
                          </m:ctrlPr>
                        </m:funcPr>
                        <m:fName>
                          <m:r>
                            <m:rPr>
                              <m:sty m:val="p"/>
                            </m:rPr>
                            <a:rPr lang="en-IE" b="0" i="0" dirty="0" smtClean="0">
                              <a:latin typeface="Cambria Math" panose="02040503050406030204" pitchFamily="18" charset="0"/>
                            </a:rPr>
                            <m:t>tanh</m:t>
                          </m:r>
                        </m:fName>
                        <m:e>
                          <m:d>
                            <m:dPr>
                              <m:ctrlPr>
                                <a:rPr lang="en-IE" b="0" i="1" dirty="0" smtClean="0">
                                  <a:latin typeface="Cambria Math" panose="02040503050406030204" pitchFamily="18" charset="0"/>
                                </a:rPr>
                              </m:ctrlPr>
                            </m:dPr>
                            <m:e>
                              <m:sSub>
                                <m:sSubPr>
                                  <m:ctrlPr>
                                    <a:rPr lang="en-IE" b="0" i="1" dirty="0" smtClean="0">
                                      <a:latin typeface="Cambria Math" panose="02040503050406030204" pitchFamily="18" charset="0"/>
                                    </a:rPr>
                                  </m:ctrlPr>
                                </m:sSubPr>
                                <m:e>
                                  <m:r>
                                    <a:rPr lang="en-IE" b="0" i="1" dirty="0" smtClean="0">
                                      <a:latin typeface="Cambria Math" panose="02040503050406030204" pitchFamily="18" charset="0"/>
                                    </a:rPr>
                                    <m:t>𝑐</m:t>
                                  </m:r>
                                </m:e>
                                <m:sub>
                                  <m:r>
                                    <a:rPr lang="en-IE" b="0" i="1" dirty="0" smtClean="0">
                                      <a:latin typeface="Cambria Math" panose="02040503050406030204" pitchFamily="18" charset="0"/>
                                    </a:rPr>
                                    <m:t>𝑡</m:t>
                                  </m:r>
                                </m:sub>
                              </m:sSub>
                            </m:e>
                          </m:d>
                        </m:e>
                      </m:func>
                    </m:oMath>
                  </m:oMathPara>
                </a14:m>
                <a:endParaRPr lang="en-US" dirty="0"/>
              </a:p>
              <a:p>
                <a:r>
                  <a:rPr lang="en-IE" dirty="0"/>
                  <a:t>Include another dense layer to change </a:t>
                </a:r>
                <a14:m>
                  <m:oMath xmlns:m="http://schemas.openxmlformats.org/officeDocument/2006/math">
                    <m:sSub>
                      <m:sSubPr>
                        <m:ctrlPr>
                          <a:rPr lang="en-IE" i="1" dirty="0" smtClean="0">
                            <a:latin typeface="Cambria Math" panose="02040503050406030204" pitchFamily="18" charset="0"/>
                          </a:rPr>
                        </m:ctrlPr>
                      </m:sSubPr>
                      <m:e>
                        <m:r>
                          <a:rPr lang="en-IE" i="1" dirty="0" smtClean="0">
                            <a:latin typeface="Cambria Math" panose="02040503050406030204" pitchFamily="18" charset="0"/>
                          </a:rPr>
                          <m:t>h</m:t>
                        </m:r>
                      </m:e>
                      <m:sub>
                        <m:r>
                          <a:rPr lang="en-IE" b="0" i="1" dirty="0" smtClean="0">
                            <a:latin typeface="Cambria Math" panose="02040503050406030204" pitchFamily="18" charset="0"/>
                          </a:rPr>
                          <m:t>𝑡</m:t>
                        </m:r>
                      </m:sub>
                    </m:sSub>
                  </m:oMath>
                </a14:m>
                <a:r>
                  <a:rPr lang="en-IE" dirty="0"/>
                  <a:t> into </a:t>
                </a:r>
                <a:r>
                  <a:rPr lang="en-US" dirty="0"/>
                  <a:t> </a:t>
                </a:r>
                <a14:m>
                  <m:oMath xmlns:m="http://schemas.openxmlformats.org/officeDocument/2006/math">
                    <m:acc>
                      <m:accPr>
                        <m:chr m:val="̂"/>
                        <m:ctrlPr>
                          <a:rPr lang="en-IE" i="1" dirty="0" smtClean="0">
                            <a:latin typeface="Cambria Math" panose="02040503050406030204" pitchFamily="18" charset="0"/>
                          </a:rPr>
                        </m:ctrlPr>
                      </m:accPr>
                      <m:e>
                        <m:sSub>
                          <m:sSubPr>
                            <m:ctrlPr>
                              <a:rPr lang="en-IE" b="0" i="1" dirty="0" smtClean="0">
                                <a:latin typeface="Cambria Math" panose="02040503050406030204" pitchFamily="18" charset="0"/>
                              </a:rPr>
                            </m:ctrlPr>
                          </m:sSubPr>
                          <m:e>
                            <m:r>
                              <a:rPr lang="en-IE" b="0" i="1" dirty="0" smtClean="0">
                                <a:latin typeface="Cambria Math" panose="02040503050406030204" pitchFamily="18" charset="0"/>
                              </a:rPr>
                              <m:t>𝑦</m:t>
                            </m:r>
                          </m:e>
                          <m:sub>
                            <m:r>
                              <a:rPr lang="en-IE" b="0" i="1" dirty="0" smtClean="0">
                                <a:latin typeface="Cambria Math" panose="02040503050406030204" pitchFamily="18" charset="0"/>
                              </a:rPr>
                              <m:t>𝑡</m:t>
                            </m:r>
                          </m:sub>
                        </m:sSub>
                      </m:e>
                    </m:acc>
                  </m:oMath>
                </a14:m>
                <a:endParaRPr lang="en-US" dirty="0"/>
              </a:p>
            </p:txBody>
          </p:sp>
        </mc:Choice>
        <mc:Fallback xmlns="">
          <p:sp>
            <p:nvSpPr>
              <p:cNvPr id="3" name="Content Placeholder 2">
                <a:extLst>
                  <a:ext uri="{FF2B5EF4-FFF2-40B4-BE49-F238E27FC236}">
                    <a16:creationId xmlns:a16="http://schemas.microsoft.com/office/drawing/2014/main" id="{8418B980-392F-40A7-2416-34B3A9B9A5B2}"/>
                  </a:ext>
                </a:extLst>
              </p:cNvPr>
              <p:cNvSpPr>
                <a:spLocks noGrp="1" noRot="1" noChangeAspect="1" noMove="1" noResize="1" noEditPoints="1" noAdjustHandles="1" noChangeArrowheads="1" noChangeShapeType="1" noTextEdit="1"/>
              </p:cNvSpPr>
              <p:nvPr>
                <p:ph idx="1"/>
              </p:nvPr>
            </p:nvSpPr>
            <p:spPr>
              <a:blipFill>
                <a:blip r:embed="rId2"/>
                <a:stretch>
                  <a:fillRect l="-1368" t="-2439"/>
                </a:stretch>
              </a:blipFill>
            </p:spPr>
            <p:txBody>
              <a:bodyPr/>
              <a:lstStyle/>
              <a:p>
                <a:r>
                  <a:rPr lang="en-US">
                    <a:noFill/>
                  </a:rPr>
                  <a:t> </a:t>
                </a:r>
              </a:p>
            </p:txBody>
          </p:sp>
        </mc:Fallback>
      </mc:AlternateContent>
    </p:spTree>
    <p:extLst>
      <p:ext uri="{BB962C8B-B14F-4D97-AF65-F5344CB8AC3E}">
        <p14:creationId xmlns:p14="http://schemas.microsoft.com/office/powerpoint/2010/main" val="408409119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0855EA-ADAF-301D-5CE9-B46B4FA93D5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939C6FA-EF24-B127-395D-9D3E43714F21}"/>
              </a:ext>
            </a:extLst>
          </p:cNvPr>
          <p:cNvSpPr>
            <a:spLocks noGrp="1"/>
          </p:cNvSpPr>
          <p:nvPr>
            <p:ph type="title"/>
          </p:nvPr>
        </p:nvSpPr>
        <p:spPr/>
        <p:txBody>
          <a:bodyPr>
            <a:normAutofit/>
          </a:bodyPr>
          <a:lstStyle/>
          <a:p>
            <a:r>
              <a:rPr lang="en-US" dirty="0"/>
              <a:t>Intuition</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FBEBC813-F6AF-D062-5719-0F1A7EB63D58}"/>
                  </a:ext>
                </a:extLst>
              </p:cNvPr>
              <p:cNvSpPr>
                <a:spLocks noGrp="1"/>
              </p:cNvSpPr>
              <p:nvPr>
                <p:ph idx="1"/>
              </p:nvPr>
            </p:nvSpPr>
            <p:spPr/>
            <p:txBody>
              <a:bodyPr>
                <a:normAutofit/>
              </a:bodyPr>
              <a:lstStyle/>
              <a:p>
                <a:r>
                  <a:rPr lang="en-IE" dirty="0"/>
                  <a:t>All of the first set of gates are the same: use the previous value of the short-term input and the previous short-term memory</a:t>
                </a:r>
              </a:p>
              <a:p>
                <a:r>
                  <a:rPr lang="en-IE" dirty="0"/>
                  <a:t>Anything with a sigmoid activation function becomes a percentage</a:t>
                </a:r>
              </a:p>
              <a:p>
                <a:r>
                  <a:rPr lang="en-IE" dirty="0"/>
                  <a:t>E.g. </a:t>
                </a:r>
                <a14:m>
                  <m:oMath xmlns:m="http://schemas.openxmlformats.org/officeDocument/2006/math">
                    <m:acc>
                      <m:accPr>
                        <m:chr m:val="̃"/>
                        <m:ctrlPr>
                          <a:rPr lang="en-US" i="1" dirty="0">
                            <a:latin typeface="Cambria Math" panose="02040503050406030204" pitchFamily="18" charset="0"/>
                          </a:rPr>
                        </m:ctrlPr>
                      </m:accPr>
                      <m:e>
                        <m:sSub>
                          <m:sSubPr>
                            <m:ctrlPr>
                              <a:rPr lang="en-IE" i="1" dirty="0">
                                <a:latin typeface="Cambria Math" panose="02040503050406030204" pitchFamily="18" charset="0"/>
                              </a:rPr>
                            </m:ctrlPr>
                          </m:sSubPr>
                          <m:e>
                            <m:r>
                              <a:rPr lang="en-IE" i="1" dirty="0">
                                <a:latin typeface="Cambria Math" panose="02040503050406030204" pitchFamily="18" charset="0"/>
                              </a:rPr>
                              <m:t>𝐶</m:t>
                            </m:r>
                          </m:e>
                          <m:sub>
                            <m:r>
                              <a:rPr lang="en-IE" i="1" dirty="0">
                                <a:latin typeface="Cambria Math" panose="02040503050406030204" pitchFamily="18" charset="0"/>
                              </a:rPr>
                              <m:t>𝑡</m:t>
                            </m:r>
                          </m:sub>
                        </m:sSub>
                      </m:e>
                    </m:acc>
                  </m:oMath>
                </a14:m>
                <a:r>
                  <a:rPr lang="en-IE" dirty="0"/>
                  <a:t>is the percentage of the potential short term memory to keep</a:t>
                </a:r>
              </a:p>
              <a:p>
                <a14:m>
                  <m:oMath xmlns:m="http://schemas.openxmlformats.org/officeDocument/2006/math">
                    <m:func>
                      <m:funcPr>
                        <m:ctrlPr>
                          <a:rPr lang="en-IE" i="1" dirty="0">
                            <a:latin typeface="Cambria Math" panose="02040503050406030204" pitchFamily="18" charset="0"/>
                          </a:rPr>
                        </m:ctrlPr>
                      </m:funcPr>
                      <m:fName>
                        <m:r>
                          <m:rPr>
                            <m:sty m:val="p"/>
                          </m:rPr>
                          <a:rPr lang="en-IE" dirty="0">
                            <a:latin typeface="Cambria Math" panose="02040503050406030204" pitchFamily="18" charset="0"/>
                          </a:rPr>
                          <m:t>tanh</m:t>
                        </m:r>
                      </m:fName>
                      <m:e>
                        <m:d>
                          <m:dPr>
                            <m:ctrlPr>
                              <a:rPr lang="en-IE" i="1" dirty="0">
                                <a:latin typeface="Cambria Math" panose="02040503050406030204" pitchFamily="18" charset="0"/>
                              </a:rPr>
                            </m:ctrlPr>
                          </m:dPr>
                          <m:e>
                            <m:sSub>
                              <m:sSubPr>
                                <m:ctrlPr>
                                  <a:rPr lang="en-IE" i="1" dirty="0">
                                    <a:latin typeface="Cambria Math" panose="02040503050406030204" pitchFamily="18" charset="0"/>
                                  </a:rPr>
                                </m:ctrlPr>
                              </m:sSubPr>
                              <m:e>
                                <m:r>
                                  <a:rPr lang="en-IE" i="1" dirty="0">
                                    <a:latin typeface="Cambria Math" panose="02040503050406030204" pitchFamily="18" charset="0"/>
                                  </a:rPr>
                                  <m:t>𝑐</m:t>
                                </m:r>
                              </m:e>
                              <m:sub>
                                <m:r>
                                  <a:rPr lang="en-IE" i="1" dirty="0">
                                    <a:latin typeface="Cambria Math" panose="02040503050406030204" pitchFamily="18" charset="0"/>
                                  </a:rPr>
                                  <m:t>𝑡</m:t>
                                </m:r>
                              </m:sub>
                            </m:sSub>
                          </m:e>
                        </m:d>
                      </m:e>
                    </m:func>
                  </m:oMath>
                </a14:m>
                <a:r>
                  <a:rPr lang="en-IE" dirty="0"/>
                  <a:t> is the percentage of the long term memory to put into the short term memory </a:t>
                </a:r>
                <a14:m>
                  <m:oMath xmlns:m="http://schemas.openxmlformats.org/officeDocument/2006/math">
                    <m:sSub>
                      <m:sSubPr>
                        <m:ctrlPr>
                          <a:rPr lang="en-IE" i="1" dirty="0" smtClean="0">
                            <a:latin typeface="Cambria Math" panose="02040503050406030204" pitchFamily="18" charset="0"/>
                          </a:rPr>
                        </m:ctrlPr>
                      </m:sSubPr>
                      <m:e>
                        <m:r>
                          <a:rPr lang="en-IE" i="1" dirty="0" smtClean="0">
                            <a:latin typeface="Cambria Math" panose="02040503050406030204" pitchFamily="18" charset="0"/>
                          </a:rPr>
                          <m:t>h</m:t>
                        </m:r>
                      </m:e>
                      <m:sub>
                        <m:r>
                          <a:rPr lang="en-IE" i="1" dirty="0" smtClean="0">
                            <a:latin typeface="Cambria Math" panose="02040503050406030204" pitchFamily="18" charset="0"/>
                          </a:rPr>
                          <m:t>𝑡</m:t>
                        </m:r>
                      </m:sub>
                    </m:sSub>
                  </m:oMath>
                </a14:m>
                <a:endParaRPr lang="en-US" dirty="0"/>
              </a:p>
            </p:txBody>
          </p:sp>
        </mc:Choice>
        <mc:Fallback xmlns="">
          <p:sp>
            <p:nvSpPr>
              <p:cNvPr id="3" name="Content Placeholder 2">
                <a:extLst>
                  <a:ext uri="{FF2B5EF4-FFF2-40B4-BE49-F238E27FC236}">
                    <a16:creationId xmlns:a16="http://schemas.microsoft.com/office/drawing/2014/main" id="{FBEBC813-F6AF-D062-5719-0F1A7EB63D58}"/>
                  </a:ext>
                </a:extLst>
              </p:cNvPr>
              <p:cNvSpPr>
                <a:spLocks noGrp="1" noRot="1" noChangeAspect="1" noMove="1" noResize="1" noEditPoints="1" noAdjustHandles="1" noChangeArrowheads="1" noChangeShapeType="1" noTextEdit="1"/>
              </p:cNvSpPr>
              <p:nvPr>
                <p:ph idx="1"/>
              </p:nvPr>
            </p:nvSpPr>
            <p:spPr>
              <a:blipFill>
                <a:blip r:embed="rId2"/>
                <a:stretch>
                  <a:fillRect l="-1368" t="-2439" r="-1824"/>
                </a:stretch>
              </a:blipFill>
            </p:spPr>
            <p:txBody>
              <a:bodyPr/>
              <a:lstStyle/>
              <a:p>
                <a:r>
                  <a:rPr lang="en-US">
                    <a:noFill/>
                  </a:rPr>
                  <a:t> </a:t>
                </a:r>
              </a:p>
            </p:txBody>
          </p:sp>
        </mc:Fallback>
      </mc:AlternateContent>
    </p:spTree>
    <p:extLst>
      <p:ext uri="{BB962C8B-B14F-4D97-AF65-F5344CB8AC3E}">
        <p14:creationId xmlns:p14="http://schemas.microsoft.com/office/powerpoint/2010/main" val="230215937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00DB1E-BDEC-6111-EB3F-C37D69CB8CC1}"/>
              </a:ext>
            </a:extLst>
          </p:cNvPr>
          <p:cNvSpPr>
            <a:spLocks noGrp="1"/>
          </p:cNvSpPr>
          <p:nvPr>
            <p:ph type="title"/>
          </p:nvPr>
        </p:nvSpPr>
        <p:spPr/>
        <p:txBody>
          <a:bodyPr/>
          <a:lstStyle/>
          <a:p>
            <a:r>
              <a:rPr lang="en-US" dirty="0"/>
              <a:t>LSTM diagram</a:t>
            </a:r>
          </a:p>
        </p:txBody>
      </p:sp>
      <p:sp>
        <p:nvSpPr>
          <p:cNvPr id="3" name="Content Placeholder 2">
            <a:extLst>
              <a:ext uri="{FF2B5EF4-FFF2-40B4-BE49-F238E27FC236}">
                <a16:creationId xmlns:a16="http://schemas.microsoft.com/office/drawing/2014/main" id="{E9970C35-E0AE-07D5-72A8-60E8AF55A761}"/>
              </a:ext>
            </a:extLst>
          </p:cNvPr>
          <p:cNvSpPr>
            <a:spLocks noGrp="1"/>
          </p:cNvSpPr>
          <p:nvPr>
            <p:ph idx="1"/>
          </p:nvPr>
        </p:nvSpPr>
        <p:spPr/>
        <p:txBody>
          <a:bodyPr/>
          <a:lstStyle/>
          <a:p>
            <a:r>
              <a:rPr lang="en-US" dirty="0">
                <a:solidFill>
                  <a:srgbClr val="009749"/>
                </a:solidFill>
              </a:rPr>
              <a:t>All made more straightforward with an example on the board</a:t>
            </a:r>
          </a:p>
        </p:txBody>
      </p:sp>
    </p:spTree>
    <p:extLst>
      <p:ext uri="{BB962C8B-B14F-4D97-AF65-F5344CB8AC3E}">
        <p14:creationId xmlns:p14="http://schemas.microsoft.com/office/powerpoint/2010/main" val="52152548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56FC7A-719C-E59D-DBBE-E584C9969FC1}"/>
              </a:ext>
            </a:extLst>
          </p:cNvPr>
          <p:cNvSpPr>
            <a:spLocks noGrp="1"/>
          </p:cNvSpPr>
          <p:nvPr>
            <p:ph type="title"/>
          </p:nvPr>
        </p:nvSpPr>
        <p:spPr/>
        <p:txBody>
          <a:bodyPr>
            <a:normAutofit/>
          </a:bodyPr>
          <a:lstStyle/>
          <a:p>
            <a:r>
              <a:rPr lang="en-US" dirty="0"/>
              <a:t>Preparing Input Sequences</a:t>
            </a:r>
          </a:p>
        </p:txBody>
      </p:sp>
      <p:sp>
        <p:nvSpPr>
          <p:cNvPr id="3" name="Content Placeholder 2">
            <a:extLst>
              <a:ext uri="{FF2B5EF4-FFF2-40B4-BE49-F238E27FC236}">
                <a16:creationId xmlns:a16="http://schemas.microsoft.com/office/drawing/2014/main" id="{FEFF60E6-D518-B359-1742-5E2B50DDA459}"/>
              </a:ext>
            </a:extLst>
          </p:cNvPr>
          <p:cNvSpPr>
            <a:spLocks noGrp="1"/>
          </p:cNvSpPr>
          <p:nvPr>
            <p:ph idx="1"/>
          </p:nvPr>
        </p:nvSpPr>
        <p:spPr>
          <a:xfrm>
            <a:off x="838200" y="1825625"/>
            <a:ext cx="8261555" cy="4149290"/>
          </a:xfrm>
        </p:spPr>
        <p:txBody>
          <a:bodyPr>
            <a:normAutofit fontScale="85000" lnSpcReduction="20000"/>
          </a:bodyPr>
          <a:lstStyle/>
          <a:p>
            <a:pPr marL="0" indent="0">
              <a:buNone/>
            </a:pPr>
            <a:r>
              <a:rPr lang="en-US" b="1" dirty="0"/>
              <a:t>Windowing</a:t>
            </a:r>
          </a:p>
          <a:p>
            <a:r>
              <a:rPr lang="en-US" dirty="0"/>
              <a:t>Create training examples by sliding a fixed‑length window over the data</a:t>
            </a:r>
          </a:p>
          <a:p>
            <a:endParaRPr lang="en-US" dirty="0"/>
          </a:p>
          <a:p>
            <a:pPr marL="0" indent="0">
              <a:buNone/>
            </a:pPr>
            <a:r>
              <a:rPr lang="en-US" b="1" dirty="0" err="1"/>
              <a:t>Normalisation</a:t>
            </a:r>
            <a:endParaRPr lang="en-US" b="1" dirty="0"/>
          </a:p>
          <a:p>
            <a:r>
              <a:rPr lang="en-US" dirty="0"/>
              <a:t>Scale each feature to zero mean and unit variance to ensure stable learning</a:t>
            </a:r>
          </a:p>
          <a:p>
            <a:endParaRPr lang="en-US" dirty="0"/>
          </a:p>
          <a:p>
            <a:pPr marL="0" indent="0">
              <a:buNone/>
            </a:pPr>
            <a:r>
              <a:rPr lang="en-US" b="1" dirty="0"/>
              <a:t>Training/Testing split</a:t>
            </a:r>
          </a:p>
          <a:p>
            <a:r>
              <a:rPr lang="en-US" dirty="0"/>
              <a:t>Divide the sequences into training and validation sets to evaluate performance</a:t>
            </a:r>
          </a:p>
          <a:p>
            <a:endParaRPr lang="en-US" dirty="0"/>
          </a:p>
          <a:p>
            <a:endParaRPr lang="en-US" dirty="0"/>
          </a:p>
        </p:txBody>
      </p:sp>
    </p:spTree>
    <p:extLst>
      <p:ext uri="{BB962C8B-B14F-4D97-AF65-F5344CB8AC3E}">
        <p14:creationId xmlns:p14="http://schemas.microsoft.com/office/powerpoint/2010/main" val="277706164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D679E8-9C03-43D5-BDFE-9FBA552BE988}"/>
              </a:ext>
            </a:extLst>
          </p:cNvPr>
          <p:cNvSpPr>
            <a:spLocks noGrp="1"/>
          </p:cNvSpPr>
          <p:nvPr>
            <p:ph type="title"/>
          </p:nvPr>
        </p:nvSpPr>
        <p:spPr/>
        <p:txBody>
          <a:bodyPr/>
          <a:lstStyle/>
          <a:p>
            <a:r>
              <a:rPr lang="en-US" dirty="0"/>
              <a:t>Implementing the LSTM</a:t>
            </a:r>
          </a:p>
        </p:txBody>
      </p:sp>
      <mc:AlternateContent xmlns:mc="http://schemas.openxmlformats.org/markup-compatibility/2006">
        <mc:Choice xmlns:a14="http://schemas.microsoft.com/office/drawing/2010/main" Requires="a14">
          <p:sp>
            <p:nvSpPr>
              <p:cNvPr id="4" name="Content Placeholder 3">
                <a:extLst>
                  <a:ext uri="{FF2B5EF4-FFF2-40B4-BE49-F238E27FC236}">
                    <a16:creationId xmlns:a16="http://schemas.microsoft.com/office/drawing/2014/main" id="{F2FF33B5-D396-DDB0-9B40-E87736795A66}"/>
                  </a:ext>
                </a:extLst>
              </p:cNvPr>
              <p:cNvSpPr>
                <a:spLocks noGrp="1"/>
              </p:cNvSpPr>
              <p:nvPr>
                <p:ph sz="half" idx="1"/>
              </p:nvPr>
            </p:nvSpPr>
            <p:spPr/>
            <p:txBody>
              <a:bodyPr>
                <a:noAutofit/>
              </a:bodyPr>
              <a:lstStyle/>
              <a:p>
                <a:r>
                  <a:rPr lang="en-US" dirty="0"/>
                  <a:t>Separate parameters for each gate</a:t>
                </a:r>
              </a:p>
              <a:p>
                <a:r>
                  <a:rPr lang="en-US" dirty="0"/>
                  <a:t>Maintains both hidden short-term state (</a:t>
                </a:r>
                <a14:m>
                  <m:oMath xmlns:m="http://schemas.openxmlformats.org/officeDocument/2006/math">
                    <m:r>
                      <a:rPr lang="en-US" i="1" dirty="0" smtClean="0">
                        <a:latin typeface="Cambria Math" panose="02040503050406030204" pitchFamily="18" charset="0"/>
                      </a:rPr>
                      <m:t>h</m:t>
                    </m:r>
                    <m:r>
                      <a:rPr lang="en-US" i="1" dirty="0" smtClean="0">
                        <a:latin typeface="Cambria Math" panose="02040503050406030204" pitchFamily="18" charset="0"/>
                      </a:rPr>
                      <m:t>ₜ</m:t>
                    </m:r>
                  </m:oMath>
                </a14:m>
                <a:r>
                  <a:rPr lang="en-US" dirty="0"/>
                  <a:t>) and cell long-term state (</a:t>
                </a:r>
                <a14:m>
                  <m:oMath xmlns:m="http://schemas.openxmlformats.org/officeDocument/2006/math">
                    <m:r>
                      <a:rPr lang="en-US" i="1" dirty="0" smtClean="0">
                        <a:latin typeface="Cambria Math" panose="02040503050406030204" pitchFamily="18" charset="0"/>
                      </a:rPr>
                      <m:t>𝐶</m:t>
                    </m:r>
                    <m:r>
                      <a:rPr lang="en-US" i="1" dirty="0" smtClean="0">
                        <a:latin typeface="Cambria Math" panose="02040503050406030204" pitchFamily="18" charset="0"/>
                      </a:rPr>
                      <m:t>ₜ</m:t>
                    </m:r>
                  </m:oMath>
                </a14:m>
                <a:r>
                  <a:rPr lang="en-US" dirty="0"/>
                  <a:t>)</a:t>
                </a:r>
              </a:p>
              <a:p>
                <a:r>
                  <a:rPr lang="en-US" dirty="0"/>
                  <a:t>Uses elementwise operations to update the cell and hidden state</a:t>
                </a:r>
              </a:p>
              <a:p>
                <a:r>
                  <a:rPr lang="en-US" dirty="0"/>
                  <a:t>Nonlinearity: sigmoid for gates, tanh for candidate and cell output</a:t>
                </a:r>
              </a:p>
            </p:txBody>
          </p:sp>
        </mc:Choice>
        <mc:Fallback>
          <p:sp>
            <p:nvSpPr>
              <p:cNvPr id="4" name="Content Placeholder 3">
                <a:extLst>
                  <a:ext uri="{FF2B5EF4-FFF2-40B4-BE49-F238E27FC236}">
                    <a16:creationId xmlns:a16="http://schemas.microsoft.com/office/drawing/2014/main" id="{F2FF33B5-D396-DDB0-9B40-E87736795A66}"/>
                  </a:ext>
                </a:extLst>
              </p:cNvPr>
              <p:cNvSpPr>
                <a:spLocks noGrp="1" noRot="1" noChangeAspect="1" noMove="1" noResize="1" noEditPoints="1" noAdjustHandles="1" noChangeArrowheads="1" noChangeShapeType="1" noTextEdit="1"/>
              </p:cNvSpPr>
              <p:nvPr>
                <p:ph sz="half" idx="1"/>
              </p:nvPr>
            </p:nvSpPr>
            <p:spPr>
              <a:blipFill>
                <a:blip r:embed="rId2"/>
                <a:stretch>
                  <a:fillRect l="-2200" t="-2326" r="-3667" b="-2907"/>
                </a:stretch>
              </a:blipFill>
            </p:spPr>
            <p:txBody>
              <a:bodyPr/>
              <a:lstStyle/>
              <a:p>
                <a:r>
                  <a:rPr lang="en-US">
                    <a:noFill/>
                  </a:rPr>
                  <a:t> </a:t>
                </a:r>
              </a:p>
            </p:txBody>
          </p:sp>
        </mc:Fallback>
      </mc:AlternateContent>
      <p:sp>
        <p:nvSpPr>
          <p:cNvPr id="5" name="Content Placeholder 4">
            <a:extLst>
              <a:ext uri="{FF2B5EF4-FFF2-40B4-BE49-F238E27FC236}">
                <a16:creationId xmlns:a16="http://schemas.microsoft.com/office/drawing/2014/main" id="{275785BD-5BAB-8928-495F-10E284E084D7}"/>
              </a:ext>
            </a:extLst>
          </p:cNvPr>
          <p:cNvSpPr>
            <a:spLocks noGrp="1"/>
          </p:cNvSpPr>
          <p:nvPr>
            <p:ph sz="half" idx="2"/>
          </p:nvPr>
        </p:nvSpPr>
        <p:spPr/>
        <p:txBody>
          <a:bodyPr>
            <a:normAutofit fontScale="25000" lnSpcReduction="20000"/>
          </a:bodyPr>
          <a:lstStyle/>
          <a:p>
            <a:pPr marL="0" indent="0">
              <a:buNone/>
            </a:pPr>
            <a:r>
              <a:rPr lang="en-US" dirty="0">
                <a:latin typeface="Courier New" panose="02070309020205020404" pitchFamily="49" charset="0"/>
                <a:cs typeface="Courier New" panose="02070309020205020404" pitchFamily="49" charset="0"/>
              </a:rPr>
              <a:t>import </a:t>
            </a:r>
            <a:r>
              <a:rPr lang="en-US" dirty="0" err="1">
                <a:latin typeface="Courier New" panose="02070309020205020404" pitchFamily="49" charset="0"/>
                <a:cs typeface="Courier New" panose="02070309020205020404" pitchFamily="49" charset="0"/>
              </a:rPr>
              <a:t>numpy</a:t>
            </a:r>
            <a:r>
              <a:rPr lang="en-US" dirty="0">
                <a:latin typeface="Courier New" panose="02070309020205020404" pitchFamily="49" charset="0"/>
                <a:cs typeface="Courier New" panose="02070309020205020404" pitchFamily="49" charset="0"/>
              </a:rPr>
              <a:t> as np</a:t>
            </a:r>
          </a:p>
          <a:p>
            <a:pPr marL="0" indent="0">
              <a:buNone/>
            </a:pPr>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initialise</a:t>
            </a:r>
            <a:r>
              <a:rPr lang="en-US" dirty="0">
                <a:latin typeface="Courier New" panose="02070309020205020404" pitchFamily="49" charset="0"/>
                <a:cs typeface="Courier New" panose="02070309020205020404" pitchFamily="49" charset="0"/>
              </a:rPr>
              <a:t> weights for gates</a:t>
            </a:r>
          </a:p>
          <a:p>
            <a:pPr marL="0" indent="0">
              <a:buNone/>
            </a:pPr>
            <a:r>
              <a:rPr lang="en-US" dirty="0" err="1">
                <a:latin typeface="Courier New" panose="02070309020205020404" pitchFamily="49" charset="0"/>
                <a:cs typeface="Courier New" panose="02070309020205020404" pitchFamily="49" charset="0"/>
              </a:rPr>
              <a:t>Wxi,Wxf,Wxo,Wxc</a:t>
            </a:r>
            <a:r>
              <a:rPr lang="en-US" dirty="0">
                <a:latin typeface="Courier New" panose="02070309020205020404" pitchFamily="49" charset="0"/>
                <a:cs typeface="Courier New" panose="02070309020205020404" pitchFamily="49" charset="0"/>
              </a:rPr>
              <a:t> = [</a:t>
            </a:r>
            <a:r>
              <a:rPr lang="en-US" dirty="0" err="1">
                <a:latin typeface="Courier New" panose="02070309020205020404" pitchFamily="49" charset="0"/>
                <a:cs typeface="Courier New" panose="02070309020205020404" pitchFamily="49" charset="0"/>
              </a:rPr>
              <a:t>np.random.randn</a:t>
            </a:r>
            <a:r>
              <a:rPr lang="en-US" dirty="0">
                <a:latin typeface="Courier New" panose="02070309020205020404" pitchFamily="49" charset="0"/>
                <a:cs typeface="Courier New" panose="02070309020205020404" pitchFamily="49" charset="0"/>
              </a:rPr>
              <a:t>(</a:t>
            </a:r>
            <a:r>
              <a:rPr lang="en-US" dirty="0" err="1">
                <a:latin typeface="Courier New" panose="02070309020205020404" pitchFamily="49" charset="0"/>
                <a:cs typeface="Courier New" panose="02070309020205020404" pitchFamily="49" charset="0"/>
              </a:rPr>
              <a:t>input_dim</a:t>
            </a:r>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hidden_dim</a:t>
            </a:r>
            <a:r>
              <a:rPr lang="en-US" dirty="0">
                <a:latin typeface="Courier New" panose="02070309020205020404" pitchFamily="49" charset="0"/>
                <a:cs typeface="Courier New" panose="02070309020205020404" pitchFamily="49" charset="0"/>
              </a:rPr>
              <a:t>) for _ in range(4)]</a:t>
            </a:r>
          </a:p>
          <a:p>
            <a:pPr marL="0" indent="0">
              <a:buNone/>
            </a:pPr>
            <a:r>
              <a:rPr lang="en-US" dirty="0" err="1">
                <a:latin typeface="Courier New" panose="02070309020205020404" pitchFamily="49" charset="0"/>
                <a:cs typeface="Courier New" panose="02070309020205020404" pitchFamily="49" charset="0"/>
              </a:rPr>
              <a:t>Whi,Whf,Who,Whc</a:t>
            </a:r>
            <a:r>
              <a:rPr lang="en-US" dirty="0">
                <a:latin typeface="Courier New" panose="02070309020205020404" pitchFamily="49" charset="0"/>
                <a:cs typeface="Courier New" panose="02070309020205020404" pitchFamily="49" charset="0"/>
              </a:rPr>
              <a:t> = [</a:t>
            </a:r>
            <a:r>
              <a:rPr lang="en-US" dirty="0" err="1">
                <a:latin typeface="Courier New" panose="02070309020205020404" pitchFamily="49" charset="0"/>
                <a:cs typeface="Courier New" panose="02070309020205020404" pitchFamily="49" charset="0"/>
              </a:rPr>
              <a:t>np.random.randn</a:t>
            </a:r>
            <a:r>
              <a:rPr lang="en-US" dirty="0">
                <a:latin typeface="Courier New" panose="02070309020205020404" pitchFamily="49" charset="0"/>
                <a:cs typeface="Courier New" panose="02070309020205020404" pitchFamily="49" charset="0"/>
              </a:rPr>
              <a:t>(</a:t>
            </a:r>
            <a:r>
              <a:rPr lang="en-US" dirty="0" err="1">
                <a:latin typeface="Courier New" panose="02070309020205020404" pitchFamily="49" charset="0"/>
                <a:cs typeface="Courier New" panose="02070309020205020404" pitchFamily="49" charset="0"/>
              </a:rPr>
              <a:t>hidden_dim</a:t>
            </a:r>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hidden_dim</a:t>
            </a:r>
            <a:r>
              <a:rPr lang="en-US" dirty="0">
                <a:latin typeface="Courier New" panose="02070309020205020404" pitchFamily="49" charset="0"/>
                <a:cs typeface="Courier New" panose="02070309020205020404" pitchFamily="49" charset="0"/>
              </a:rPr>
              <a:t>) for _ in range(4)]</a:t>
            </a:r>
          </a:p>
          <a:p>
            <a:pPr marL="0" indent="0">
              <a:buNone/>
            </a:pPr>
            <a:r>
              <a:rPr lang="en-US" dirty="0" err="1">
                <a:latin typeface="Courier New" panose="02070309020205020404" pitchFamily="49" charset="0"/>
                <a:cs typeface="Courier New" panose="02070309020205020404" pitchFamily="49" charset="0"/>
              </a:rPr>
              <a:t>bi,bf,bo,bc</a:t>
            </a:r>
            <a:r>
              <a:rPr lang="en-US" dirty="0">
                <a:latin typeface="Courier New" panose="02070309020205020404" pitchFamily="49" charset="0"/>
                <a:cs typeface="Courier New" panose="02070309020205020404" pitchFamily="49" charset="0"/>
              </a:rPr>
              <a:t> = [</a:t>
            </a:r>
            <a:r>
              <a:rPr lang="en-US" dirty="0" err="1">
                <a:latin typeface="Courier New" panose="02070309020205020404" pitchFamily="49" charset="0"/>
                <a:cs typeface="Courier New" panose="02070309020205020404" pitchFamily="49" charset="0"/>
              </a:rPr>
              <a:t>np.zeros</a:t>
            </a:r>
            <a:r>
              <a:rPr lang="en-US" dirty="0">
                <a:latin typeface="Courier New" panose="02070309020205020404" pitchFamily="49" charset="0"/>
                <a:cs typeface="Courier New" panose="02070309020205020404" pitchFamily="49" charset="0"/>
              </a:rPr>
              <a:t>((1, </a:t>
            </a:r>
            <a:r>
              <a:rPr lang="en-US" dirty="0" err="1">
                <a:latin typeface="Courier New" panose="02070309020205020404" pitchFamily="49" charset="0"/>
                <a:cs typeface="Courier New" panose="02070309020205020404" pitchFamily="49" charset="0"/>
              </a:rPr>
              <a:t>hidden_dim</a:t>
            </a:r>
            <a:r>
              <a:rPr lang="en-US" dirty="0">
                <a:latin typeface="Courier New" panose="02070309020205020404" pitchFamily="49" charset="0"/>
                <a:cs typeface="Courier New" panose="02070309020205020404" pitchFamily="49" charset="0"/>
              </a:rPr>
              <a:t>)) for _ in range(4)]</a:t>
            </a:r>
          </a:p>
          <a:p>
            <a:pPr marL="0" indent="0">
              <a:buNone/>
            </a:pPr>
            <a:r>
              <a:rPr lang="en-US" dirty="0">
                <a:latin typeface="Courier New" panose="02070309020205020404" pitchFamily="49" charset="0"/>
                <a:cs typeface="Courier New" panose="02070309020205020404" pitchFamily="49" charset="0"/>
              </a:rPr>
              <a:t>Wy = </a:t>
            </a:r>
            <a:r>
              <a:rPr lang="en-US" dirty="0" err="1">
                <a:latin typeface="Courier New" panose="02070309020205020404" pitchFamily="49" charset="0"/>
                <a:cs typeface="Courier New" panose="02070309020205020404" pitchFamily="49" charset="0"/>
              </a:rPr>
              <a:t>np.random.randn</a:t>
            </a:r>
            <a:r>
              <a:rPr lang="en-US" dirty="0">
                <a:latin typeface="Courier New" panose="02070309020205020404" pitchFamily="49" charset="0"/>
                <a:cs typeface="Courier New" panose="02070309020205020404" pitchFamily="49" charset="0"/>
              </a:rPr>
              <a:t>(</a:t>
            </a:r>
            <a:r>
              <a:rPr lang="en-US" dirty="0" err="1">
                <a:latin typeface="Courier New" panose="02070309020205020404" pitchFamily="49" charset="0"/>
                <a:cs typeface="Courier New" panose="02070309020205020404" pitchFamily="49" charset="0"/>
              </a:rPr>
              <a:t>hidden_dim</a:t>
            </a:r>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output_dim</a:t>
            </a:r>
            <a:r>
              <a:rPr lang="en-US" dirty="0">
                <a:latin typeface="Courier New" panose="02070309020205020404" pitchFamily="49" charset="0"/>
                <a:cs typeface="Courier New" panose="02070309020205020404" pitchFamily="49" charset="0"/>
              </a:rPr>
              <a:t>)</a:t>
            </a:r>
          </a:p>
          <a:p>
            <a:pPr marL="0" indent="0">
              <a:buNone/>
            </a:pPr>
            <a:r>
              <a:rPr lang="en-US" dirty="0">
                <a:latin typeface="Courier New" panose="02070309020205020404" pitchFamily="49" charset="0"/>
                <a:cs typeface="Courier New" panose="02070309020205020404" pitchFamily="49" charset="0"/>
              </a:rPr>
              <a:t>by = </a:t>
            </a:r>
            <a:r>
              <a:rPr lang="en-US" dirty="0" err="1">
                <a:latin typeface="Courier New" panose="02070309020205020404" pitchFamily="49" charset="0"/>
                <a:cs typeface="Courier New" panose="02070309020205020404" pitchFamily="49" charset="0"/>
              </a:rPr>
              <a:t>np.zeros</a:t>
            </a:r>
            <a:r>
              <a:rPr lang="en-US" dirty="0">
                <a:latin typeface="Courier New" panose="02070309020205020404" pitchFamily="49" charset="0"/>
                <a:cs typeface="Courier New" panose="02070309020205020404" pitchFamily="49" charset="0"/>
              </a:rPr>
              <a:t>((1, </a:t>
            </a:r>
            <a:r>
              <a:rPr lang="en-US" dirty="0" err="1">
                <a:latin typeface="Courier New" panose="02070309020205020404" pitchFamily="49" charset="0"/>
                <a:cs typeface="Courier New" panose="02070309020205020404" pitchFamily="49" charset="0"/>
              </a:rPr>
              <a:t>output_dim</a:t>
            </a:r>
            <a:r>
              <a:rPr lang="en-US" dirty="0">
                <a:latin typeface="Courier New" panose="02070309020205020404" pitchFamily="49" charset="0"/>
                <a:cs typeface="Courier New" panose="02070309020205020404" pitchFamily="49" charset="0"/>
              </a:rPr>
              <a:t>))</a:t>
            </a:r>
          </a:p>
          <a:p>
            <a:pPr marL="0" indent="0">
              <a:buNone/>
            </a:pPr>
            <a:r>
              <a:rPr lang="en-US" dirty="0">
                <a:latin typeface="Courier New" panose="02070309020205020404" pitchFamily="49" charset="0"/>
                <a:cs typeface="Courier New" panose="02070309020205020404" pitchFamily="49" charset="0"/>
              </a:rPr>
              <a:t># forward pass</a:t>
            </a:r>
          </a:p>
          <a:p>
            <a:pPr marL="0" indent="0">
              <a:buNone/>
            </a:pPr>
            <a:r>
              <a:rPr lang="en-US" dirty="0" err="1">
                <a:latin typeface="Courier New" panose="02070309020205020404" pitchFamily="49" charset="0"/>
                <a:cs typeface="Courier New" panose="02070309020205020404" pitchFamily="49" charset="0"/>
              </a:rPr>
              <a:t>h_prev</a:t>
            </a:r>
            <a:r>
              <a:rPr lang="en-US" dirty="0">
                <a:latin typeface="Courier New" panose="02070309020205020404" pitchFamily="49" charset="0"/>
                <a:cs typeface="Courier New" panose="02070309020205020404" pitchFamily="49" charset="0"/>
              </a:rPr>
              <a:t> = </a:t>
            </a:r>
            <a:r>
              <a:rPr lang="en-US" dirty="0" err="1">
                <a:latin typeface="Courier New" panose="02070309020205020404" pitchFamily="49" charset="0"/>
                <a:cs typeface="Courier New" panose="02070309020205020404" pitchFamily="49" charset="0"/>
              </a:rPr>
              <a:t>np.zeros</a:t>
            </a:r>
            <a:r>
              <a:rPr lang="en-US" dirty="0">
                <a:latin typeface="Courier New" panose="02070309020205020404" pitchFamily="49" charset="0"/>
                <a:cs typeface="Courier New" panose="02070309020205020404" pitchFamily="49" charset="0"/>
              </a:rPr>
              <a:t>((1, </a:t>
            </a:r>
            <a:r>
              <a:rPr lang="en-US" dirty="0" err="1">
                <a:latin typeface="Courier New" panose="02070309020205020404" pitchFamily="49" charset="0"/>
                <a:cs typeface="Courier New" panose="02070309020205020404" pitchFamily="49" charset="0"/>
              </a:rPr>
              <a:t>hidden_dim</a:t>
            </a:r>
            <a:r>
              <a:rPr lang="en-US" dirty="0">
                <a:latin typeface="Courier New" panose="02070309020205020404" pitchFamily="49" charset="0"/>
                <a:cs typeface="Courier New" panose="02070309020205020404" pitchFamily="49" charset="0"/>
              </a:rPr>
              <a:t>))</a:t>
            </a:r>
          </a:p>
          <a:p>
            <a:pPr marL="0" indent="0">
              <a:buNone/>
            </a:pPr>
            <a:r>
              <a:rPr lang="en-US" dirty="0" err="1">
                <a:latin typeface="Courier New" panose="02070309020205020404" pitchFamily="49" charset="0"/>
                <a:cs typeface="Courier New" panose="02070309020205020404" pitchFamily="49" charset="0"/>
              </a:rPr>
              <a:t>C_prev</a:t>
            </a:r>
            <a:r>
              <a:rPr lang="en-US" dirty="0">
                <a:latin typeface="Courier New" panose="02070309020205020404" pitchFamily="49" charset="0"/>
                <a:cs typeface="Courier New" panose="02070309020205020404" pitchFamily="49" charset="0"/>
              </a:rPr>
              <a:t> = </a:t>
            </a:r>
            <a:r>
              <a:rPr lang="en-US" dirty="0" err="1">
                <a:latin typeface="Courier New" panose="02070309020205020404" pitchFamily="49" charset="0"/>
                <a:cs typeface="Courier New" panose="02070309020205020404" pitchFamily="49" charset="0"/>
              </a:rPr>
              <a:t>np.zeros</a:t>
            </a:r>
            <a:r>
              <a:rPr lang="en-US" dirty="0">
                <a:latin typeface="Courier New" panose="02070309020205020404" pitchFamily="49" charset="0"/>
                <a:cs typeface="Courier New" panose="02070309020205020404" pitchFamily="49" charset="0"/>
              </a:rPr>
              <a:t>((1, </a:t>
            </a:r>
            <a:r>
              <a:rPr lang="en-US" dirty="0" err="1">
                <a:latin typeface="Courier New" panose="02070309020205020404" pitchFamily="49" charset="0"/>
                <a:cs typeface="Courier New" panose="02070309020205020404" pitchFamily="49" charset="0"/>
              </a:rPr>
              <a:t>hidden_dim</a:t>
            </a:r>
            <a:r>
              <a:rPr lang="en-US" dirty="0">
                <a:latin typeface="Courier New" panose="02070309020205020404" pitchFamily="49" charset="0"/>
                <a:cs typeface="Courier New" panose="02070309020205020404" pitchFamily="49" charset="0"/>
              </a:rPr>
              <a:t>))</a:t>
            </a:r>
          </a:p>
          <a:p>
            <a:pPr marL="0" indent="0">
              <a:buNone/>
            </a:pPr>
            <a:r>
              <a:rPr lang="en-US" dirty="0" err="1">
                <a:latin typeface="Courier New" panose="02070309020205020404" pitchFamily="49" charset="0"/>
                <a:cs typeface="Courier New" panose="02070309020205020404" pitchFamily="49" charset="0"/>
              </a:rPr>
              <a:t>y_preds</a:t>
            </a:r>
            <a:r>
              <a:rPr lang="en-US" dirty="0">
                <a:latin typeface="Courier New" panose="02070309020205020404" pitchFamily="49" charset="0"/>
                <a:cs typeface="Courier New" panose="02070309020205020404" pitchFamily="49" charset="0"/>
              </a:rPr>
              <a:t> = []</a:t>
            </a:r>
          </a:p>
          <a:p>
            <a:pPr marL="0" indent="0">
              <a:buNone/>
            </a:pPr>
            <a:r>
              <a:rPr lang="en-US" dirty="0">
                <a:latin typeface="Courier New" panose="02070309020205020404" pitchFamily="49" charset="0"/>
                <a:cs typeface="Courier New" panose="02070309020205020404" pitchFamily="49" charset="0"/>
              </a:rPr>
              <a:t>for t in range(T):</a:t>
            </a:r>
          </a:p>
          <a:p>
            <a:pPr marL="0" indent="0">
              <a:buNone/>
            </a:pPr>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x_t</a:t>
            </a:r>
            <a:r>
              <a:rPr lang="en-US" dirty="0">
                <a:latin typeface="Courier New" panose="02070309020205020404" pitchFamily="49" charset="0"/>
                <a:cs typeface="Courier New" panose="02070309020205020404" pitchFamily="49" charset="0"/>
              </a:rPr>
              <a:t> = X[t]</a:t>
            </a:r>
          </a:p>
          <a:p>
            <a:pPr marL="0" indent="0">
              <a:buNone/>
            </a:pPr>
            <a:r>
              <a:rPr lang="en-US" dirty="0">
                <a:latin typeface="Courier New" panose="02070309020205020404" pitchFamily="49" charset="0"/>
                <a:cs typeface="Courier New" panose="02070309020205020404" pitchFamily="49" charset="0"/>
              </a:rPr>
              <a:t>    I = sigmoid(</a:t>
            </a:r>
            <a:r>
              <a:rPr lang="en-US" dirty="0" err="1">
                <a:latin typeface="Courier New" panose="02070309020205020404" pitchFamily="49" charset="0"/>
                <a:cs typeface="Courier New" panose="02070309020205020404" pitchFamily="49" charset="0"/>
              </a:rPr>
              <a:t>x_t</a:t>
            </a:r>
            <a:r>
              <a:rPr lang="en-US" dirty="0">
                <a:latin typeface="Courier New" panose="02070309020205020404" pitchFamily="49" charset="0"/>
                <a:cs typeface="Courier New" panose="02070309020205020404" pitchFamily="49" charset="0"/>
              </a:rPr>
              <a:t> @ </a:t>
            </a:r>
            <a:r>
              <a:rPr lang="en-US" dirty="0" err="1">
                <a:latin typeface="Courier New" panose="02070309020205020404" pitchFamily="49" charset="0"/>
                <a:cs typeface="Courier New" panose="02070309020205020404" pitchFamily="49" charset="0"/>
              </a:rPr>
              <a:t>Wxi</a:t>
            </a:r>
            <a:r>
              <a:rPr lang="en-US" dirty="0">
                <a:latin typeface="Courier New" panose="02070309020205020404" pitchFamily="49" charset="0"/>
                <a:cs typeface="Courier New" panose="02070309020205020404" pitchFamily="49" charset="0"/>
              </a:rPr>
              <a:t> + </a:t>
            </a:r>
            <a:r>
              <a:rPr lang="en-US" dirty="0" err="1">
                <a:latin typeface="Courier New" panose="02070309020205020404" pitchFamily="49" charset="0"/>
                <a:cs typeface="Courier New" panose="02070309020205020404" pitchFamily="49" charset="0"/>
              </a:rPr>
              <a:t>h_prev</a:t>
            </a:r>
            <a:r>
              <a:rPr lang="en-US" dirty="0">
                <a:latin typeface="Courier New" panose="02070309020205020404" pitchFamily="49" charset="0"/>
                <a:cs typeface="Courier New" panose="02070309020205020404" pitchFamily="49" charset="0"/>
              </a:rPr>
              <a:t> @ Whi + bi)</a:t>
            </a:r>
          </a:p>
          <a:p>
            <a:pPr marL="0" indent="0">
              <a:buNone/>
            </a:pPr>
            <a:r>
              <a:rPr lang="en-US" dirty="0">
                <a:latin typeface="Courier New" panose="02070309020205020404" pitchFamily="49" charset="0"/>
                <a:cs typeface="Courier New" panose="02070309020205020404" pitchFamily="49" charset="0"/>
              </a:rPr>
              <a:t>    F = sigmoid(</a:t>
            </a:r>
            <a:r>
              <a:rPr lang="en-US" dirty="0" err="1">
                <a:latin typeface="Courier New" panose="02070309020205020404" pitchFamily="49" charset="0"/>
                <a:cs typeface="Courier New" panose="02070309020205020404" pitchFamily="49" charset="0"/>
              </a:rPr>
              <a:t>x_t</a:t>
            </a:r>
            <a:r>
              <a:rPr lang="en-US" dirty="0">
                <a:latin typeface="Courier New" panose="02070309020205020404" pitchFamily="49" charset="0"/>
                <a:cs typeface="Courier New" panose="02070309020205020404" pitchFamily="49" charset="0"/>
              </a:rPr>
              <a:t> @ </a:t>
            </a:r>
            <a:r>
              <a:rPr lang="en-US" dirty="0" err="1">
                <a:latin typeface="Courier New" panose="02070309020205020404" pitchFamily="49" charset="0"/>
                <a:cs typeface="Courier New" panose="02070309020205020404" pitchFamily="49" charset="0"/>
              </a:rPr>
              <a:t>Wxf</a:t>
            </a:r>
            <a:r>
              <a:rPr lang="en-US" dirty="0">
                <a:latin typeface="Courier New" panose="02070309020205020404" pitchFamily="49" charset="0"/>
                <a:cs typeface="Courier New" panose="02070309020205020404" pitchFamily="49" charset="0"/>
              </a:rPr>
              <a:t> + </a:t>
            </a:r>
            <a:r>
              <a:rPr lang="en-US" dirty="0" err="1">
                <a:latin typeface="Courier New" panose="02070309020205020404" pitchFamily="49" charset="0"/>
                <a:cs typeface="Courier New" panose="02070309020205020404" pitchFamily="49" charset="0"/>
              </a:rPr>
              <a:t>h_prev</a:t>
            </a:r>
            <a:r>
              <a:rPr lang="en-US" dirty="0">
                <a:latin typeface="Courier New" panose="02070309020205020404" pitchFamily="49" charset="0"/>
                <a:cs typeface="Courier New" panose="02070309020205020404" pitchFamily="49" charset="0"/>
              </a:rPr>
              <a:t> @ </a:t>
            </a:r>
            <a:r>
              <a:rPr lang="en-US" dirty="0" err="1">
                <a:latin typeface="Courier New" panose="02070309020205020404" pitchFamily="49" charset="0"/>
                <a:cs typeface="Courier New" panose="02070309020205020404" pitchFamily="49" charset="0"/>
              </a:rPr>
              <a:t>Whf</a:t>
            </a:r>
            <a:r>
              <a:rPr lang="en-US" dirty="0">
                <a:latin typeface="Courier New" panose="02070309020205020404" pitchFamily="49" charset="0"/>
                <a:cs typeface="Courier New" panose="02070309020205020404" pitchFamily="49" charset="0"/>
              </a:rPr>
              <a:t> + bf)</a:t>
            </a:r>
          </a:p>
          <a:p>
            <a:pPr marL="0" indent="0">
              <a:buNone/>
            </a:pPr>
            <a:r>
              <a:rPr lang="en-US" dirty="0">
                <a:latin typeface="Courier New" panose="02070309020205020404" pitchFamily="49" charset="0"/>
                <a:cs typeface="Courier New" panose="02070309020205020404" pitchFamily="49" charset="0"/>
              </a:rPr>
              <a:t>    O = sigmoid(</a:t>
            </a:r>
            <a:r>
              <a:rPr lang="en-US" dirty="0" err="1">
                <a:latin typeface="Courier New" panose="02070309020205020404" pitchFamily="49" charset="0"/>
                <a:cs typeface="Courier New" panose="02070309020205020404" pitchFamily="49" charset="0"/>
              </a:rPr>
              <a:t>x_t</a:t>
            </a:r>
            <a:r>
              <a:rPr lang="en-US" dirty="0">
                <a:latin typeface="Courier New" panose="02070309020205020404" pitchFamily="49" charset="0"/>
                <a:cs typeface="Courier New" panose="02070309020205020404" pitchFamily="49" charset="0"/>
              </a:rPr>
              <a:t> @ </a:t>
            </a:r>
            <a:r>
              <a:rPr lang="en-US" dirty="0" err="1">
                <a:latin typeface="Courier New" panose="02070309020205020404" pitchFamily="49" charset="0"/>
                <a:cs typeface="Courier New" panose="02070309020205020404" pitchFamily="49" charset="0"/>
              </a:rPr>
              <a:t>Wxo</a:t>
            </a:r>
            <a:r>
              <a:rPr lang="en-US" dirty="0">
                <a:latin typeface="Courier New" panose="02070309020205020404" pitchFamily="49" charset="0"/>
                <a:cs typeface="Courier New" panose="02070309020205020404" pitchFamily="49" charset="0"/>
              </a:rPr>
              <a:t> + </a:t>
            </a:r>
            <a:r>
              <a:rPr lang="en-US" dirty="0" err="1">
                <a:latin typeface="Courier New" panose="02070309020205020404" pitchFamily="49" charset="0"/>
                <a:cs typeface="Courier New" panose="02070309020205020404" pitchFamily="49" charset="0"/>
              </a:rPr>
              <a:t>h_prev</a:t>
            </a:r>
            <a:r>
              <a:rPr lang="en-US" dirty="0">
                <a:latin typeface="Courier New" panose="02070309020205020404" pitchFamily="49" charset="0"/>
                <a:cs typeface="Courier New" panose="02070309020205020404" pitchFamily="49" charset="0"/>
              </a:rPr>
              <a:t> @ Who + </a:t>
            </a:r>
            <a:r>
              <a:rPr lang="en-US" dirty="0" err="1">
                <a:latin typeface="Courier New" panose="02070309020205020404" pitchFamily="49" charset="0"/>
                <a:cs typeface="Courier New" panose="02070309020205020404" pitchFamily="49" charset="0"/>
              </a:rPr>
              <a:t>bo</a:t>
            </a:r>
            <a:r>
              <a:rPr lang="en-US" dirty="0">
                <a:latin typeface="Courier New" panose="02070309020205020404" pitchFamily="49" charset="0"/>
                <a:cs typeface="Courier New" panose="02070309020205020404" pitchFamily="49" charset="0"/>
              </a:rPr>
              <a:t>)</a:t>
            </a:r>
          </a:p>
          <a:p>
            <a:pPr marL="0" indent="0">
              <a:buNone/>
            </a:pPr>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C_tilde</a:t>
            </a:r>
            <a:r>
              <a:rPr lang="en-US" dirty="0">
                <a:latin typeface="Courier New" panose="02070309020205020404" pitchFamily="49" charset="0"/>
                <a:cs typeface="Courier New" panose="02070309020205020404" pitchFamily="49" charset="0"/>
              </a:rPr>
              <a:t> = </a:t>
            </a:r>
            <a:r>
              <a:rPr lang="en-US" dirty="0" err="1">
                <a:latin typeface="Courier New" panose="02070309020205020404" pitchFamily="49" charset="0"/>
                <a:cs typeface="Courier New" panose="02070309020205020404" pitchFamily="49" charset="0"/>
              </a:rPr>
              <a:t>np.tanh</a:t>
            </a:r>
            <a:r>
              <a:rPr lang="en-US" dirty="0">
                <a:latin typeface="Courier New" panose="02070309020205020404" pitchFamily="49" charset="0"/>
                <a:cs typeface="Courier New" panose="02070309020205020404" pitchFamily="49" charset="0"/>
              </a:rPr>
              <a:t>(</a:t>
            </a:r>
            <a:r>
              <a:rPr lang="en-US" dirty="0" err="1">
                <a:latin typeface="Courier New" panose="02070309020205020404" pitchFamily="49" charset="0"/>
                <a:cs typeface="Courier New" panose="02070309020205020404" pitchFamily="49" charset="0"/>
              </a:rPr>
              <a:t>x_t</a:t>
            </a:r>
            <a:r>
              <a:rPr lang="en-US" dirty="0">
                <a:latin typeface="Courier New" panose="02070309020205020404" pitchFamily="49" charset="0"/>
                <a:cs typeface="Courier New" panose="02070309020205020404" pitchFamily="49" charset="0"/>
              </a:rPr>
              <a:t> @ </a:t>
            </a:r>
            <a:r>
              <a:rPr lang="en-US" dirty="0" err="1">
                <a:latin typeface="Courier New" panose="02070309020205020404" pitchFamily="49" charset="0"/>
                <a:cs typeface="Courier New" panose="02070309020205020404" pitchFamily="49" charset="0"/>
              </a:rPr>
              <a:t>Wxc</a:t>
            </a:r>
            <a:r>
              <a:rPr lang="en-US" dirty="0">
                <a:latin typeface="Courier New" panose="02070309020205020404" pitchFamily="49" charset="0"/>
                <a:cs typeface="Courier New" panose="02070309020205020404" pitchFamily="49" charset="0"/>
              </a:rPr>
              <a:t> + </a:t>
            </a:r>
            <a:r>
              <a:rPr lang="en-US" dirty="0" err="1">
                <a:latin typeface="Courier New" panose="02070309020205020404" pitchFamily="49" charset="0"/>
                <a:cs typeface="Courier New" panose="02070309020205020404" pitchFamily="49" charset="0"/>
              </a:rPr>
              <a:t>h_prev</a:t>
            </a:r>
            <a:r>
              <a:rPr lang="en-US" dirty="0">
                <a:latin typeface="Courier New" panose="02070309020205020404" pitchFamily="49" charset="0"/>
                <a:cs typeface="Courier New" panose="02070309020205020404" pitchFamily="49" charset="0"/>
              </a:rPr>
              <a:t> @ </a:t>
            </a:r>
            <a:r>
              <a:rPr lang="en-US" dirty="0" err="1">
                <a:latin typeface="Courier New" panose="02070309020205020404" pitchFamily="49" charset="0"/>
                <a:cs typeface="Courier New" panose="02070309020205020404" pitchFamily="49" charset="0"/>
              </a:rPr>
              <a:t>Whc</a:t>
            </a:r>
            <a:r>
              <a:rPr lang="en-US" dirty="0">
                <a:latin typeface="Courier New" panose="02070309020205020404" pitchFamily="49" charset="0"/>
                <a:cs typeface="Courier New" panose="02070309020205020404" pitchFamily="49" charset="0"/>
              </a:rPr>
              <a:t> + </a:t>
            </a:r>
            <a:r>
              <a:rPr lang="en-US" dirty="0" err="1">
                <a:latin typeface="Courier New" panose="02070309020205020404" pitchFamily="49" charset="0"/>
                <a:cs typeface="Courier New" panose="02070309020205020404" pitchFamily="49" charset="0"/>
              </a:rPr>
              <a:t>bc</a:t>
            </a:r>
            <a:r>
              <a:rPr lang="en-US" dirty="0">
                <a:latin typeface="Courier New" panose="02070309020205020404" pitchFamily="49" charset="0"/>
                <a:cs typeface="Courier New" panose="02070309020205020404" pitchFamily="49" charset="0"/>
              </a:rPr>
              <a:t>)</a:t>
            </a:r>
          </a:p>
          <a:p>
            <a:pPr marL="0" indent="0">
              <a:buNone/>
            </a:pPr>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C_prev</a:t>
            </a:r>
            <a:r>
              <a:rPr lang="en-US" dirty="0">
                <a:latin typeface="Courier New" panose="02070309020205020404" pitchFamily="49" charset="0"/>
                <a:cs typeface="Courier New" panose="02070309020205020404" pitchFamily="49" charset="0"/>
              </a:rPr>
              <a:t> = F * </a:t>
            </a:r>
            <a:r>
              <a:rPr lang="en-US" dirty="0" err="1">
                <a:latin typeface="Courier New" panose="02070309020205020404" pitchFamily="49" charset="0"/>
                <a:cs typeface="Courier New" panose="02070309020205020404" pitchFamily="49" charset="0"/>
              </a:rPr>
              <a:t>C_prev</a:t>
            </a:r>
            <a:r>
              <a:rPr lang="en-US" dirty="0">
                <a:latin typeface="Courier New" panose="02070309020205020404" pitchFamily="49" charset="0"/>
                <a:cs typeface="Courier New" panose="02070309020205020404" pitchFamily="49" charset="0"/>
              </a:rPr>
              <a:t> + I * </a:t>
            </a:r>
            <a:r>
              <a:rPr lang="en-US" dirty="0" err="1">
                <a:latin typeface="Courier New" panose="02070309020205020404" pitchFamily="49" charset="0"/>
                <a:cs typeface="Courier New" panose="02070309020205020404" pitchFamily="49" charset="0"/>
              </a:rPr>
              <a:t>C_tilde</a:t>
            </a:r>
            <a:endParaRPr lang="en-US" dirty="0">
              <a:latin typeface="Courier New" panose="02070309020205020404" pitchFamily="49" charset="0"/>
              <a:cs typeface="Courier New" panose="02070309020205020404" pitchFamily="49" charset="0"/>
            </a:endParaRPr>
          </a:p>
          <a:p>
            <a:pPr marL="0" indent="0">
              <a:buNone/>
            </a:pPr>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h_prev</a:t>
            </a:r>
            <a:r>
              <a:rPr lang="en-US" dirty="0">
                <a:latin typeface="Courier New" panose="02070309020205020404" pitchFamily="49" charset="0"/>
                <a:cs typeface="Courier New" panose="02070309020205020404" pitchFamily="49" charset="0"/>
              </a:rPr>
              <a:t> = O * </a:t>
            </a:r>
            <a:r>
              <a:rPr lang="en-US" dirty="0" err="1">
                <a:latin typeface="Courier New" panose="02070309020205020404" pitchFamily="49" charset="0"/>
                <a:cs typeface="Courier New" panose="02070309020205020404" pitchFamily="49" charset="0"/>
              </a:rPr>
              <a:t>np.tanh</a:t>
            </a:r>
            <a:r>
              <a:rPr lang="en-US" dirty="0">
                <a:latin typeface="Courier New" panose="02070309020205020404" pitchFamily="49" charset="0"/>
                <a:cs typeface="Courier New" panose="02070309020205020404" pitchFamily="49" charset="0"/>
              </a:rPr>
              <a:t>(</a:t>
            </a:r>
            <a:r>
              <a:rPr lang="en-US" dirty="0" err="1">
                <a:latin typeface="Courier New" panose="02070309020205020404" pitchFamily="49" charset="0"/>
                <a:cs typeface="Courier New" panose="02070309020205020404" pitchFamily="49" charset="0"/>
              </a:rPr>
              <a:t>C_prev</a:t>
            </a:r>
            <a:r>
              <a:rPr lang="en-US" dirty="0">
                <a:latin typeface="Courier New" panose="02070309020205020404" pitchFamily="49" charset="0"/>
                <a:cs typeface="Courier New" panose="02070309020205020404" pitchFamily="49" charset="0"/>
              </a:rPr>
              <a:t>)</a:t>
            </a:r>
          </a:p>
          <a:p>
            <a:pPr marL="0" indent="0">
              <a:buNone/>
            </a:pPr>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y_t</a:t>
            </a:r>
            <a:r>
              <a:rPr lang="en-US" dirty="0">
                <a:latin typeface="Courier New" panose="02070309020205020404" pitchFamily="49" charset="0"/>
                <a:cs typeface="Courier New" panose="02070309020205020404" pitchFamily="49" charset="0"/>
              </a:rPr>
              <a:t> = </a:t>
            </a:r>
            <a:r>
              <a:rPr lang="en-US" dirty="0" err="1">
                <a:latin typeface="Courier New" panose="02070309020205020404" pitchFamily="49" charset="0"/>
                <a:cs typeface="Courier New" panose="02070309020205020404" pitchFamily="49" charset="0"/>
              </a:rPr>
              <a:t>h_prev</a:t>
            </a:r>
            <a:r>
              <a:rPr lang="en-US" dirty="0">
                <a:latin typeface="Courier New" panose="02070309020205020404" pitchFamily="49" charset="0"/>
                <a:cs typeface="Courier New" panose="02070309020205020404" pitchFamily="49" charset="0"/>
              </a:rPr>
              <a:t> @ Wy + by</a:t>
            </a:r>
          </a:p>
          <a:p>
            <a:pPr marL="0" indent="0">
              <a:buNone/>
            </a:pPr>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y_preds.append</a:t>
            </a:r>
            <a:r>
              <a:rPr lang="en-US" dirty="0">
                <a:latin typeface="Courier New" panose="02070309020205020404" pitchFamily="49" charset="0"/>
                <a:cs typeface="Courier New" panose="02070309020205020404" pitchFamily="49" charset="0"/>
              </a:rPr>
              <a:t>(</a:t>
            </a:r>
            <a:r>
              <a:rPr lang="en-US" dirty="0" err="1">
                <a:latin typeface="Courier New" panose="02070309020205020404" pitchFamily="49" charset="0"/>
                <a:cs typeface="Courier New" panose="02070309020205020404" pitchFamily="49" charset="0"/>
              </a:rPr>
              <a:t>y_t</a:t>
            </a:r>
            <a:r>
              <a:rPr lang="en-US" dirty="0">
                <a:latin typeface="Courier New" panose="02070309020205020404" pitchFamily="49" charset="0"/>
                <a:cs typeface="Courier New" panose="02070309020205020404" pitchFamily="49" charset="0"/>
              </a:rPr>
              <a:t>)</a:t>
            </a:r>
          </a:p>
        </p:txBody>
      </p:sp>
    </p:spTree>
    <p:extLst>
      <p:ext uri="{BB962C8B-B14F-4D97-AF65-F5344CB8AC3E}">
        <p14:creationId xmlns:p14="http://schemas.microsoft.com/office/powerpoint/2010/main" val="339671289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93C0C2-8D39-79C0-863F-C950A2D4E04A}"/>
              </a:ext>
            </a:extLst>
          </p:cNvPr>
          <p:cNvSpPr>
            <a:spLocks noGrp="1"/>
          </p:cNvSpPr>
          <p:nvPr>
            <p:ph type="title"/>
          </p:nvPr>
        </p:nvSpPr>
        <p:spPr/>
        <p:txBody>
          <a:bodyPr>
            <a:normAutofit/>
          </a:bodyPr>
          <a:lstStyle/>
          <a:p>
            <a:r>
              <a:rPr lang="en-US" dirty="0"/>
              <a:t>LSTM Training &amp; Predictions</a:t>
            </a:r>
          </a:p>
        </p:txBody>
      </p:sp>
      <p:sp>
        <p:nvSpPr>
          <p:cNvPr id="3" name="Content Placeholder 2">
            <a:extLst>
              <a:ext uri="{FF2B5EF4-FFF2-40B4-BE49-F238E27FC236}">
                <a16:creationId xmlns:a16="http://schemas.microsoft.com/office/drawing/2014/main" id="{08CDE308-ECD0-CA51-CA13-BD090D29FBE8}"/>
              </a:ext>
            </a:extLst>
          </p:cNvPr>
          <p:cNvSpPr>
            <a:spLocks noGrp="1"/>
          </p:cNvSpPr>
          <p:nvPr>
            <p:ph sz="half" idx="1"/>
          </p:nvPr>
        </p:nvSpPr>
        <p:spPr/>
        <p:txBody>
          <a:bodyPr>
            <a:normAutofit/>
          </a:bodyPr>
          <a:lstStyle/>
          <a:p>
            <a:r>
              <a:rPr lang="en-US" dirty="0"/>
              <a:t>Use gradient descent and backpropagation through time to update all gate parameters</a:t>
            </a:r>
          </a:p>
          <a:p>
            <a:r>
              <a:rPr lang="en-US" dirty="0"/>
              <a:t>The LSTM learns to follow the general trend of the weather variables and reduce forecasting error over time</a:t>
            </a:r>
          </a:p>
          <a:p>
            <a:r>
              <a:rPr lang="en-US" dirty="0"/>
              <a:t>Can produce similar graphs for rainfall and humidity</a:t>
            </a:r>
          </a:p>
          <a:p>
            <a:endParaRPr lang="en-US" dirty="0"/>
          </a:p>
        </p:txBody>
      </p:sp>
      <p:graphicFrame>
        <p:nvGraphicFramePr>
          <p:cNvPr id="5" name="Chart 0">
            <a:extLst>
              <a:ext uri="{FF2B5EF4-FFF2-40B4-BE49-F238E27FC236}">
                <a16:creationId xmlns:a16="http://schemas.microsoft.com/office/drawing/2014/main" id="{67EB3518-456C-15D2-1BBE-59F864688D13}"/>
              </a:ext>
            </a:extLst>
          </p:cNvPr>
          <p:cNvGraphicFramePr>
            <a:graphicFrameLocks noGrp="1"/>
          </p:cNvGraphicFramePr>
          <p:nvPr>
            <p:ph sz="half" idx="2"/>
          </p:nvPr>
        </p:nvGraphicFramePr>
        <p:xfrm>
          <a:off x="6172200" y="1825625"/>
          <a:ext cx="5181600" cy="4351338"/>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207610172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43E63834-368D-B509-3505-86202B7DC68D}"/>
              </a:ext>
            </a:extLst>
          </p:cNvPr>
          <p:cNvSpPr>
            <a:spLocks noGrp="1"/>
          </p:cNvSpPr>
          <p:nvPr>
            <p:ph type="title"/>
          </p:nvPr>
        </p:nvSpPr>
        <p:spPr/>
        <p:txBody>
          <a:bodyPr>
            <a:normAutofit/>
          </a:bodyPr>
          <a:lstStyle/>
          <a:p>
            <a:r>
              <a:rPr lang="en-US" dirty="0"/>
              <a:t>RNN vs LSTM: A Comparison</a:t>
            </a:r>
          </a:p>
        </p:txBody>
      </p:sp>
      <p:sp>
        <p:nvSpPr>
          <p:cNvPr id="7" name="Content Placeholder 6">
            <a:extLst>
              <a:ext uri="{FF2B5EF4-FFF2-40B4-BE49-F238E27FC236}">
                <a16:creationId xmlns:a16="http://schemas.microsoft.com/office/drawing/2014/main" id="{5D7E82E9-DFD3-62C6-E088-D8037974AEE5}"/>
              </a:ext>
            </a:extLst>
          </p:cNvPr>
          <p:cNvSpPr>
            <a:spLocks noGrp="1"/>
          </p:cNvSpPr>
          <p:nvPr>
            <p:ph sz="half" idx="1"/>
          </p:nvPr>
        </p:nvSpPr>
        <p:spPr>
          <a:xfrm>
            <a:off x="838200" y="1825625"/>
            <a:ext cx="3696929" cy="4351338"/>
          </a:xfrm>
        </p:spPr>
        <p:txBody>
          <a:bodyPr>
            <a:normAutofit fontScale="85000" lnSpcReduction="10000"/>
          </a:bodyPr>
          <a:lstStyle/>
          <a:p>
            <a:r>
              <a:rPr lang="en-US" dirty="0"/>
              <a:t>LSTMs trade computational efficiency for better performance on long sequences</a:t>
            </a:r>
          </a:p>
          <a:p>
            <a:r>
              <a:rPr lang="en-US" dirty="0"/>
              <a:t>When sequence lengths are short, a simple RNN may suffice</a:t>
            </a:r>
          </a:p>
          <a:p>
            <a:r>
              <a:rPr lang="en-US" dirty="0"/>
              <a:t>For very long sequences or </a:t>
            </a:r>
            <a:r>
              <a:rPr lang="en-US" dirty="0" err="1"/>
              <a:t>parallelisable</a:t>
            </a:r>
            <a:r>
              <a:rPr lang="en-US" dirty="0"/>
              <a:t> tasks, Transformer architectures might be preferred</a:t>
            </a:r>
          </a:p>
          <a:p>
            <a:r>
              <a:rPr lang="en-US" dirty="0"/>
              <a:t>Coming next!</a:t>
            </a:r>
          </a:p>
        </p:txBody>
      </p:sp>
      <p:graphicFrame>
        <p:nvGraphicFramePr>
          <p:cNvPr id="9" name="Table 0">
            <a:extLst>
              <a:ext uri="{FF2B5EF4-FFF2-40B4-BE49-F238E27FC236}">
                <a16:creationId xmlns:a16="http://schemas.microsoft.com/office/drawing/2014/main" id="{66B69029-F9C1-A1B8-1B7F-3325F5A37192}"/>
              </a:ext>
            </a:extLst>
          </p:cNvPr>
          <p:cNvGraphicFramePr>
            <a:graphicFrameLocks noGrp="1"/>
          </p:cNvGraphicFramePr>
          <p:nvPr>
            <p:extLst>
              <p:ext uri="{D42A27DB-BD31-4B8C-83A1-F6EECF244321}">
                <p14:modId xmlns:p14="http://schemas.microsoft.com/office/powerpoint/2010/main" val="3053980711"/>
              </p:ext>
            </p:extLst>
          </p:nvPr>
        </p:nvGraphicFramePr>
        <p:xfrm>
          <a:off x="4876800" y="1825625"/>
          <a:ext cx="7315200" cy="3413760"/>
        </p:xfrm>
        <a:graphic>
          <a:graphicData uri="http://schemas.openxmlformats.org/drawingml/2006/table">
            <a:tbl>
              <a:tblPr>
                <a:solidFill>
                  <a:srgbClr val="FFFFFF">
                    <a:alpha val="60000"/>
                  </a:srgbClr>
                </a:solidFill>
              </a:tblPr>
              <a:tblGrid>
                <a:gridCol w="2438400">
                  <a:extLst>
                    <a:ext uri="{9D8B030D-6E8A-4147-A177-3AD203B41FA5}">
                      <a16:colId xmlns:a16="http://schemas.microsoft.com/office/drawing/2014/main" val="20000"/>
                    </a:ext>
                  </a:extLst>
                </a:gridCol>
                <a:gridCol w="2438400">
                  <a:extLst>
                    <a:ext uri="{9D8B030D-6E8A-4147-A177-3AD203B41FA5}">
                      <a16:colId xmlns:a16="http://schemas.microsoft.com/office/drawing/2014/main" val="20001"/>
                    </a:ext>
                  </a:extLst>
                </a:gridCol>
                <a:gridCol w="2438400">
                  <a:extLst>
                    <a:ext uri="{9D8B030D-6E8A-4147-A177-3AD203B41FA5}">
                      <a16:colId xmlns:a16="http://schemas.microsoft.com/office/drawing/2014/main" val="20002"/>
                    </a:ext>
                  </a:extLst>
                </a:gridCol>
              </a:tblGrid>
              <a:tr h="568960">
                <a:tc>
                  <a:txBody>
                    <a:bodyPr/>
                    <a:lstStyle/>
                    <a:p>
                      <a:pPr marL="0" indent="0">
                        <a:buNone/>
                      </a:pPr>
                      <a:endParaRPr lang="en-US" sz="1100" dirty="0"/>
                    </a:p>
                  </a:txBody>
                  <a:tcPr marL="121920" marR="121920" marT="60960" marB="60960" anchor="ctr">
                    <a:lnL w="3810" cap="flat" cmpd="sng" algn="ctr">
                      <a:solidFill>
                        <a:srgbClr val="DDDDDD"/>
                      </a:solidFill>
                      <a:prstDash val="solid"/>
                      <a:round/>
                      <a:headEnd type="none" w="med" len="med"/>
                      <a:tailEnd type="none" w="med" len="med"/>
                    </a:lnL>
                    <a:lnR w="3810" cap="flat" cmpd="sng" algn="ctr">
                      <a:solidFill>
                        <a:srgbClr val="DDDDDD"/>
                      </a:solidFill>
                      <a:prstDash val="solid"/>
                      <a:round/>
                      <a:headEnd type="none" w="med" len="med"/>
                      <a:tailEnd type="none" w="med" len="med"/>
                    </a:lnR>
                    <a:lnT w="3810" cap="flat" cmpd="sng" algn="ctr">
                      <a:solidFill>
                        <a:srgbClr val="DDDDDD"/>
                      </a:solidFill>
                      <a:prstDash val="solid"/>
                      <a:round/>
                      <a:headEnd type="none" w="med" len="med"/>
                      <a:tailEnd type="none" w="med" len="med"/>
                    </a:lnT>
                    <a:lnB w="3810" cap="flat" cmpd="sng" algn="ctr">
                      <a:solidFill>
                        <a:srgbClr val="DDDDDD"/>
                      </a:solidFill>
                      <a:prstDash val="solid"/>
                      <a:round/>
                      <a:headEnd type="none" w="med" len="med"/>
                      <a:tailEnd type="none" w="med" len="med"/>
                    </a:lnB>
                    <a:solidFill>
                      <a:schemeClr val="bg1"/>
                    </a:solidFill>
                  </a:tcPr>
                </a:tc>
                <a:tc>
                  <a:txBody>
                    <a:bodyPr/>
                    <a:lstStyle/>
                    <a:p>
                      <a:pPr marL="0" indent="0">
                        <a:buNone/>
                      </a:pPr>
                      <a:r>
                        <a:rPr lang="en-US" sz="1100" b="1" dirty="0">
                          <a:solidFill>
                            <a:srgbClr val="030A18"/>
                          </a:solidFill>
                        </a:rPr>
                        <a:t>RNN</a:t>
                      </a:r>
                      <a:endParaRPr lang="en-US" sz="1100" dirty="0"/>
                    </a:p>
                  </a:txBody>
                  <a:tcPr marL="121920" marR="121920" marT="60960" marB="60960" anchor="ctr">
                    <a:lnL w="3810" cap="flat" cmpd="sng" algn="ctr">
                      <a:solidFill>
                        <a:srgbClr val="DDDDDD"/>
                      </a:solidFill>
                      <a:prstDash val="solid"/>
                      <a:round/>
                      <a:headEnd type="none" w="med" len="med"/>
                      <a:tailEnd type="none" w="med" len="med"/>
                    </a:lnL>
                    <a:lnR w="3810" cap="flat" cmpd="sng" algn="ctr">
                      <a:solidFill>
                        <a:srgbClr val="DDDDDD"/>
                      </a:solidFill>
                      <a:prstDash val="solid"/>
                      <a:round/>
                      <a:headEnd type="none" w="med" len="med"/>
                      <a:tailEnd type="none" w="med" len="med"/>
                    </a:lnR>
                    <a:lnT w="3810" cap="flat" cmpd="sng" algn="ctr">
                      <a:solidFill>
                        <a:srgbClr val="DDDDDD"/>
                      </a:solidFill>
                      <a:prstDash val="solid"/>
                      <a:round/>
                      <a:headEnd type="none" w="med" len="med"/>
                      <a:tailEnd type="none" w="med" len="med"/>
                    </a:lnT>
                    <a:lnB w="3810" cap="flat" cmpd="sng" algn="ctr">
                      <a:solidFill>
                        <a:srgbClr val="DDDDDD"/>
                      </a:solidFill>
                      <a:prstDash val="solid"/>
                      <a:round/>
                      <a:headEnd type="none" w="med" len="med"/>
                      <a:tailEnd type="none" w="med" len="med"/>
                    </a:lnB>
                    <a:solidFill>
                      <a:schemeClr val="bg1"/>
                    </a:solidFill>
                  </a:tcPr>
                </a:tc>
                <a:tc>
                  <a:txBody>
                    <a:bodyPr/>
                    <a:lstStyle/>
                    <a:p>
                      <a:pPr marL="0" indent="0">
                        <a:buNone/>
                      </a:pPr>
                      <a:r>
                        <a:rPr lang="en-US" sz="1100" b="1" dirty="0">
                          <a:solidFill>
                            <a:srgbClr val="030A18"/>
                          </a:solidFill>
                        </a:rPr>
                        <a:t>LSTM</a:t>
                      </a:r>
                      <a:endParaRPr lang="en-US" sz="1100" dirty="0"/>
                    </a:p>
                  </a:txBody>
                  <a:tcPr marL="121920" marR="121920" marT="60960" marB="60960" anchor="ctr">
                    <a:lnL w="3810" cap="flat" cmpd="sng" algn="ctr">
                      <a:solidFill>
                        <a:srgbClr val="DDDDDD"/>
                      </a:solidFill>
                      <a:prstDash val="solid"/>
                      <a:round/>
                      <a:headEnd type="none" w="med" len="med"/>
                      <a:tailEnd type="none" w="med" len="med"/>
                    </a:lnL>
                    <a:lnR w="3810" cap="flat" cmpd="sng" algn="ctr">
                      <a:solidFill>
                        <a:srgbClr val="DDDDDD"/>
                      </a:solidFill>
                      <a:prstDash val="solid"/>
                      <a:round/>
                      <a:headEnd type="none" w="med" len="med"/>
                      <a:tailEnd type="none" w="med" len="med"/>
                    </a:lnR>
                    <a:lnT w="3810" cap="flat" cmpd="sng" algn="ctr">
                      <a:solidFill>
                        <a:srgbClr val="DDDDDD"/>
                      </a:solidFill>
                      <a:prstDash val="solid"/>
                      <a:round/>
                      <a:headEnd type="none" w="med" len="med"/>
                      <a:tailEnd type="none" w="med" len="med"/>
                    </a:lnT>
                    <a:lnB w="3810" cap="flat" cmpd="sng" algn="ctr">
                      <a:solidFill>
                        <a:srgbClr val="DDDDDD"/>
                      </a:solidFill>
                      <a:prstDash val="solid"/>
                      <a:round/>
                      <a:headEnd type="none" w="med" len="med"/>
                      <a:tailEnd type="none" w="med" len="med"/>
                    </a:lnB>
                    <a:solidFill>
                      <a:schemeClr val="bg1"/>
                    </a:solidFill>
                  </a:tcPr>
                </a:tc>
                <a:extLst>
                  <a:ext uri="{0D108BD9-81ED-4DB2-BD59-A6C34878D82A}">
                    <a16:rowId xmlns:a16="http://schemas.microsoft.com/office/drawing/2014/main" val="10000"/>
                  </a:ext>
                </a:extLst>
              </a:tr>
              <a:tr h="568960">
                <a:tc>
                  <a:txBody>
                    <a:bodyPr/>
                    <a:lstStyle/>
                    <a:p>
                      <a:pPr marL="0" indent="0">
                        <a:buNone/>
                      </a:pPr>
                      <a:r>
                        <a:rPr lang="en-US" sz="1100" b="1" dirty="0">
                          <a:solidFill>
                            <a:srgbClr val="030A18"/>
                          </a:solidFill>
                        </a:rPr>
                        <a:t>Memory</a:t>
                      </a:r>
                      <a:endParaRPr lang="en-US" sz="1100" dirty="0"/>
                    </a:p>
                  </a:txBody>
                  <a:tcPr marL="121920" marR="121920" marT="60960" marB="60960" anchor="ctr">
                    <a:lnL w="3810" cap="flat" cmpd="sng" algn="ctr">
                      <a:solidFill>
                        <a:srgbClr val="DDDDDD"/>
                      </a:solidFill>
                      <a:prstDash val="solid"/>
                      <a:round/>
                      <a:headEnd type="none" w="med" len="med"/>
                      <a:tailEnd type="none" w="med" len="med"/>
                    </a:lnL>
                    <a:lnR w="3810" cap="flat" cmpd="sng" algn="ctr">
                      <a:solidFill>
                        <a:srgbClr val="DDDDDD"/>
                      </a:solidFill>
                      <a:prstDash val="solid"/>
                      <a:round/>
                      <a:headEnd type="none" w="med" len="med"/>
                      <a:tailEnd type="none" w="med" len="med"/>
                    </a:lnR>
                    <a:lnT w="3810" cap="flat" cmpd="sng" algn="ctr">
                      <a:solidFill>
                        <a:srgbClr val="DDDDDD"/>
                      </a:solidFill>
                      <a:prstDash val="solid"/>
                      <a:round/>
                      <a:headEnd type="none" w="med" len="med"/>
                      <a:tailEnd type="none" w="med" len="med"/>
                    </a:lnT>
                    <a:lnB w="3810" cap="flat" cmpd="sng" algn="ctr">
                      <a:solidFill>
                        <a:srgbClr val="DDDDDD"/>
                      </a:solidFill>
                      <a:prstDash val="solid"/>
                      <a:round/>
                      <a:headEnd type="none" w="med" len="med"/>
                      <a:tailEnd type="none" w="med" len="med"/>
                    </a:lnB>
                    <a:solidFill>
                      <a:schemeClr val="bg1"/>
                    </a:solidFill>
                  </a:tcPr>
                </a:tc>
                <a:tc>
                  <a:txBody>
                    <a:bodyPr/>
                    <a:lstStyle/>
                    <a:p>
                      <a:pPr marL="0" indent="0">
                        <a:buNone/>
                      </a:pPr>
                      <a:r>
                        <a:rPr lang="en-US" sz="1100" dirty="0">
                          <a:solidFill>
                            <a:srgbClr val="030A18"/>
                          </a:solidFill>
                        </a:rPr>
                        <a:t>Single hidden state hₜ</a:t>
                      </a:r>
                      <a:endParaRPr lang="en-US" sz="1100" dirty="0"/>
                    </a:p>
                  </a:txBody>
                  <a:tcPr marL="121920" marR="121920" marT="60960" marB="60960" anchor="ctr">
                    <a:lnL w="3810" cap="flat" cmpd="sng" algn="ctr">
                      <a:solidFill>
                        <a:srgbClr val="DDDDDD"/>
                      </a:solidFill>
                      <a:prstDash val="solid"/>
                      <a:round/>
                      <a:headEnd type="none" w="med" len="med"/>
                      <a:tailEnd type="none" w="med" len="med"/>
                    </a:lnL>
                    <a:lnR w="3810" cap="flat" cmpd="sng" algn="ctr">
                      <a:solidFill>
                        <a:srgbClr val="DDDDDD"/>
                      </a:solidFill>
                      <a:prstDash val="solid"/>
                      <a:round/>
                      <a:headEnd type="none" w="med" len="med"/>
                      <a:tailEnd type="none" w="med" len="med"/>
                    </a:lnR>
                    <a:lnT w="3810" cap="flat" cmpd="sng" algn="ctr">
                      <a:solidFill>
                        <a:srgbClr val="DDDDDD"/>
                      </a:solidFill>
                      <a:prstDash val="solid"/>
                      <a:round/>
                      <a:headEnd type="none" w="med" len="med"/>
                      <a:tailEnd type="none" w="med" len="med"/>
                    </a:lnT>
                    <a:lnB w="3810" cap="flat" cmpd="sng" algn="ctr">
                      <a:solidFill>
                        <a:srgbClr val="DDDDDD"/>
                      </a:solidFill>
                      <a:prstDash val="solid"/>
                      <a:round/>
                      <a:headEnd type="none" w="med" len="med"/>
                      <a:tailEnd type="none" w="med" len="med"/>
                    </a:lnB>
                    <a:solidFill>
                      <a:schemeClr val="bg1"/>
                    </a:solidFill>
                  </a:tcPr>
                </a:tc>
                <a:tc>
                  <a:txBody>
                    <a:bodyPr/>
                    <a:lstStyle/>
                    <a:p>
                      <a:pPr marL="0" indent="0">
                        <a:buNone/>
                      </a:pPr>
                      <a:r>
                        <a:rPr lang="en-US" sz="1100" dirty="0">
                          <a:solidFill>
                            <a:srgbClr val="030A18"/>
                          </a:solidFill>
                        </a:rPr>
                        <a:t>Hidden state hₜ and cell state Cₜ</a:t>
                      </a:r>
                      <a:endParaRPr lang="en-US" sz="1100" dirty="0"/>
                    </a:p>
                  </a:txBody>
                  <a:tcPr marL="121920" marR="121920" marT="60960" marB="60960" anchor="ctr">
                    <a:lnL w="3810" cap="flat" cmpd="sng" algn="ctr">
                      <a:solidFill>
                        <a:srgbClr val="DDDDDD"/>
                      </a:solidFill>
                      <a:prstDash val="solid"/>
                      <a:round/>
                      <a:headEnd type="none" w="med" len="med"/>
                      <a:tailEnd type="none" w="med" len="med"/>
                    </a:lnL>
                    <a:lnR w="3810" cap="flat" cmpd="sng" algn="ctr">
                      <a:solidFill>
                        <a:srgbClr val="DDDDDD"/>
                      </a:solidFill>
                      <a:prstDash val="solid"/>
                      <a:round/>
                      <a:headEnd type="none" w="med" len="med"/>
                      <a:tailEnd type="none" w="med" len="med"/>
                    </a:lnR>
                    <a:lnT w="3810" cap="flat" cmpd="sng" algn="ctr">
                      <a:solidFill>
                        <a:srgbClr val="DDDDDD"/>
                      </a:solidFill>
                      <a:prstDash val="solid"/>
                      <a:round/>
                      <a:headEnd type="none" w="med" len="med"/>
                      <a:tailEnd type="none" w="med" len="med"/>
                    </a:lnT>
                    <a:lnB w="3810" cap="flat" cmpd="sng" algn="ctr">
                      <a:solidFill>
                        <a:srgbClr val="DDDDDD"/>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568960">
                <a:tc>
                  <a:txBody>
                    <a:bodyPr/>
                    <a:lstStyle/>
                    <a:p>
                      <a:pPr marL="0" indent="0">
                        <a:buNone/>
                      </a:pPr>
                      <a:r>
                        <a:rPr lang="en-US" sz="1100" b="1" dirty="0">
                          <a:solidFill>
                            <a:srgbClr val="030A18"/>
                          </a:solidFill>
                        </a:rPr>
                        <a:t>Gates</a:t>
                      </a:r>
                      <a:endParaRPr lang="en-US" sz="1100" dirty="0"/>
                    </a:p>
                  </a:txBody>
                  <a:tcPr marL="121920" marR="121920" marT="60960" marB="60960" anchor="ctr">
                    <a:lnL w="3810" cap="flat" cmpd="sng" algn="ctr">
                      <a:solidFill>
                        <a:srgbClr val="DDDDDD"/>
                      </a:solidFill>
                      <a:prstDash val="solid"/>
                      <a:round/>
                      <a:headEnd type="none" w="med" len="med"/>
                      <a:tailEnd type="none" w="med" len="med"/>
                    </a:lnL>
                    <a:lnR w="3810" cap="flat" cmpd="sng" algn="ctr">
                      <a:solidFill>
                        <a:srgbClr val="DDDDDD"/>
                      </a:solidFill>
                      <a:prstDash val="solid"/>
                      <a:round/>
                      <a:headEnd type="none" w="med" len="med"/>
                      <a:tailEnd type="none" w="med" len="med"/>
                    </a:lnR>
                    <a:lnT w="3810" cap="flat" cmpd="sng" algn="ctr">
                      <a:solidFill>
                        <a:srgbClr val="DDDDDD"/>
                      </a:solidFill>
                      <a:prstDash val="solid"/>
                      <a:round/>
                      <a:headEnd type="none" w="med" len="med"/>
                      <a:tailEnd type="none" w="med" len="med"/>
                    </a:lnT>
                    <a:lnB w="3810" cap="flat" cmpd="sng" algn="ctr">
                      <a:solidFill>
                        <a:srgbClr val="DDDDDD"/>
                      </a:solidFill>
                      <a:prstDash val="solid"/>
                      <a:round/>
                      <a:headEnd type="none" w="med" len="med"/>
                      <a:tailEnd type="none" w="med" len="med"/>
                    </a:lnB>
                    <a:solidFill>
                      <a:schemeClr val="bg1"/>
                    </a:solidFill>
                  </a:tcPr>
                </a:tc>
                <a:tc>
                  <a:txBody>
                    <a:bodyPr/>
                    <a:lstStyle/>
                    <a:p>
                      <a:pPr marL="0" indent="0">
                        <a:buNone/>
                      </a:pPr>
                      <a:r>
                        <a:rPr lang="en-US" sz="1100" dirty="0">
                          <a:solidFill>
                            <a:srgbClr val="030A18"/>
                          </a:solidFill>
                        </a:rPr>
                        <a:t>None</a:t>
                      </a:r>
                      <a:endParaRPr lang="en-US" sz="1100" dirty="0"/>
                    </a:p>
                  </a:txBody>
                  <a:tcPr marL="121920" marR="121920" marT="60960" marB="60960" anchor="ctr">
                    <a:lnL w="3810" cap="flat" cmpd="sng" algn="ctr">
                      <a:solidFill>
                        <a:srgbClr val="DDDDDD"/>
                      </a:solidFill>
                      <a:prstDash val="solid"/>
                      <a:round/>
                      <a:headEnd type="none" w="med" len="med"/>
                      <a:tailEnd type="none" w="med" len="med"/>
                    </a:lnL>
                    <a:lnR w="3810" cap="flat" cmpd="sng" algn="ctr">
                      <a:solidFill>
                        <a:srgbClr val="DDDDDD"/>
                      </a:solidFill>
                      <a:prstDash val="solid"/>
                      <a:round/>
                      <a:headEnd type="none" w="med" len="med"/>
                      <a:tailEnd type="none" w="med" len="med"/>
                    </a:lnR>
                    <a:lnT w="3810" cap="flat" cmpd="sng" algn="ctr">
                      <a:solidFill>
                        <a:srgbClr val="DDDDDD"/>
                      </a:solidFill>
                      <a:prstDash val="solid"/>
                      <a:round/>
                      <a:headEnd type="none" w="med" len="med"/>
                      <a:tailEnd type="none" w="med" len="med"/>
                    </a:lnT>
                    <a:lnB w="3810" cap="flat" cmpd="sng" algn="ctr">
                      <a:solidFill>
                        <a:srgbClr val="DDDDDD"/>
                      </a:solidFill>
                      <a:prstDash val="solid"/>
                      <a:round/>
                      <a:headEnd type="none" w="med" len="med"/>
                      <a:tailEnd type="none" w="med" len="med"/>
                    </a:lnB>
                    <a:solidFill>
                      <a:schemeClr val="bg1"/>
                    </a:solidFill>
                  </a:tcPr>
                </a:tc>
                <a:tc>
                  <a:txBody>
                    <a:bodyPr/>
                    <a:lstStyle/>
                    <a:p>
                      <a:pPr marL="0" indent="0">
                        <a:buNone/>
                      </a:pPr>
                      <a:r>
                        <a:rPr lang="en-US" sz="1100" dirty="0">
                          <a:solidFill>
                            <a:srgbClr val="030A18"/>
                          </a:solidFill>
                        </a:rPr>
                        <a:t>Input, forget &amp; output gates</a:t>
                      </a:r>
                      <a:endParaRPr lang="en-US" sz="1100" dirty="0"/>
                    </a:p>
                  </a:txBody>
                  <a:tcPr marL="121920" marR="121920" marT="60960" marB="60960" anchor="ctr">
                    <a:lnL w="3810" cap="flat" cmpd="sng" algn="ctr">
                      <a:solidFill>
                        <a:srgbClr val="DDDDDD"/>
                      </a:solidFill>
                      <a:prstDash val="solid"/>
                      <a:round/>
                      <a:headEnd type="none" w="med" len="med"/>
                      <a:tailEnd type="none" w="med" len="med"/>
                    </a:lnL>
                    <a:lnR w="3810" cap="flat" cmpd="sng" algn="ctr">
                      <a:solidFill>
                        <a:srgbClr val="DDDDDD"/>
                      </a:solidFill>
                      <a:prstDash val="solid"/>
                      <a:round/>
                      <a:headEnd type="none" w="med" len="med"/>
                      <a:tailEnd type="none" w="med" len="med"/>
                    </a:lnR>
                    <a:lnT w="3810" cap="flat" cmpd="sng" algn="ctr">
                      <a:solidFill>
                        <a:srgbClr val="DDDDDD"/>
                      </a:solidFill>
                      <a:prstDash val="solid"/>
                      <a:round/>
                      <a:headEnd type="none" w="med" len="med"/>
                      <a:tailEnd type="none" w="med" len="med"/>
                    </a:lnT>
                    <a:lnB w="3810" cap="flat" cmpd="sng" algn="ctr">
                      <a:solidFill>
                        <a:srgbClr val="DDDDDD"/>
                      </a:solidFill>
                      <a:prstDash val="solid"/>
                      <a:round/>
                      <a:headEnd type="none" w="med" len="med"/>
                      <a:tailEnd type="none" w="med" len="med"/>
                    </a:lnB>
                    <a:solidFill>
                      <a:schemeClr val="bg1"/>
                    </a:solidFill>
                  </a:tcPr>
                </a:tc>
                <a:extLst>
                  <a:ext uri="{0D108BD9-81ED-4DB2-BD59-A6C34878D82A}">
                    <a16:rowId xmlns:a16="http://schemas.microsoft.com/office/drawing/2014/main" val="10002"/>
                  </a:ext>
                </a:extLst>
              </a:tr>
              <a:tr h="568960">
                <a:tc>
                  <a:txBody>
                    <a:bodyPr/>
                    <a:lstStyle/>
                    <a:p>
                      <a:pPr marL="0" indent="0">
                        <a:buNone/>
                      </a:pPr>
                      <a:r>
                        <a:rPr lang="en-US" sz="1100" b="1" dirty="0">
                          <a:solidFill>
                            <a:srgbClr val="030A18"/>
                          </a:solidFill>
                        </a:rPr>
                        <a:t>Vanishing gradient</a:t>
                      </a:r>
                      <a:endParaRPr lang="en-US" sz="1100" dirty="0"/>
                    </a:p>
                  </a:txBody>
                  <a:tcPr marL="121920" marR="121920" marT="60960" marB="60960" anchor="ctr">
                    <a:lnL w="3810" cap="flat" cmpd="sng" algn="ctr">
                      <a:solidFill>
                        <a:srgbClr val="DDDDDD"/>
                      </a:solidFill>
                      <a:prstDash val="solid"/>
                      <a:round/>
                      <a:headEnd type="none" w="med" len="med"/>
                      <a:tailEnd type="none" w="med" len="med"/>
                    </a:lnL>
                    <a:lnR w="3810" cap="flat" cmpd="sng" algn="ctr">
                      <a:solidFill>
                        <a:srgbClr val="DDDDDD"/>
                      </a:solidFill>
                      <a:prstDash val="solid"/>
                      <a:round/>
                      <a:headEnd type="none" w="med" len="med"/>
                      <a:tailEnd type="none" w="med" len="med"/>
                    </a:lnR>
                    <a:lnT w="3810" cap="flat" cmpd="sng" algn="ctr">
                      <a:solidFill>
                        <a:srgbClr val="DDDDDD"/>
                      </a:solidFill>
                      <a:prstDash val="solid"/>
                      <a:round/>
                      <a:headEnd type="none" w="med" len="med"/>
                      <a:tailEnd type="none" w="med" len="med"/>
                    </a:lnT>
                    <a:lnB w="3810" cap="flat" cmpd="sng" algn="ctr">
                      <a:solidFill>
                        <a:srgbClr val="DDDDDD"/>
                      </a:solidFill>
                      <a:prstDash val="solid"/>
                      <a:round/>
                      <a:headEnd type="none" w="med" len="med"/>
                      <a:tailEnd type="none" w="med" len="med"/>
                    </a:lnB>
                    <a:solidFill>
                      <a:schemeClr val="bg1"/>
                    </a:solidFill>
                  </a:tcPr>
                </a:tc>
                <a:tc>
                  <a:txBody>
                    <a:bodyPr/>
                    <a:lstStyle/>
                    <a:p>
                      <a:pPr marL="0" indent="0">
                        <a:buNone/>
                      </a:pPr>
                      <a:r>
                        <a:rPr lang="en-US" sz="1100" dirty="0">
                          <a:solidFill>
                            <a:srgbClr val="030A18"/>
                          </a:solidFill>
                        </a:rPr>
                        <a:t>Severe</a:t>
                      </a:r>
                      <a:endParaRPr lang="en-US" sz="1100" dirty="0"/>
                    </a:p>
                  </a:txBody>
                  <a:tcPr marL="121920" marR="121920" marT="60960" marB="60960" anchor="ctr">
                    <a:lnL w="3810" cap="flat" cmpd="sng" algn="ctr">
                      <a:solidFill>
                        <a:srgbClr val="DDDDDD"/>
                      </a:solidFill>
                      <a:prstDash val="solid"/>
                      <a:round/>
                      <a:headEnd type="none" w="med" len="med"/>
                      <a:tailEnd type="none" w="med" len="med"/>
                    </a:lnL>
                    <a:lnR w="3810" cap="flat" cmpd="sng" algn="ctr">
                      <a:solidFill>
                        <a:srgbClr val="DDDDDD"/>
                      </a:solidFill>
                      <a:prstDash val="solid"/>
                      <a:round/>
                      <a:headEnd type="none" w="med" len="med"/>
                      <a:tailEnd type="none" w="med" len="med"/>
                    </a:lnR>
                    <a:lnT w="3810" cap="flat" cmpd="sng" algn="ctr">
                      <a:solidFill>
                        <a:srgbClr val="DDDDDD"/>
                      </a:solidFill>
                      <a:prstDash val="solid"/>
                      <a:round/>
                      <a:headEnd type="none" w="med" len="med"/>
                      <a:tailEnd type="none" w="med" len="med"/>
                    </a:lnT>
                    <a:lnB w="3810" cap="flat" cmpd="sng" algn="ctr">
                      <a:solidFill>
                        <a:srgbClr val="DDDDDD"/>
                      </a:solidFill>
                      <a:prstDash val="solid"/>
                      <a:round/>
                      <a:headEnd type="none" w="med" len="med"/>
                      <a:tailEnd type="none" w="med" len="med"/>
                    </a:lnB>
                    <a:solidFill>
                      <a:schemeClr val="bg1"/>
                    </a:solidFill>
                  </a:tcPr>
                </a:tc>
                <a:tc>
                  <a:txBody>
                    <a:bodyPr/>
                    <a:lstStyle/>
                    <a:p>
                      <a:pPr marL="0" indent="0">
                        <a:buNone/>
                      </a:pPr>
                      <a:r>
                        <a:rPr lang="en-US" sz="1100" dirty="0">
                          <a:solidFill>
                            <a:srgbClr val="030A18"/>
                          </a:solidFill>
                        </a:rPr>
                        <a:t>Mitigated</a:t>
                      </a:r>
                      <a:endParaRPr lang="en-US" sz="1100" dirty="0"/>
                    </a:p>
                  </a:txBody>
                  <a:tcPr marL="121920" marR="121920" marT="60960" marB="60960" anchor="ctr">
                    <a:lnL w="3810" cap="flat" cmpd="sng" algn="ctr">
                      <a:solidFill>
                        <a:srgbClr val="DDDDDD"/>
                      </a:solidFill>
                      <a:prstDash val="solid"/>
                      <a:round/>
                      <a:headEnd type="none" w="med" len="med"/>
                      <a:tailEnd type="none" w="med" len="med"/>
                    </a:lnL>
                    <a:lnR w="3810" cap="flat" cmpd="sng" algn="ctr">
                      <a:solidFill>
                        <a:srgbClr val="DDDDDD"/>
                      </a:solidFill>
                      <a:prstDash val="solid"/>
                      <a:round/>
                      <a:headEnd type="none" w="med" len="med"/>
                      <a:tailEnd type="none" w="med" len="med"/>
                    </a:lnR>
                    <a:lnT w="3810" cap="flat" cmpd="sng" algn="ctr">
                      <a:solidFill>
                        <a:srgbClr val="DDDDDD"/>
                      </a:solidFill>
                      <a:prstDash val="solid"/>
                      <a:round/>
                      <a:headEnd type="none" w="med" len="med"/>
                      <a:tailEnd type="none" w="med" len="med"/>
                    </a:lnT>
                    <a:lnB w="3810" cap="flat" cmpd="sng" algn="ctr">
                      <a:solidFill>
                        <a:srgbClr val="DDDDDD"/>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568960">
                <a:tc>
                  <a:txBody>
                    <a:bodyPr/>
                    <a:lstStyle/>
                    <a:p>
                      <a:pPr marL="0" indent="0">
                        <a:buNone/>
                      </a:pPr>
                      <a:r>
                        <a:rPr lang="en-US" sz="1100" b="1" dirty="0">
                          <a:solidFill>
                            <a:srgbClr val="030A18"/>
                          </a:solidFill>
                        </a:rPr>
                        <a:t>Parameter count</a:t>
                      </a:r>
                      <a:endParaRPr lang="en-US" sz="1100" dirty="0"/>
                    </a:p>
                  </a:txBody>
                  <a:tcPr marL="121920" marR="121920" marT="60960" marB="60960" anchor="ctr">
                    <a:lnL w="3810" cap="flat" cmpd="sng" algn="ctr">
                      <a:solidFill>
                        <a:srgbClr val="DDDDDD"/>
                      </a:solidFill>
                      <a:prstDash val="solid"/>
                      <a:round/>
                      <a:headEnd type="none" w="med" len="med"/>
                      <a:tailEnd type="none" w="med" len="med"/>
                    </a:lnL>
                    <a:lnR w="3810" cap="flat" cmpd="sng" algn="ctr">
                      <a:solidFill>
                        <a:srgbClr val="DDDDDD"/>
                      </a:solidFill>
                      <a:prstDash val="solid"/>
                      <a:round/>
                      <a:headEnd type="none" w="med" len="med"/>
                      <a:tailEnd type="none" w="med" len="med"/>
                    </a:lnR>
                    <a:lnT w="3810" cap="flat" cmpd="sng" algn="ctr">
                      <a:solidFill>
                        <a:srgbClr val="DDDDDD"/>
                      </a:solidFill>
                      <a:prstDash val="solid"/>
                      <a:round/>
                      <a:headEnd type="none" w="med" len="med"/>
                      <a:tailEnd type="none" w="med" len="med"/>
                    </a:lnT>
                    <a:lnB w="3810" cap="flat" cmpd="sng" algn="ctr">
                      <a:solidFill>
                        <a:srgbClr val="DDDDDD"/>
                      </a:solidFill>
                      <a:prstDash val="solid"/>
                      <a:round/>
                      <a:headEnd type="none" w="med" len="med"/>
                      <a:tailEnd type="none" w="med" len="med"/>
                    </a:lnB>
                    <a:solidFill>
                      <a:schemeClr val="bg1"/>
                    </a:solidFill>
                  </a:tcPr>
                </a:tc>
                <a:tc>
                  <a:txBody>
                    <a:bodyPr/>
                    <a:lstStyle/>
                    <a:p>
                      <a:pPr marL="0" indent="0">
                        <a:buNone/>
                      </a:pPr>
                      <a:r>
                        <a:rPr lang="en-US" sz="1100" dirty="0">
                          <a:solidFill>
                            <a:srgbClr val="030A18"/>
                          </a:solidFill>
                        </a:rPr>
                        <a:t>Fewer</a:t>
                      </a:r>
                      <a:endParaRPr lang="en-US" sz="1100" dirty="0"/>
                    </a:p>
                  </a:txBody>
                  <a:tcPr marL="121920" marR="121920" marT="60960" marB="60960" anchor="ctr">
                    <a:lnL w="3810" cap="flat" cmpd="sng" algn="ctr">
                      <a:solidFill>
                        <a:srgbClr val="DDDDDD"/>
                      </a:solidFill>
                      <a:prstDash val="solid"/>
                      <a:round/>
                      <a:headEnd type="none" w="med" len="med"/>
                      <a:tailEnd type="none" w="med" len="med"/>
                    </a:lnL>
                    <a:lnR w="3810" cap="flat" cmpd="sng" algn="ctr">
                      <a:solidFill>
                        <a:srgbClr val="DDDDDD"/>
                      </a:solidFill>
                      <a:prstDash val="solid"/>
                      <a:round/>
                      <a:headEnd type="none" w="med" len="med"/>
                      <a:tailEnd type="none" w="med" len="med"/>
                    </a:lnR>
                    <a:lnT w="3810" cap="flat" cmpd="sng" algn="ctr">
                      <a:solidFill>
                        <a:srgbClr val="DDDDDD"/>
                      </a:solidFill>
                      <a:prstDash val="solid"/>
                      <a:round/>
                      <a:headEnd type="none" w="med" len="med"/>
                      <a:tailEnd type="none" w="med" len="med"/>
                    </a:lnT>
                    <a:lnB w="3810" cap="flat" cmpd="sng" algn="ctr">
                      <a:solidFill>
                        <a:srgbClr val="DDDDDD"/>
                      </a:solidFill>
                      <a:prstDash val="solid"/>
                      <a:round/>
                      <a:headEnd type="none" w="med" len="med"/>
                      <a:tailEnd type="none" w="med" len="med"/>
                    </a:lnB>
                    <a:solidFill>
                      <a:schemeClr val="bg1"/>
                    </a:solidFill>
                  </a:tcPr>
                </a:tc>
                <a:tc>
                  <a:txBody>
                    <a:bodyPr/>
                    <a:lstStyle/>
                    <a:p>
                      <a:pPr marL="0" indent="0">
                        <a:buNone/>
                      </a:pPr>
                      <a:r>
                        <a:rPr lang="en-US" sz="1100" dirty="0">
                          <a:solidFill>
                            <a:srgbClr val="030A18"/>
                          </a:solidFill>
                        </a:rPr>
                        <a:t>More due to multiple gates</a:t>
                      </a:r>
                      <a:endParaRPr lang="en-US" sz="1100" dirty="0"/>
                    </a:p>
                  </a:txBody>
                  <a:tcPr marL="121920" marR="121920" marT="60960" marB="60960" anchor="ctr">
                    <a:lnL w="3810" cap="flat" cmpd="sng" algn="ctr">
                      <a:solidFill>
                        <a:srgbClr val="DDDDDD"/>
                      </a:solidFill>
                      <a:prstDash val="solid"/>
                      <a:round/>
                      <a:headEnd type="none" w="med" len="med"/>
                      <a:tailEnd type="none" w="med" len="med"/>
                    </a:lnL>
                    <a:lnR w="3810" cap="flat" cmpd="sng" algn="ctr">
                      <a:solidFill>
                        <a:srgbClr val="DDDDDD"/>
                      </a:solidFill>
                      <a:prstDash val="solid"/>
                      <a:round/>
                      <a:headEnd type="none" w="med" len="med"/>
                      <a:tailEnd type="none" w="med" len="med"/>
                    </a:lnR>
                    <a:lnT w="3810" cap="flat" cmpd="sng" algn="ctr">
                      <a:solidFill>
                        <a:srgbClr val="DDDDDD"/>
                      </a:solidFill>
                      <a:prstDash val="solid"/>
                      <a:round/>
                      <a:headEnd type="none" w="med" len="med"/>
                      <a:tailEnd type="none" w="med" len="med"/>
                    </a:lnT>
                    <a:lnB w="3810" cap="flat" cmpd="sng" algn="ctr">
                      <a:solidFill>
                        <a:srgbClr val="DDDDDD"/>
                      </a:solidFill>
                      <a:prstDash val="solid"/>
                      <a:round/>
                      <a:headEnd type="none" w="med" len="med"/>
                      <a:tailEnd type="none" w="med" len="med"/>
                    </a:lnB>
                    <a:solidFill>
                      <a:schemeClr val="bg1"/>
                    </a:solidFill>
                  </a:tcPr>
                </a:tc>
                <a:extLst>
                  <a:ext uri="{0D108BD9-81ED-4DB2-BD59-A6C34878D82A}">
                    <a16:rowId xmlns:a16="http://schemas.microsoft.com/office/drawing/2014/main" val="10004"/>
                  </a:ext>
                </a:extLst>
              </a:tr>
              <a:tr h="568960">
                <a:tc>
                  <a:txBody>
                    <a:bodyPr/>
                    <a:lstStyle/>
                    <a:p>
                      <a:pPr marL="0" indent="0">
                        <a:buNone/>
                      </a:pPr>
                      <a:r>
                        <a:rPr lang="en-US" sz="1100" b="1" dirty="0">
                          <a:solidFill>
                            <a:srgbClr val="030A18"/>
                          </a:solidFill>
                        </a:rPr>
                        <a:t>Use cases</a:t>
                      </a:r>
                      <a:endParaRPr lang="en-US" sz="1100" dirty="0"/>
                    </a:p>
                  </a:txBody>
                  <a:tcPr marL="121920" marR="121920" marT="60960" marB="60960" anchor="ctr">
                    <a:lnL w="3810" cap="flat" cmpd="sng" algn="ctr">
                      <a:solidFill>
                        <a:srgbClr val="DDDDDD"/>
                      </a:solidFill>
                      <a:prstDash val="solid"/>
                      <a:round/>
                      <a:headEnd type="none" w="med" len="med"/>
                      <a:tailEnd type="none" w="med" len="med"/>
                    </a:lnL>
                    <a:lnR w="3810" cap="flat" cmpd="sng" algn="ctr">
                      <a:solidFill>
                        <a:srgbClr val="DDDDDD"/>
                      </a:solidFill>
                      <a:prstDash val="solid"/>
                      <a:round/>
                      <a:headEnd type="none" w="med" len="med"/>
                      <a:tailEnd type="none" w="med" len="med"/>
                    </a:lnR>
                    <a:lnT w="3810" cap="flat" cmpd="sng" algn="ctr">
                      <a:solidFill>
                        <a:srgbClr val="DDDDDD"/>
                      </a:solidFill>
                      <a:prstDash val="solid"/>
                      <a:round/>
                      <a:headEnd type="none" w="med" len="med"/>
                      <a:tailEnd type="none" w="med" len="med"/>
                    </a:lnT>
                    <a:lnB w="3810" cap="flat" cmpd="sng" algn="ctr">
                      <a:solidFill>
                        <a:srgbClr val="DDDDDD"/>
                      </a:solidFill>
                      <a:prstDash val="solid"/>
                      <a:round/>
                      <a:headEnd type="none" w="med" len="med"/>
                      <a:tailEnd type="none" w="med" len="med"/>
                    </a:lnB>
                    <a:solidFill>
                      <a:schemeClr val="bg1"/>
                    </a:solidFill>
                  </a:tcPr>
                </a:tc>
                <a:tc>
                  <a:txBody>
                    <a:bodyPr/>
                    <a:lstStyle/>
                    <a:p>
                      <a:pPr marL="0" indent="0">
                        <a:buNone/>
                      </a:pPr>
                      <a:r>
                        <a:rPr lang="en-US" sz="1100" dirty="0">
                          <a:solidFill>
                            <a:srgbClr val="030A18"/>
                          </a:solidFill>
                        </a:rPr>
                        <a:t>Short sequences</a:t>
                      </a:r>
                      <a:endParaRPr lang="en-US" sz="1100" dirty="0"/>
                    </a:p>
                  </a:txBody>
                  <a:tcPr marL="121920" marR="121920" marT="60960" marB="60960" anchor="ctr">
                    <a:lnL w="3810" cap="flat" cmpd="sng" algn="ctr">
                      <a:solidFill>
                        <a:srgbClr val="DDDDDD"/>
                      </a:solidFill>
                      <a:prstDash val="solid"/>
                      <a:round/>
                      <a:headEnd type="none" w="med" len="med"/>
                      <a:tailEnd type="none" w="med" len="med"/>
                    </a:lnL>
                    <a:lnR w="3810" cap="flat" cmpd="sng" algn="ctr">
                      <a:solidFill>
                        <a:srgbClr val="DDDDDD"/>
                      </a:solidFill>
                      <a:prstDash val="solid"/>
                      <a:round/>
                      <a:headEnd type="none" w="med" len="med"/>
                      <a:tailEnd type="none" w="med" len="med"/>
                    </a:lnR>
                    <a:lnT w="3810" cap="flat" cmpd="sng" algn="ctr">
                      <a:solidFill>
                        <a:srgbClr val="DDDDDD"/>
                      </a:solidFill>
                      <a:prstDash val="solid"/>
                      <a:round/>
                      <a:headEnd type="none" w="med" len="med"/>
                      <a:tailEnd type="none" w="med" len="med"/>
                    </a:lnT>
                    <a:lnB w="3810" cap="flat" cmpd="sng" algn="ctr">
                      <a:solidFill>
                        <a:srgbClr val="DDDDDD"/>
                      </a:solidFill>
                      <a:prstDash val="solid"/>
                      <a:round/>
                      <a:headEnd type="none" w="med" len="med"/>
                      <a:tailEnd type="none" w="med" len="med"/>
                    </a:lnB>
                    <a:solidFill>
                      <a:schemeClr val="bg1"/>
                    </a:solidFill>
                  </a:tcPr>
                </a:tc>
                <a:tc>
                  <a:txBody>
                    <a:bodyPr/>
                    <a:lstStyle/>
                    <a:p>
                      <a:pPr marL="0" indent="0">
                        <a:buNone/>
                      </a:pPr>
                      <a:r>
                        <a:rPr lang="en-US" sz="1100" dirty="0">
                          <a:solidFill>
                            <a:srgbClr val="030A18"/>
                          </a:solidFill>
                        </a:rPr>
                        <a:t>Long‑range dependencies</a:t>
                      </a:r>
                      <a:endParaRPr lang="en-US" sz="1100" dirty="0"/>
                    </a:p>
                  </a:txBody>
                  <a:tcPr marL="121920" marR="121920" marT="60960" marB="60960" anchor="ctr">
                    <a:lnL w="3810" cap="flat" cmpd="sng" algn="ctr">
                      <a:solidFill>
                        <a:srgbClr val="DDDDDD"/>
                      </a:solidFill>
                      <a:prstDash val="solid"/>
                      <a:round/>
                      <a:headEnd type="none" w="med" len="med"/>
                      <a:tailEnd type="none" w="med" len="med"/>
                    </a:lnL>
                    <a:lnR w="3810" cap="flat" cmpd="sng" algn="ctr">
                      <a:solidFill>
                        <a:srgbClr val="DDDDDD"/>
                      </a:solidFill>
                      <a:prstDash val="solid"/>
                      <a:round/>
                      <a:headEnd type="none" w="med" len="med"/>
                      <a:tailEnd type="none" w="med" len="med"/>
                    </a:lnR>
                    <a:lnT w="3810" cap="flat" cmpd="sng" algn="ctr">
                      <a:solidFill>
                        <a:srgbClr val="DDDDDD"/>
                      </a:solidFill>
                      <a:prstDash val="solid"/>
                      <a:round/>
                      <a:headEnd type="none" w="med" len="med"/>
                      <a:tailEnd type="none" w="med" len="med"/>
                    </a:lnT>
                    <a:lnB w="3810" cap="flat" cmpd="sng" algn="ctr">
                      <a:solidFill>
                        <a:srgbClr val="DDDDDD"/>
                      </a:solidFill>
                      <a:prstDash val="solid"/>
                      <a:round/>
                      <a:headEnd type="none" w="med" len="med"/>
                      <a:tailEnd type="none" w="med" len="med"/>
                    </a:lnB>
                    <a:solidFill>
                      <a:schemeClr val="bg1"/>
                    </a:solidFill>
                  </a:tcPr>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300393089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4A144B-5F37-6AAB-4D8D-B72267B6BA58}"/>
              </a:ext>
            </a:extLst>
          </p:cNvPr>
          <p:cNvSpPr>
            <a:spLocks noGrp="1"/>
          </p:cNvSpPr>
          <p:nvPr>
            <p:ph type="title"/>
          </p:nvPr>
        </p:nvSpPr>
        <p:spPr/>
        <p:txBody>
          <a:bodyPr/>
          <a:lstStyle/>
          <a:p>
            <a:r>
              <a:rPr lang="en-US" dirty="0"/>
              <a:t>Implementing LSTM with </a:t>
            </a:r>
            <a:r>
              <a:rPr lang="en-US" dirty="0" err="1"/>
              <a:t>PyTorch</a:t>
            </a:r>
            <a:endParaRPr lang="en-US" dirty="0"/>
          </a:p>
        </p:txBody>
      </p:sp>
      <p:sp>
        <p:nvSpPr>
          <p:cNvPr id="5" name="Content Placeholder 4">
            <a:extLst>
              <a:ext uri="{FF2B5EF4-FFF2-40B4-BE49-F238E27FC236}">
                <a16:creationId xmlns:a16="http://schemas.microsoft.com/office/drawing/2014/main" id="{CB2AF9B0-8D7A-F071-1168-A16F6B1CF3CE}"/>
              </a:ext>
            </a:extLst>
          </p:cNvPr>
          <p:cNvSpPr>
            <a:spLocks noGrp="1"/>
          </p:cNvSpPr>
          <p:nvPr>
            <p:ph idx="1"/>
          </p:nvPr>
        </p:nvSpPr>
        <p:spPr>
          <a:xfrm>
            <a:off x="838199" y="1825625"/>
            <a:ext cx="11166988" cy="4149290"/>
          </a:xfrm>
        </p:spPr>
        <p:txBody>
          <a:bodyPr>
            <a:normAutofit fontScale="62500" lnSpcReduction="20000"/>
          </a:bodyPr>
          <a:lstStyle/>
          <a:p>
            <a:pPr marL="0" indent="0">
              <a:buNone/>
            </a:pPr>
            <a:r>
              <a:rPr lang="en-US" dirty="0">
                <a:latin typeface="Courier New" panose="02070309020205020404" pitchFamily="49" charset="0"/>
                <a:cs typeface="Courier New" panose="02070309020205020404" pitchFamily="49" charset="0"/>
              </a:rPr>
              <a:t>import torch, </a:t>
            </a:r>
            <a:r>
              <a:rPr lang="en-US" dirty="0" err="1">
                <a:latin typeface="Courier New" panose="02070309020205020404" pitchFamily="49" charset="0"/>
                <a:cs typeface="Courier New" panose="02070309020205020404" pitchFamily="49" charset="0"/>
              </a:rPr>
              <a:t>torch.nn</a:t>
            </a:r>
            <a:r>
              <a:rPr lang="en-US" dirty="0">
                <a:latin typeface="Courier New" panose="02070309020205020404" pitchFamily="49" charset="0"/>
                <a:cs typeface="Courier New" panose="02070309020205020404" pitchFamily="49" charset="0"/>
              </a:rPr>
              <a:t> as </a:t>
            </a:r>
            <a:r>
              <a:rPr lang="en-US" dirty="0" err="1">
                <a:latin typeface="Courier New" panose="02070309020205020404" pitchFamily="49" charset="0"/>
                <a:cs typeface="Courier New" panose="02070309020205020404" pitchFamily="49" charset="0"/>
              </a:rPr>
              <a:t>nn</a:t>
            </a:r>
            <a:r>
              <a:rPr lang="en-US" dirty="0">
                <a:latin typeface="Courier New" panose="02070309020205020404" pitchFamily="49" charset="0"/>
                <a:cs typeface="Courier New" panose="02070309020205020404" pitchFamily="49" charset="0"/>
              </a:rPr>
              <a:t>                   </a:t>
            </a:r>
          </a:p>
          <a:p>
            <a:pPr marL="0" indent="0">
              <a:buNone/>
            </a:pPr>
            <a:r>
              <a:rPr lang="en-US" dirty="0" err="1">
                <a:latin typeface="Courier New" panose="02070309020205020404" pitchFamily="49" charset="0"/>
                <a:cs typeface="Courier New" panose="02070309020205020404" pitchFamily="49" charset="0"/>
              </a:rPr>
              <a:t>lstm</a:t>
            </a:r>
            <a:r>
              <a:rPr lang="en-US" dirty="0">
                <a:latin typeface="Courier New" panose="02070309020205020404" pitchFamily="49" charset="0"/>
                <a:cs typeface="Courier New" panose="02070309020205020404" pitchFamily="49" charset="0"/>
              </a:rPr>
              <a:t> = </a:t>
            </a:r>
            <a:r>
              <a:rPr lang="en-US" dirty="0" err="1">
                <a:latin typeface="Courier New" panose="02070309020205020404" pitchFamily="49" charset="0"/>
                <a:cs typeface="Courier New" panose="02070309020205020404" pitchFamily="49" charset="0"/>
              </a:rPr>
              <a:t>nn.LSTM</a:t>
            </a:r>
            <a:r>
              <a:rPr lang="en-US" dirty="0">
                <a:latin typeface="Courier New" panose="02070309020205020404" pitchFamily="49" charset="0"/>
                <a:cs typeface="Courier New" panose="02070309020205020404" pitchFamily="49" charset="0"/>
              </a:rPr>
              <a:t>(</a:t>
            </a:r>
            <a:r>
              <a:rPr lang="en-US" dirty="0" err="1">
                <a:latin typeface="Courier New" panose="02070309020205020404" pitchFamily="49" charset="0"/>
                <a:cs typeface="Courier New" panose="02070309020205020404" pitchFamily="49" charset="0"/>
              </a:rPr>
              <a:t>input_size</a:t>
            </a:r>
            <a:r>
              <a:rPr lang="en-US" dirty="0">
                <a:latin typeface="Courier New" panose="02070309020205020404" pitchFamily="49" charset="0"/>
                <a:cs typeface="Courier New" panose="02070309020205020404" pitchFamily="49" charset="0"/>
              </a:rPr>
              <a:t>=1, </a:t>
            </a:r>
            <a:r>
              <a:rPr lang="en-US" dirty="0" err="1">
                <a:latin typeface="Courier New" panose="02070309020205020404" pitchFamily="49" charset="0"/>
                <a:cs typeface="Courier New" panose="02070309020205020404" pitchFamily="49" charset="0"/>
              </a:rPr>
              <a:t>hidden_size</a:t>
            </a:r>
            <a:r>
              <a:rPr lang="en-US" dirty="0">
                <a:latin typeface="Courier New" panose="02070309020205020404" pitchFamily="49" charset="0"/>
                <a:cs typeface="Courier New" panose="02070309020205020404" pitchFamily="49" charset="0"/>
              </a:rPr>
              <a:t>=8, </a:t>
            </a:r>
            <a:r>
              <a:rPr lang="en-US" dirty="0" err="1">
                <a:latin typeface="Courier New" panose="02070309020205020404" pitchFamily="49" charset="0"/>
                <a:cs typeface="Courier New" panose="02070309020205020404" pitchFamily="49" charset="0"/>
              </a:rPr>
              <a:t>num_layers</a:t>
            </a:r>
            <a:r>
              <a:rPr lang="en-US" dirty="0">
                <a:latin typeface="Courier New" panose="02070309020205020404" pitchFamily="49" charset="0"/>
                <a:cs typeface="Courier New" panose="02070309020205020404" pitchFamily="49" charset="0"/>
              </a:rPr>
              <a:t>=1)</a:t>
            </a:r>
          </a:p>
          <a:p>
            <a:pPr marL="0" indent="0">
              <a:buNone/>
            </a:pPr>
            <a:r>
              <a:rPr lang="en-US" dirty="0">
                <a:latin typeface="Courier New" panose="02070309020205020404" pitchFamily="49" charset="0"/>
                <a:cs typeface="Courier New" panose="02070309020205020404" pitchFamily="49" charset="0"/>
              </a:rPr>
              <a:t>readout = </a:t>
            </a:r>
            <a:r>
              <a:rPr lang="en-US" dirty="0" err="1">
                <a:latin typeface="Courier New" panose="02070309020205020404" pitchFamily="49" charset="0"/>
                <a:cs typeface="Courier New" panose="02070309020205020404" pitchFamily="49" charset="0"/>
              </a:rPr>
              <a:t>nn.Linear</a:t>
            </a:r>
            <a:r>
              <a:rPr lang="en-US" dirty="0">
                <a:latin typeface="Courier New" panose="02070309020205020404" pitchFamily="49" charset="0"/>
                <a:cs typeface="Courier New" panose="02070309020205020404" pitchFamily="49" charset="0"/>
              </a:rPr>
              <a:t>(8, 1) # Turns the hidden layer into a single output</a:t>
            </a:r>
          </a:p>
          <a:p>
            <a:pPr marL="0" indent="0">
              <a:buNone/>
            </a:pPr>
            <a:r>
              <a:rPr lang="en-US" dirty="0">
                <a:latin typeface="Courier New" panose="02070309020205020404" pitchFamily="49" charset="0"/>
                <a:cs typeface="Courier New" panose="02070309020205020404" pitchFamily="49" charset="0"/>
              </a:rPr>
              <a:t>opt = </a:t>
            </a:r>
            <a:r>
              <a:rPr lang="en-US" dirty="0" err="1">
                <a:latin typeface="Courier New" panose="02070309020205020404" pitchFamily="49" charset="0"/>
                <a:cs typeface="Courier New" panose="02070309020205020404" pitchFamily="49" charset="0"/>
              </a:rPr>
              <a:t>torch.optim.Adam</a:t>
            </a:r>
            <a:r>
              <a:rPr lang="en-US" dirty="0">
                <a:latin typeface="Courier New" panose="02070309020205020404" pitchFamily="49" charset="0"/>
                <a:cs typeface="Courier New" panose="02070309020205020404" pitchFamily="49" charset="0"/>
              </a:rPr>
              <a:t>(list(</a:t>
            </a:r>
            <a:r>
              <a:rPr lang="en-US" dirty="0" err="1">
                <a:latin typeface="Courier New" panose="02070309020205020404" pitchFamily="49" charset="0"/>
                <a:cs typeface="Courier New" panose="02070309020205020404" pitchFamily="49" charset="0"/>
              </a:rPr>
              <a:t>lstm.parameters</a:t>
            </a:r>
            <a:r>
              <a:rPr lang="en-US" dirty="0">
                <a:latin typeface="Courier New" panose="02070309020205020404" pitchFamily="49" charset="0"/>
                <a:cs typeface="Courier New" panose="02070309020205020404" pitchFamily="49" charset="0"/>
              </a:rPr>
              <a:t>())+list(</a:t>
            </a:r>
            <a:r>
              <a:rPr lang="en-US" dirty="0" err="1">
                <a:latin typeface="Courier New" panose="02070309020205020404" pitchFamily="49" charset="0"/>
                <a:cs typeface="Courier New" panose="02070309020205020404" pitchFamily="49" charset="0"/>
              </a:rPr>
              <a:t>readout.parameters</a:t>
            </a:r>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lr</a:t>
            </a:r>
            <a:r>
              <a:rPr lang="en-US" dirty="0">
                <a:latin typeface="Courier New" panose="02070309020205020404" pitchFamily="49" charset="0"/>
                <a:cs typeface="Courier New" panose="02070309020205020404" pitchFamily="49" charset="0"/>
              </a:rPr>
              <a:t>=0.1)</a:t>
            </a:r>
          </a:p>
          <a:p>
            <a:pPr marL="0" indent="0">
              <a:buNone/>
            </a:pPr>
            <a:r>
              <a:rPr lang="en-US" dirty="0">
                <a:latin typeface="Courier New" panose="02070309020205020404" pitchFamily="49" charset="0"/>
                <a:cs typeface="Courier New" panose="02070309020205020404" pitchFamily="49" charset="0"/>
              </a:rPr>
              <a:t>for _ in range(300): </a:t>
            </a:r>
          </a:p>
          <a:p>
            <a:pPr marL="0" indent="0">
              <a:buNone/>
            </a:pPr>
            <a:r>
              <a:rPr lang="en-US" dirty="0">
                <a:latin typeface="Courier New" panose="02070309020205020404" pitchFamily="49" charset="0"/>
                <a:cs typeface="Courier New" panose="02070309020205020404" pitchFamily="49" charset="0"/>
              </a:rPr>
              <a:t>	h, _ = </a:t>
            </a:r>
            <a:r>
              <a:rPr lang="en-US" dirty="0" err="1">
                <a:latin typeface="Courier New" panose="02070309020205020404" pitchFamily="49" charset="0"/>
                <a:cs typeface="Courier New" panose="02070309020205020404" pitchFamily="49" charset="0"/>
              </a:rPr>
              <a:t>lstm</a:t>
            </a:r>
            <a:r>
              <a:rPr lang="en-US" dirty="0">
                <a:latin typeface="Courier New" panose="02070309020205020404" pitchFamily="49" charset="0"/>
                <a:cs typeface="Courier New" panose="02070309020205020404" pitchFamily="49" charset="0"/>
              </a:rPr>
              <a:t>(x) </a:t>
            </a:r>
          </a:p>
          <a:p>
            <a:pPr marL="0" indent="0">
              <a:buNone/>
            </a:pPr>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yhat</a:t>
            </a:r>
            <a:r>
              <a:rPr lang="en-US" dirty="0">
                <a:latin typeface="Courier New" panose="02070309020205020404" pitchFamily="49" charset="0"/>
                <a:cs typeface="Courier New" panose="02070309020205020404" pitchFamily="49" charset="0"/>
              </a:rPr>
              <a:t> = readout(h)</a:t>
            </a:r>
          </a:p>
          <a:p>
            <a:pPr marL="0" indent="0">
              <a:buNone/>
            </a:pPr>
            <a:r>
              <a:rPr lang="en-US" dirty="0">
                <a:latin typeface="Courier New" panose="02070309020205020404" pitchFamily="49" charset="0"/>
                <a:cs typeface="Courier New" panose="02070309020205020404" pitchFamily="49" charset="0"/>
              </a:rPr>
              <a:t>   	loss = ((</a:t>
            </a:r>
            <a:r>
              <a:rPr lang="en-US" dirty="0" err="1">
                <a:latin typeface="Courier New" panose="02070309020205020404" pitchFamily="49" charset="0"/>
                <a:cs typeface="Courier New" panose="02070309020205020404" pitchFamily="49" charset="0"/>
              </a:rPr>
              <a:t>yhat</a:t>
            </a:r>
            <a:r>
              <a:rPr lang="en-US" dirty="0">
                <a:latin typeface="Courier New" panose="02070309020205020404" pitchFamily="49" charset="0"/>
                <a:cs typeface="Courier New" panose="02070309020205020404" pitchFamily="49" charset="0"/>
              </a:rPr>
              <a:t> - y)**2).mean()</a:t>
            </a:r>
          </a:p>
          <a:p>
            <a:pPr marL="0" indent="0">
              <a:buNone/>
            </a:pPr>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opt.zero_grad</a:t>
            </a:r>
            <a:r>
              <a:rPr lang="en-US" dirty="0">
                <a:latin typeface="Courier New" panose="02070309020205020404" pitchFamily="49" charset="0"/>
                <a:cs typeface="Courier New" panose="02070309020205020404" pitchFamily="49" charset="0"/>
              </a:rPr>
              <a:t>(); # Clears old gradients</a:t>
            </a:r>
          </a:p>
          <a:p>
            <a:pPr marL="0" indent="0">
              <a:buNone/>
            </a:pPr>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loss.backward</a:t>
            </a:r>
            <a:r>
              <a:rPr lang="en-US" dirty="0">
                <a:latin typeface="Courier New" panose="02070309020205020404" pitchFamily="49" charset="0"/>
                <a:cs typeface="Courier New" panose="02070309020205020404" pitchFamily="49" charset="0"/>
              </a:rPr>
              <a:t>(); # Computes the gradients and the loss function</a:t>
            </a:r>
          </a:p>
          <a:p>
            <a:pPr marL="0" indent="0">
              <a:buNone/>
            </a:pPr>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opt.step</a:t>
            </a:r>
            <a:r>
              <a:rPr lang="en-US" dirty="0">
                <a:latin typeface="Courier New" panose="02070309020205020404" pitchFamily="49" charset="0"/>
                <a:cs typeface="Courier New" panose="02070309020205020404" pitchFamily="49" charset="0"/>
              </a:rPr>
              <a:t>() # Updates the parameters</a:t>
            </a:r>
          </a:p>
          <a:p>
            <a:pPr marL="0" indent="0">
              <a:buNone/>
            </a:pPr>
            <a:r>
              <a:rPr lang="en-US" dirty="0">
                <a:latin typeface="Courier New" panose="02070309020205020404" pitchFamily="49" charset="0"/>
                <a:cs typeface="Courier New" panose="02070309020205020404" pitchFamily="49" charset="0"/>
              </a:rPr>
              <a:t>print(</a:t>
            </a:r>
            <a:r>
              <a:rPr lang="en-US" dirty="0" err="1">
                <a:latin typeface="Courier New" panose="02070309020205020404" pitchFamily="49" charset="0"/>
                <a:cs typeface="Courier New" panose="02070309020205020404" pitchFamily="49" charset="0"/>
              </a:rPr>
              <a:t>f"final</a:t>
            </a:r>
            <a:r>
              <a:rPr lang="en-US" dirty="0">
                <a:latin typeface="Courier New" panose="02070309020205020404" pitchFamily="49" charset="0"/>
                <a:cs typeface="Courier New" panose="02070309020205020404" pitchFamily="49" charset="0"/>
              </a:rPr>
              <a:t> MSE: {</a:t>
            </a:r>
            <a:r>
              <a:rPr lang="en-US" dirty="0" err="1">
                <a:latin typeface="Courier New" panose="02070309020205020404" pitchFamily="49" charset="0"/>
                <a:cs typeface="Courier New" panose="02070309020205020404" pitchFamily="49" charset="0"/>
              </a:rPr>
              <a:t>loss.item</a:t>
            </a:r>
            <a:r>
              <a:rPr lang="en-US" dirty="0">
                <a:latin typeface="Courier New" panose="02070309020205020404" pitchFamily="49" charset="0"/>
                <a:cs typeface="Courier New" panose="02070309020205020404" pitchFamily="49" charset="0"/>
              </a:rPr>
              <a:t>():.4f}")</a:t>
            </a:r>
          </a:p>
        </p:txBody>
      </p:sp>
    </p:spTree>
    <p:extLst>
      <p:ext uri="{BB962C8B-B14F-4D97-AF65-F5344CB8AC3E}">
        <p14:creationId xmlns:p14="http://schemas.microsoft.com/office/powerpoint/2010/main" val="177924779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CCB96F0-5287-84CD-BBF5-7B6C0C728584}"/>
              </a:ext>
            </a:extLst>
          </p:cNvPr>
          <p:cNvSpPr>
            <a:spLocks noGrp="1"/>
          </p:cNvSpPr>
          <p:nvPr>
            <p:ph type="title"/>
          </p:nvPr>
        </p:nvSpPr>
        <p:spPr/>
        <p:txBody>
          <a:bodyPr/>
          <a:lstStyle/>
          <a:p>
            <a:r>
              <a:rPr lang="en-US" dirty="0"/>
              <a:t>Other applications of RNNs/LSTMs</a:t>
            </a:r>
          </a:p>
        </p:txBody>
      </p:sp>
      <p:sp>
        <p:nvSpPr>
          <p:cNvPr id="3" name="Content Placeholder 2">
            <a:extLst>
              <a:ext uri="{FF2B5EF4-FFF2-40B4-BE49-F238E27FC236}">
                <a16:creationId xmlns:a16="http://schemas.microsoft.com/office/drawing/2014/main" id="{63FDF027-B41F-CB8F-F3B5-5154C4D71655}"/>
              </a:ext>
            </a:extLst>
          </p:cNvPr>
          <p:cNvSpPr>
            <a:spLocks noGrp="1"/>
          </p:cNvSpPr>
          <p:nvPr>
            <p:ph idx="1"/>
          </p:nvPr>
        </p:nvSpPr>
        <p:spPr/>
        <p:txBody>
          <a:bodyPr>
            <a:normAutofit/>
          </a:bodyPr>
          <a:lstStyle/>
          <a:p>
            <a:r>
              <a:rPr lang="en-US" dirty="0"/>
              <a:t>Natural language processing: language modelling, machine translation, sentiment analysis</a:t>
            </a:r>
          </a:p>
          <a:p>
            <a:r>
              <a:rPr lang="en-US" dirty="0"/>
              <a:t>Speech recognition and synthesis</a:t>
            </a:r>
          </a:p>
          <a:p>
            <a:r>
              <a:rPr lang="en-US" dirty="0"/>
              <a:t>Time‑series forecasting (weather obvs, finance, IoT)</a:t>
            </a:r>
          </a:p>
          <a:p>
            <a:r>
              <a:rPr lang="en-US" dirty="0"/>
              <a:t>Biological sequence analysis: DNA/RNA modelling</a:t>
            </a:r>
          </a:p>
          <a:p>
            <a:r>
              <a:rPr lang="en-US" dirty="0"/>
              <a:t>Music generation and audio signal processing</a:t>
            </a:r>
          </a:p>
        </p:txBody>
      </p:sp>
    </p:spTree>
    <p:extLst>
      <p:ext uri="{BB962C8B-B14F-4D97-AF65-F5344CB8AC3E}">
        <p14:creationId xmlns:p14="http://schemas.microsoft.com/office/powerpoint/2010/main" val="181249818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5A94E9-2774-3E11-56AF-4731CE891C4D}"/>
              </a:ext>
            </a:extLst>
          </p:cNvPr>
          <p:cNvSpPr>
            <a:spLocks noGrp="1"/>
          </p:cNvSpPr>
          <p:nvPr>
            <p:ph type="title"/>
          </p:nvPr>
        </p:nvSpPr>
        <p:spPr/>
        <p:txBody>
          <a:bodyPr/>
          <a:lstStyle/>
          <a:p>
            <a:r>
              <a:rPr lang="en-US" dirty="0"/>
              <a:t>Other RNNs</a:t>
            </a:r>
          </a:p>
        </p:txBody>
      </p:sp>
      <p:sp>
        <p:nvSpPr>
          <p:cNvPr id="3" name="Content Placeholder 2">
            <a:extLst>
              <a:ext uri="{FF2B5EF4-FFF2-40B4-BE49-F238E27FC236}">
                <a16:creationId xmlns:a16="http://schemas.microsoft.com/office/drawing/2014/main" id="{AAF26AAC-D45D-A0A2-162B-A36BC8501BDA}"/>
              </a:ext>
            </a:extLst>
          </p:cNvPr>
          <p:cNvSpPr>
            <a:spLocks noGrp="1"/>
          </p:cNvSpPr>
          <p:nvPr>
            <p:ph idx="1"/>
          </p:nvPr>
        </p:nvSpPr>
        <p:spPr/>
        <p:txBody>
          <a:bodyPr>
            <a:normAutofit fontScale="85000" lnSpcReduction="20000"/>
          </a:bodyPr>
          <a:lstStyle/>
          <a:p>
            <a:pPr marL="0" indent="0">
              <a:buNone/>
            </a:pPr>
            <a:r>
              <a:rPr lang="en-US" b="1" dirty="0"/>
              <a:t>Gated Recurrent Unit (GRU)</a:t>
            </a:r>
          </a:p>
          <a:p>
            <a:r>
              <a:rPr lang="en-US" dirty="0"/>
              <a:t>Simplified version of LSTM with fewer gates (update and reset). Competitive performance with fewer parameters</a:t>
            </a:r>
          </a:p>
          <a:p>
            <a:endParaRPr lang="en-US" dirty="0"/>
          </a:p>
          <a:p>
            <a:pPr marL="0" indent="0">
              <a:buNone/>
            </a:pPr>
            <a:r>
              <a:rPr lang="en-US" b="1" dirty="0"/>
              <a:t>Bidirectional RNN/LSTM</a:t>
            </a:r>
          </a:p>
          <a:p>
            <a:r>
              <a:rPr lang="en-US" dirty="0"/>
              <a:t>Processes sequences forwards and backwards to capture past and future context</a:t>
            </a:r>
          </a:p>
          <a:p>
            <a:endParaRPr lang="en-US" dirty="0"/>
          </a:p>
          <a:p>
            <a:pPr marL="0" indent="0">
              <a:buNone/>
            </a:pPr>
            <a:r>
              <a:rPr lang="en-US" b="1" dirty="0"/>
              <a:t>Transformers</a:t>
            </a:r>
          </a:p>
          <a:p>
            <a:r>
              <a:rPr lang="en-US" dirty="0"/>
              <a:t>Self‑attention mechanisms remove recurrence entirely, enabling parallel processing and better long‑range modelling</a:t>
            </a:r>
          </a:p>
          <a:p>
            <a:endParaRPr lang="en-US" dirty="0"/>
          </a:p>
          <a:p>
            <a:endParaRPr lang="en-US" dirty="0"/>
          </a:p>
        </p:txBody>
      </p:sp>
    </p:spTree>
    <p:extLst>
      <p:ext uri="{BB962C8B-B14F-4D97-AF65-F5344CB8AC3E}">
        <p14:creationId xmlns:p14="http://schemas.microsoft.com/office/powerpoint/2010/main" val="34082932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1F48C1-F59D-29E6-F9E0-42B68E4EC60F}"/>
              </a:ext>
            </a:extLst>
          </p:cNvPr>
          <p:cNvSpPr>
            <a:spLocks noGrp="1"/>
          </p:cNvSpPr>
          <p:nvPr>
            <p:ph type="title"/>
          </p:nvPr>
        </p:nvSpPr>
        <p:spPr/>
        <p:txBody>
          <a:bodyPr/>
          <a:lstStyle/>
          <a:p>
            <a:r>
              <a:rPr lang="en-US" dirty="0"/>
              <a:t>Practical tips</a:t>
            </a:r>
          </a:p>
        </p:txBody>
      </p:sp>
      <p:sp>
        <p:nvSpPr>
          <p:cNvPr id="3" name="Content Placeholder 2">
            <a:extLst>
              <a:ext uri="{FF2B5EF4-FFF2-40B4-BE49-F238E27FC236}">
                <a16:creationId xmlns:a16="http://schemas.microsoft.com/office/drawing/2014/main" id="{C39A2ADA-C047-7B4C-225E-B2691332AFDF}"/>
              </a:ext>
            </a:extLst>
          </p:cNvPr>
          <p:cNvSpPr>
            <a:spLocks noGrp="1"/>
          </p:cNvSpPr>
          <p:nvPr>
            <p:ph idx="1"/>
          </p:nvPr>
        </p:nvSpPr>
        <p:spPr/>
        <p:txBody>
          <a:bodyPr>
            <a:normAutofit fontScale="77500" lnSpcReduction="20000"/>
          </a:bodyPr>
          <a:lstStyle/>
          <a:p>
            <a:r>
              <a:rPr lang="en-US" dirty="0" err="1"/>
              <a:t>Normalise</a:t>
            </a:r>
            <a:r>
              <a:rPr lang="en-US" dirty="0"/>
              <a:t> and scale your inputs to accelerate convergence</a:t>
            </a:r>
          </a:p>
          <a:p>
            <a:r>
              <a:rPr lang="en-US" dirty="0"/>
              <a:t>Choose sequence length based on the task’s (maximum) temporal dependencies</a:t>
            </a:r>
          </a:p>
          <a:p>
            <a:r>
              <a:rPr lang="en-US" dirty="0"/>
              <a:t>Use regularization (dropout, L2) and gradient clipping to prevent overfitting and exploding gradients</a:t>
            </a:r>
          </a:p>
          <a:p>
            <a:r>
              <a:rPr lang="en-US" dirty="0"/>
              <a:t>Monitor training/validation curves to detect underfitting or overfitting</a:t>
            </a:r>
          </a:p>
          <a:p>
            <a:r>
              <a:rPr lang="en-US" dirty="0"/>
              <a:t>If LSTMs don’t work for you, experiment with other types of RNN</a:t>
            </a:r>
          </a:p>
          <a:p>
            <a:r>
              <a:rPr lang="en-US" dirty="0"/>
              <a:t>In weather forecasting, we often use </a:t>
            </a:r>
            <a:r>
              <a:rPr lang="en-US" i="1" dirty="0"/>
              <a:t>sequence-to-sequence </a:t>
            </a:r>
            <a:r>
              <a:rPr lang="en-US" dirty="0"/>
              <a:t>models (i.e. multiple outputs – 10 days ahead)</a:t>
            </a:r>
          </a:p>
          <a:p>
            <a:r>
              <a:rPr lang="en-US" dirty="0"/>
              <a:t>For forecasting more days ahead we use the latest prediction as the next input, also called autoregressive rollout</a:t>
            </a:r>
          </a:p>
        </p:txBody>
      </p:sp>
    </p:spTree>
    <p:extLst>
      <p:ext uri="{BB962C8B-B14F-4D97-AF65-F5344CB8AC3E}">
        <p14:creationId xmlns:p14="http://schemas.microsoft.com/office/powerpoint/2010/main" val="411645676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7F45C0-BAB4-8BAE-835A-40730BF9B214}"/>
              </a:ext>
            </a:extLst>
          </p:cNvPr>
          <p:cNvSpPr>
            <a:spLocks noGrp="1"/>
          </p:cNvSpPr>
          <p:nvPr>
            <p:ph type="ctrTitle"/>
          </p:nvPr>
        </p:nvSpPr>
        <p:spPr/>
        <p:txBody>
          <a:bodyPr/>
          <a:lstStyle/>
          <a:p>
            <a:endParaRPr lang="en-US"/>
          </a:p>
        </p:txBody>
      </p:sp>
      <p:sp>
        <p:nvSpPr>
          <p:cNvPr id="3" name="Subtitle 2">
            <a:extLst>
              <a:ext uri="{FF2B5EF4-FFF2-40B4-BE49-F238E27FC236}">
                <a16:creationId xmlns:a16="http://schemas.microsoft.com/office/drawing/2014/main" id="{81412AC7-D4A9-5C12-8163-E94BA098C1F4}"/>
              </a:ext>
            </a:extLst>
          </p:cNvPr>
          <p:cNvSpPr>
            <a:spLocks noGrp="1"/>
          </p:cNvSpPr>
          <p:nvPr>
            <p:ph type="subTitle" idx="1"/>
          </p:nvPr>
        </p:nvSpPr>
        <p:spPr/>
        <p:txBody>
          <a:bodyPr/>
          <a:lstStyle/>
          <a:p>
            <a:endParaRPr lang="en-US"/>
          </a:p>
        </p:txBody>
      </p:sp>
      <p:pic>
        <p:nvPicPr>
          <p:cNvPr id="5" name="slide.url=https://www.polleverywhere.com/multiple_choice_polls/RvcVhsLYmkHmKcquKPsgk?state=opened&amp;flow=Default&amp;onscreen=persist">
            <a:extLst>
              <a:ext uri="{FF2B5EF4-FFF2-40B4-BE49-F238E27FC236}">
                <a16:creationId xmlns:a16="http://schemas.microsoft.com/office/drawing/2014/main" id="{5A9F0DE4-ABF7-B7FF-A9B2-F03F05302A28}"/>
              </a:ext>
            </a:extLst>
          </p:cNvPr>
          <p:cNvPicPr>
            <a:picLocks/>
          </p:cNvPicPr>
          <p:nvPr/>
        </p:nvPicPr>
        <p:blipFill>
          <a:blip r:embed="rId3"/>
          <a:stretch>
            <a:fillRect/>
          </a:stretch>
        </p:blipFill>
        <p:spPr>
          <a:xfrm>
            <a:off x="63500" y="63500"/>
            <a:ext cx="12065000" cy="6731000"/>
          </a:xfrm>
          <a:prstGeom prst="rect">
            <a:avLst/>
          </a:prstGeom>
        </p:spPr>
      </p:pic>
    </p:spTree>
    <p:extLst>
      <p:ext uri="{BB962C8B-B14F-4D97-AF65-F5344CB8AC3E}">
        <p14:creationId xmlns:p14="http://schemas.microsoft.com/office/powerpoint/2010/main" val="58399043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52E3C7-E02A-F443-93FF-99B0D12844EC}"/>
              </a:ext>
            </a:extLst>
          </p:cNvPr>
          <p:cNvSpPr>
            <a:spLocks noGrp="1"/>
          </p:cNvSpPr>
          <p:nvPr>
            <p:ph type="title"/>
          </p:nvPr>
        </p:nvSpPr>
        <p:spPr/>
        <p:txBody>
          <a:bodyPr/>
          <a:lstStyle/>
          <a:p>
            <a:r>
              <a:rPr lang="en-US" dirty="0"/>
              <a:t>Summary</a:t>
            </a:r>
          </a:p>
        </p:txBody>
      </p:sp>
      <p:sp>
        <p:nvSpPr>
          <p:cNvPr id="3" name="Content Placeholder 2">
            <a:extLst>
              <a:ext uri="{FF2B5EF4-FFF2-40B4-BE49-F238E27FC236}">
                <a16:creationId xmlns:a16="http://schemas.microsoft.com/office/drawing/2014/main" id="{92B1495C-38DD-F9F0-478E-D16C6E4C61EA}"/>
              </a:ext>
            </a:extLst>
          </p:cNvPr>
          <p:cNvSpPr>
            <a:spLocks noGrp="1"/>
          </p:cNvSpPr>
          <p:nvPr>
            <p:ph idx="1"/>
          </p:nvPr>
        </p:nvSpPr>
        <p:spPr/>
        <p:txBody>
          <a:bodyPr>
            <a:normAutofit fontScale="92500" lnSpcReduction="20000"/>
          </a:bodyPr>
          <a:lstStyle/>
          <a:p>
            <a:pPr marL="457200" indent="-457200">
              <a:buFont typeface="Arial" panose="020B0604020202020204" pitchFamily="34" charset="0"/>
              <a:buChar char="•"/>
            </a:pPr>
            <a:r>
              <a:rPr lang="en-US" dirty="0"/>
              <a:t>RNNs enable sequential modelling by maintaining a hidden state but struggle with gradients</a:t>
            </a:r>
          </a:p>
          <a:p>
            <a:pPr marL="457200" indent="-457200">
              <a:buFont typeface="Arial" panose="020B0604020202020204" pitchFamily="34" charset="0"/>
              <a:buChar char="•"/>
            </a:pPr>
            <a:r>
              <a:rPr lang="en-US" dirty="0"/>
              <a:t>LSTMs introduce gates and a cell state to mitigate these issues and learn long‑range dependencies</a:t>
            </a:r>
          </a:p>
          <a:p>
            <a:pPr marL="457200" indent="-457200">
              <a:buFont typeface="Arial" panose="020B0604020202020204" pitchFamily="34" charset="0"/>
              <a:buChar char="•"/>
            </a:pPr>
            <a:r>
              <a:rPr lang="en-US" dirty="0"/>
              <a:t>Manual implementations provide insight into the underlying operations and challenges</a:t>
            </a:r>
          </a:p>
          <a:p>
            <a:pPr marL="457200" indent="-457200">
              <a:buFont typeface="Arial" panose="020B0604020202020204" pitchFamily="34" charset="0"/>
              <a:buChar char="•"/>
            </a:pPr>
            <a:r>
              <a:rPr lang="en-US" dirty="0"/>
              <a:t>Practical applications span NLP, speech, time‑series analysis and beyond</a:t>
            </a:r>
          </a:p>
          <a:p>
            <a:pPr marL="457200" indent="-457200">
              <a:buFont typeface="Arial" panose="020B0604020202020204" pitchFamily="34" charset="0"/>
              <a:buChar char="•"/>
            </a:pPr>
            <a:r>
              <a:rPr lang="en-US" dirty="0"/>
              <a:t>Modern frameworks (</a:t>
            </a:r>
            <a:r>
              <a:rPr lang="en-US" dirty="0" err="1"/>
              <a:t>Keras</a:t>
            </a:r>
            <a:r>
              <a:rPr lang="en-US" dirty="0"/>
              <a:t>/</a:t>
            </a:r>
            <a:r>
              <a:rPr lang="en-US" dirty="0" err="1"/>
              <a:t>PyTorch</a:t>
            </a:r>
            <a:r>
              <a:rPr lang="en-US" dirty="0"/>
              <a:t>) simplify experimentation and deployment</a:t>
            </a:r>
          </a:p>
        </p:txBody>
      </p:sp>
    </p:spTree>
    <p:extLst>
      <p:ext uri="{BB962C8B-B14F-4D97-AF65-F5344CB8AC3E}">
        <p14:creationId xmlns:p14="http://schemas.microsoft.com/office/powerpoint/2010/main" val="290237525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Aimsir_template_2" id="{885FC850-5704-7C40-B0D5-B2BE1CAB90DE}" vid="{17F42F5C-6F7C-FD4F-918A-67665F080F4C}"/>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1351</TotalTime>
  <Words>2102</Words>
  <Application>Microsoft Macintosh PowerPoint</Application>
  <PresentationFormat>Widescreen</PresentationFormat>
  <Paragraphs>248</Paragraphs>
  <Slides>26</Slides>
  <Notes>6</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26</vt:i4>
      </vt:variant>
    </vt:vector>
  </HeadingPairs>
  <TitlesOfParts>
    <vt:vector size="32" baseType="lpstr">
      <vt:lpstr>Aptos</vt:lpstr>
      <vt:lpstr>Arial</vt:lpstr>
      <vt:lpstr>Calibri</vt:lpstr>
      <vt:lpstr>Cambria Math</vt:lpstr>
      <vt:lpstr>Courier New</vt:lpstr>
      <vt:lpstr>Office Theme</vt:lpstr>
      <vt:lpstr>Class 5: Recurrent Neural Networks</vt:lpstr>
      <vt:lpstr>Outline</vt:lpstr>
      <vt:lpstr>Why Sequential Models?</vt:lpstr>
      <vt:lpstr>Recurrent Neural Networks</vt:lpstr>
      <vt:lpstr>Training RNNs &amp; BPTT</vt:lpstr>
      <vt:lpstr>A weather prediction task</vt:lpstr>
      <vt:lpstr>Training the RNN</vt:lpstr>
      <vt:lpstr>Implementation of an RNN</vt:lpstr>
      <vt:lpstr>PowerPoint Presentation</vt:lpstr>
      <vt:lpstr>PowerPoint Presentation</vt:lpstr>
      <vt:lpstr>Long Short‑Term Memory (LSTM)</vt:lpstr>
      <vt:lpstr>Anatomy of an LSTM Cell</vt:lpstr>
      <vt:lpstr>First set of gates</vt:lpstr>
      <vt:lpstr>Updates</vt:lpstr>
      <vt:lpstr>Intuition</vt:lpstr>
      <vt:lpstr>LSTM diagram</vt:lpstr>
      <vt:lpstr>Preparing Input Sequences</vt:lpstr>
      <vt:lpstr>Implementing the LSTM</vt:lpstr>
      <vt:lpstr>LSTM Training &amp; Predictions</vt:lpstr>
      <vt:lpstr>RNN vs LSTM: A Comparison</vt:lpstr>
      <vt:lpstr>Implementing LSTM with PyTorch</vt:lpstr>
      <vt:lpstr>Other applications of RNNs/LSTMs</vt:lpstr>
      <vt:lpstr>Other RNNs</vt:lpstr>
      <vt:lpstr>Practical tips</vt:lpstr>
      <vt:lpstr>PowerPoint Presentation</vt:lpstr>
      <vt:lpstr>Summary</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Andrew Parnell</dc:creator>
  <cp:lastModifiedBy>Andrew Parnell</cp:lastModifiedBy>
  <cp:revision>74</cp:revision>
  <dcterms:created xsi:type="dcterms:W3CDTF">2025-09-24T09:34:21Z</dcterms:created>
  <dcterms:modified xsi:type="dcterms:W3CDTF">2026-02-25T21:30:59Z</dcterms:modified>
</cp:coreProperties>
</file>