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88" r:id="rId3"/>
    <p:sldId id="289" r:id="rId4"/>
    <p:sldId id="290" r:id="rId5"/>
    <p:sldId id="291" r:id="rId6"/>
    <p:sldId id="323" r:id="rId7"/>
    <p:sldId id="292" r:id="rId8"/>
    <p:sldId id="294" r:id="rId9"/>
    <p:sldId id="296" r:id="rId10"/>
    <p:sldId id="298" r:id="rId11"/>
    <p:sldId id="300" r:id="rId12"/>
    <p:sldId id="301" r:id="rId13"/>
    <p:sldId id="324" r:id="rId14"/>
    <p:sldId id="276" r:id="rId15"/>
    <p:sldId id="303" r:id="rId16"/>
    <p:sldId id="326" r:id="rId17"/>
    <p:sldId id="304" r:id="rId18"/>
    <p:sldId id="305" r:id="rId19"/>
    <p:sldId id="325" r:id="rId20"/>
    <p:sldId id="285" r:id="rId21"/>
    <p:sldId id="327" r:id="rId22"/>
    <p:sldId id="321" r:id="rId23"/>
    <p:sldId id="32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749"/>
    <a:srgbClr val="00427A"/>
    <a:srgbClr val="0095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825" autoAdjust="0"/>
    <p:restoredTop sz="94771"/>
  </p:normalViewPr>
  <p:slideViewPr>
    <p:cSldViewPr snapToGrid="0">
      <p:cViewPr varScale="1">
        <p:scale>
          <a:sx n="91" d="100"/>
          <a:sy n="91" d="100"/>
        </p:scale>
        <p:origin x="224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Temp</c:v>
                </c:pt>
              </c:strCache>
            </c:strRef>
          </c:tx>
          <c:spPr>
            <a:ln w="25400" cap="flat">
              <a:solidFill>
                <a:srgbClr val="7FA2D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7FA2D0"/>
              </a:solidFill>
              <a:ln w="9525" cap="flat">
                <a:solidFill>
                  <a:srgbClr val="7FA2D0"/>
                </a:solidFill>
                <a:prstDash val="solid"/>
                <a:round/>
              </a:ln>
              <a:effectLst/>
            </c:spPr>
          </c:marker>
          <c:cat>
            <c:strRef>
              <c:f>Sheet1!$A$2:$A$21</c:f>
              <c:strCache>
                <c:ptCount val="2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  <c:pt idx="10">
                  <c:v>D11</c:v>
                </c:pt>
                <c:pt idx="11">
                  <c:v>D12</c:v>
                </c:pt>
                <c:pt idx="12">
                  <c:v>D13</c:v>
                </c:pt>
                <c:pt idx="13">
                  <c:v>D14</c:v>
                </c:pt>
                <c:pt idx="14">
                  <c:v>D15</c:v>
                </c:pt>
                <c:pt idx="15">
                  <c:v>D16</c:v>
                </c:pt>
                <c:pt idx="16">
                  <c:v>D17</c:v>
                </c:pt>
                <c:pt idx="17">
                  <c:v>D18</c:v>
                </c:pt>
                <c:pt idx="18">
                  <c:v>D19</c:v>
                </c:pt>
                <c:pt idx="19">
                  <c:v>D20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20.88</c:v>
                </c:pt>
                <c:pt idx="1">
                  <c:v>20.46</c:v>
                </c:pt>
                <c:pt idx="2">
                  <c:v>21.02</c:v>
                </c:pt>
                <c:pt idx="3">
                  <c:v>21.91</c:v>
                </c:pt>
                <c:pt idx="4">
                  <c:v>21.99</c:v>
                </c:pt>
                <c:pt idx="5">
                  <c:v>20.83</c:v>
                </c:pt>
                <c:pt idx="6">
                  <c:v>22.05</c:v>
                </c:pt>
                <c:pt idx="7">
                  <c:v>21.77</c:v>
                </c:pt>
                <c:pt idx="8">
                  <c:v>22.05</c:v>
                </c:pt>
                <c:pt idx="9">
                  <c:v>22.57</c:v>
                </c:pt>
                <c:pt idx="10">
                  <c:v>22.7</c:v>
                </c:pt>
                <c:pt idx="11">
                  <c:v>23.62</c:v>
                </c:pt>
                <c:pt idx="12">
                  <c:v>23.54</c:v>
                </c:pt>
                <c:pt idx="13">
                  <c:v>23.48</c:v>
                </c:pt>
                <c:pt idx="14">
                  <c:v>23.91</c:v>
                </c:pt>
                <c:pt idx="15">
                  <c:v>24.11</c:v>
                </c:pt>
                <c:pt idx="16">
                  <c:v>24.96</c:v>
                </c:pt>
                <c:pt idx="17">
                  <c:v>24.37</c:v>
                </c:pt>
                <c:pt idx="18">
                  <c:v>24.89</c:v>
                </c:pt>
                <c:pt idx="19">
                  <c:v>24.57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751-0344-A411-4D5D36ED51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Rain</c:v>
                </c:pt>
              </c:strCache>
            </c:strRef>
          </c:tx>
          <c:spPr>
            <a:ln w="25400" cap="flat">
              <a:solidFill>
                <a:srgbClr val="F7B26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7B26A"/>
              </a:solidFill>
              <a:ln w="9525" cap="flat">
                <a:solidFill>
                  <a:srgbClr val="F7B26A"/>
                </a:solidFill>
                <a:prstDash val="solid"/>
                <a:round/>
              </a:ln>
              <a:effectLst/>
            </c:spPr>
          </c:marker>
          <c:cat>
            <c:strRef>
              <c:f>Sheet1!$A$2:$A$21</c:f>
              <c:strCache>
                <c:ptCount val="2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  <c:pt idx="10">
                  <c:v>D11</c:v>
                </c:pt>
                <c:pt idx="11">
                  <c:v>D12</c:v>
                </c:pt>
                <c:pt idx="12">
                  <c:v>D13</c:v>
                </c:pt>
                <c:pt idx="13">
                  <c:v>D14</c:v>
                </c:pt>
                <c:pt idx="14">
                  <c:v>D15</c:v>
                </c:pt>
                <c:pt idx="15">
                  <c:v>D16</c:v>
                </c:pt>
                <c:pt idx="16">
                  <c:v>D17</c:v>
                </c:pt>
                <c:pt idx="17">
                  <c:v>D18</c:v>
                </c:pt>
                <c:pt idx="18">
                  <c:v>D19</c:v>
                </c:pt>
                <c:pt idx="19">
                  <c:v>D20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4.2300000000000004</c:v>
                </c:pt>
                <c:pt idx="1">
                  <c:v>5.67</c:v>
                </c:pt>
                <c:pt idx="2">
                  <c:v>6.1</c:v>
                </c:pt>
                <c:pt idx="3">
                  <c:v>5.77</c:v>
                </c:pt>
                <c:pt idx="4">
                  <c:v>6.6</c:v>
                </c:pt>
                <c:pt idx="5">
                  <c:v>5.18</c:v>
                </c:pt>
                <c:pt idx="6">
                  <c:v>5.18</c:v>
                </c:pt>
                <c:pt idx="7">
                  <c:v>4.62</c:v>
                </c:pt>
                <c:pt idx="8">
                  <c:v>4.72</c:v>
                </c:pt>
                <c:pt idx="9">
                  <c:v>4.47</c:v>
                </c:pt>
                <c:pt idx="10">
                  <c:v>4.08</c:v>
                </c:pt>
                <c:pt idx="11">
                  <c:v>4.38</c:v>
                </c:pt>
                <c:pt idx="12">
                  <c:v>4.41</c:v>
                </c:pt>
                <c:pt idx="13">
                  <c:v>4.57</c:v>
                </c:pt>
                <c:pt idx="14">
                  <c:v>5.51</c:v>
                </c:pt>
                <c:pt idx="15">
                  <c:v>5.96</c:v>
                </c:pt>
                <c:pt idx="16">
                  <c:v>6.37</c:v>
                </c:pt>
                <c:pt idx="17">
                  <c:v>6.2</c:v>
                </c:pt>
                <c:pt idx="18">
                  <c:v>5.36</c:v>
                </c:pt>
                <c:pt idx="19">
                  <c:v>4.91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751-0344-A411-4D5D36ED51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Humidity</c:v>
                </c:pt>
              </c:strCache>
            </c:strRef>
          </c:tx>
          <c:spPr>
            <a:ln w="25400" cap="flat">
              <a:solidFill>
                <a:srgbClr val="6AB47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AB47B"/>
              </a:solidFill>
              <a:ln w="9525" cap="flat">
                <a:solidFill>
                  <a:srgbClr val="6AB47B"/>
                </a:solidFill>
                <a:prstDash val="solid"/>
                <a:round/>
              </a:ln>
              <a:effectLst/>
            </c:spPr>
          </c:marker>
          <c:cat>
            <c:strRef>
              <c:f>Sheet1!$A$2:$A$21</c:f>
              <c:strCache>
                <c:ptCount val="2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  <c:pt idx="10">
                  <c:v>D11</c:v>
                </c:pt>
                <c:pt idx="11">
                  <c:v>D12</c:v>
                </c:pt>
                <c:pt idx="12">
                  <c:v>D13</c:v>
                </c:pt>
                <c:pt idx="13">
                  <c:v>D14</c:v>
                </c:pt>
                <c:pt idx="14">
                  <c:v>D15</c:v>
                </c:pt>
                <c:pt idx="15">
                  <c:v>D16</c:v>
                </c:pt>
                <c:pt idx="16">
                  <c:v>D17</c:v>
                </c:pt>
                <c:pt idx="17">
                  <c:v>D18</c:v>
                </c:pt>
                <c:pt idx="18">
                  <c:v>D19</c:v>
                </c:pt>
                <c:pt idx="19">
                  <c:v>D20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69.48</c:v>
                </c:pt>
                <c:pt idx="1">
                  <c:v>68.75</c:v>
                </c:pt>
                <c:pt idx="2">
                  <c:v>67.040000000000006</c:v>
                </c:pt>
                <c:pt idx="3">
                  <c:v>66.44</c:v>
                </c:pt>
                <c:pt idx="4">
                  <c:v>62.2</c:v>
                </c:pt>
                <c:pt idx="5">
                  <c:v>58.96</c:v>
                </c:pt>
                <c:pt idx="6">
                  <c:v>55.36</c:v>
                </c:pt>
                <c:pt idx="7">
                  <c:v>53.62</c:v>
                </c:pt>
                <c:pt idx="8">
                  <c:v>50.4</c:v>
                </c:pt>
                <c:pt idx="9">
                  <c:v>50.03</c:v>
                </c:pt>
                <c:pt idx="10">
                  <c:v>49.69</c:v>
                </c:pt>
                <c:pt idx="11">
                  <c:v>51.4</c:v>
                </c:pt>
                <c:pt idx="12">
                  <c:v>52.97</c:v>
                </c:pt>
                <c:pt idx="13">
                  <c:v>55.39</c:v>
                </c:pt>
                <c:pt idx="14">
                  <c:v>59.16</c:v>
                </c:pt>
                <c:pt idx="15">
                  <c:v>62.67</c:v>
                </c:pt>
                <c:pt idx="16">
                  <c:v>65.5</c:v>
                </c:pt>
                <c:pt idx="17">
                  <c:v>68.040000000000006</c:v>
                </c:pt>
                <c:pt idx="18">
                  <c:v>69.14</c:v>
                </c:pt>
                <c:pt idx="19">
                  <c:v>69.819999999999993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751-0344-A411-4D5D36ED51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030A1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30A1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030A1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30A1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Loss</c:v>
                </c:pt>
              </c:strCache>
            </c:strRef>
          </c:tx>
          <c:spPr>
            <a:solidFill>
              <a:srgbClr val="7FA2D0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2 heads</c:v>
                </c:pt>
                <c:pt idx="1">
                  <c:v>4 heads</c:v>
                </c:pt>
                <c:pt idx="2">
                  <c:v>6 heads</c:v>
                </c:pt>
                <c:pt idx="3">
                  <c:v>8 heads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0.45</c:v>
                </c:pt>
                <c:pt idx="1">
                  <c:v>0.35</c:v>
                </c:pt>
                <c:pt idx="2">
                  <c:v>0.31</c:v>
                </c:pt>
                <c:pt idx="3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43-D04D-A78F-1D26F557D4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E" b="0" i="0" u="none" strike="noStrike">
                    <a:solidFill>
                      <a:srgbClr val="000000"/>
                    </a:solidFill>
                    <a:latin typeface="Arial"/>
                  </a:rPr>
                  <a:t>#Heads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030A1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0A1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E" b="0" i="0" u="none" strike="noStrike">
                    <a:solidFill>
                      <a:srgbClr val="000000"/>
                    </a:solidFill>
                    <a:latin typeface="Arial"/>
                  </a:rPr>
                  <a:t>Loss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030A1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0A1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chemeClr val="bg1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5685EE-3D40-0A4E-BB88-46887330FC0A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752F2A-FA59-1746-ABA5-28C394E5ED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5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1787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4511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86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1025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7416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0106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693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3454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7756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33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1744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8240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8236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707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7934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9156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98289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2261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2424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What is a primary advantage of using Multi-Head Attention when forecasting complex systems like the weather?</a:t>
            </a:r>
          </a:p>
          <a:p>
            <a:r>
              <a:rPr lang="en-US"/>
              <a:t>https://www.polleverywhere.com/multiple_choice_polls/21taUBEO7nRKhZ37Z5yHt?state=opened&amp;flow=Default&amp;onscreen=persist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1270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7002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310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Colou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48403D-CA02-EE11-96CC-8E09913F64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2410"/>
            <a:ext cx="4921049" cy="3023526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CDEDBC2-BC30-A9CA-49BA-CCA6F9CEB8A7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Andrew Parnell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4987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95EAAC-03A2-8D88-C693-5373EC4D99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1140"/>
            <a:ext cx="4921049" cy="3023526"/>
          </a:xfrm>
          <a:prstGeom prst="rect">
            <a:avLst/>
          </a:prstGeom>
        </p:spPr>
      </p:pic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1BF4638-05BC-68BF-F886-C5874806A86A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Presentation</a:t>
            </a:r>
            <a:r>
              <a:rPr lang="en-GB" sz="3200" b="0" dirty="0">
                <a:solidFill>
                  <a:schemeClr val="bg1"/>
                </a:solidFill>
              </a:rPr>
              <a:t> subtitle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839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9FE3EDE-25F4-E49F-B1D6-86A03CE1B128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rgbClr val="00427A"/>
                </a:solidFill>
              </a:rPr>
              <a:t>Presentation</a:t>
            </a:r>
            <a:r>
              <a:rPr lang="en-GB" sz="3200" b="0" dirty="0">
                <a:solidFill>
                  <a:srgbClr val="00427A"/>
                </a:solidFill>
              </a:rPr>
              <a:t> subtitle</a:t>
            </a:r>
            <a:endParaRPr lang="en-US" sz="3200" b="0" dirty="0">
              <a:solidFill>
                <a:srgbClr val="00427A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rgbClr val="00959F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rgbClr val="00427A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57DE2-DEBB-B17B-3186-6B7F239D4C1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70858" y="764010"/>
            <a:ext cx="4921049" cy="302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366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36AE-C30A-53BD-4925-C496BE6C4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265C0-0ACE-3E63-95B9-D176766F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1563B-497A-31DF-3662-C17ACF7D3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70AD6-AAEF-8A4F-2919-ED9A3F9B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690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2AFB-F4C4-719F-41DE-8454632EB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835495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AA946-8443-8B80-0497-6EB6FAAD0F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71E3E-2DD5-AE03-E092-6934E2C4A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3E6B2A-3B08-3B49-5EC6-5F1CF60C6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0CB63-89BA-5DA1-ABAC-95F644463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EC219-68C6-906B-6B38-F56C88CEA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55E0A4-A8B0-2CA7-E857-19478981F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34EDF8-107F-48D4-9168-408544498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D97297-368B-D76D-B573-F2EA9B4F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90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E21E6-E145-FB62-1B42-F05F62D34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FA92D5-85D4-798F-6073-C1BBC39E8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41B856-F9DF-6501-6837-20D15C2F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0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6B62E2-EFD1-BADE-5ADC-CDA692DD3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CE0D8-9D28-4B5B-E0D8-6FD104DED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4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Turquios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105-7039-1C6D-7FC1-89C7ACEFE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8348602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C9D1A-B681-480B-51E4-53A881918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74390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mediu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8167D2C-5176-1ED3-A328-C37831632F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952165" y="3305069"/>
            <a:ext cx="8928728" cy="35529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83037B-3C53-AD11-3C53-4E910F029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175" y="0"/>
            <a:ext cx="12188825" cy="685978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433CFB9-3CD0-7249-3875-4CDCC3265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604C136-FB56-3E5C-714E-C7C451450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66193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C7DCCB-0C89-D983-30F6-838DCED371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66117" y="656799"/>
            <a:ext cx="11071312" cy="6201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A480F3-BC76-00B6-24D5-C07DB00D847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9" y="251012"/>
            <a:ext cx="12188821" cy="68597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57DC5C-07B9-1D3E-E60F-4C4449E40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138B3-4A13-4988-0617-30422C752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rgbClr val="00959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01349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8423E0-7FF4-AD5A-A90B-2A9E4134C1A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088573" y="1468037"/>
            <a:ext cx="9622971" cy="53899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E33A7B-C77A-0333-901F-1F517FC1279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6" y="0"/>
            <a:ext cx="12188821" cy="685978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BAE34A2-289C-9C29-7331-CFD9F1AE7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5389" y="1060256"/>
            <a:ext cx="6336026" cy="3668564"/>
          </a:xfrm>
        </p:spPr>
        <p:txBody>
          <a:bodyPr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760231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63805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C84AC-4BE3-48C0-950F-0BAB0CAE12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851E5D-854D-14E8-B86B-F61974DC45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B1AE72-89F8-50E3-F227-DF68D84209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5921A-75FB-E846-056C-91FFEEEB88D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5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340C0-73B3-BCF7-0724-038E70BF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C6D448-5D41-D2C8-31F6-3E2418064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8348602" cy="4149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23E6A-37C4-5F0F-726D-1ACD6A231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18356"/>
            <a:ext cx="29759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40BB7-8BAA-0B2D-4F0A-22069252AE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5096" y="6118356"/>
            <a:ext cx="19217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4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62" r:id="rId9"/>
    <p:sldLayoutId id="2147483664" r:id="rId10"/>
    <p:sldLayoutId id="2147483665" r:id="rId11"/>
    <p:sldLayoutId id="2147483666" r:id="rId12"/>
    <p:sldLayoutId id="2147483667" r:id="rId13"/>
    <p:sldLayoutId id="2147483668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959F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E127A-D7C1-984F-9005-D54B2E23A7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solidFill>
                  <a:srgbClr val="FFFFFF"/>
                </a:solidFill>
              </a:rPr>
              <a:t>Class 6: Transformers for weather forecasting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824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3D5A6-4256-C256-E88F-345BCC813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05185-05B6-417D-DF23-3CFC3FE5CA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Recap: LSTMs vs Transformers</a:t>
            </a:r>
          </a:p>
          <a:p>
            <a:r>
              <a:rPr lang="en-US" dirty="0"/>
              <a:t>Self‑Attention &amp; Scaled Dot‑Product</a:t>
            </a:r>
          </a:p>
          <a:p>
            <a:r>
              <a:rPr lang="en-US" dirty="0"/>
              <a:t>Multi‑Head Attention &amp; Positional Encoding</a:t>
            </a:r>
          </a:p>
          <a:p>
            <a:r>
              <a:rPr lang="en-US" dirty="0"/>
              <a:t>Transformer Architecture</a:t>
            </a:r>
          </a:p>
          <a:p>
            <a:r>
              <a:rPr lang="en-US" dirty="0"/>
              <a:t>Dataset &amp; Sequence Preparation</a:t>
            </a:r>
          </a:p>
          <a:p>
            <a:r>
              <a:rPr lang="en-US" dirty="0"/>
              <a:t>Manual Example &amp; Implementation</a:t>
            </a:r>
          </a:p>
          <a:p>
            <a:r>
              <a:rPr lang="en-US" dirty="0"/>
              <a:t>Framework Implementation &amp; Results</a:t>
            </a:r>
          </a:p>
          <a:p>
            <a:r>
              <a:rPr lang="en-US" dirty="0"/>
              <a:t>Comparisons, Variants &amp; Tips</a:t>
            </a:r>
          </a:p>
          <a:p>
            <a:r>
              <a:rPr lang="en-US" dirty="0"/>
              <a:t>Summary &amp; Reading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4B997E-3A83-9889-6828-1FFDC690F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855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22032-9C93-054A-4C08-5A4BF9BF3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Recap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C64E9B-190E-AB13-F83D-C6CFC23767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75555" cy="414929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RNNs &amp; LSTMs model sequences sequentially; hidden state passes information across time</a:t>
            </a:r>
          </a:p>
          <a:p>
            <a:r>
              <a:rPr lang="en-US" dirty="0"/>
              <a:t>Training is inherently sequential and difficult to </a:t>
            </a:r>
            <a:r>
              <a:rPr lang="en-US" dirty="0" err="1"/>
              <a:t>parallelise</a:t>
            </a:r>
            <a:endParaRPr lang="en-US" dirty="0"/>
          </a:p>
          <a:p>
            <a:r>
              <a:rPr lang="en-US" dirty="0"/>
              <a:t>Long‑range dependencies cause gradients to vanish or explode</a:t>
            </a:r>
          </a:p>
          <a:p>
            <a:r>
              <a:rPr lang="en-US" dirty="0"/>
              <a:t>Transformers rely solely on attention and enable parallel computation across positions</a:t>
            </a:r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E1139392-EC8D-8912-65BE-DFE4CAFFF78E}"/>
              </a:ext>
            </a:extLst>
          </p:cNvPr>
          <p:cNvGraphicFramePr>
            <a:graphicFrameLocks noGrp="1"/>
          </p:cNvGraphicFramePr>
          <p:nvPr/>
        </p:nvGraphicFramePr>
        <p:xfrm>
          <a:off x="7559040" y="2072640"/>
          <a:ext cx="4267200" cy="2438400"/>
        </p:xfrm>
        <a:graphic>
          <a:graphicData uri="http://schemas.openxmlformats.org/drawingml/2006/table">
            <a:tbl>
              <a:tblPr/>
              <a:tblGrid>
                <a:gridCol w="142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LSTM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Transformer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Computation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Sequential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Parallel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Captures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Local &amp; medium dependencies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Long‑range dependencies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Complexity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O(n)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O(n²)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6E007D-944F-89D9-0A95-FB6FDFC98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780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3F548-EF15-3555-AE77-2D8DC1297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Self‑Attention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D309E5-43B0-A7A0-B4A7-2802886B9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have a bunch of neural networks, created via queries (Q), keys (K) and values (V)</a:t>
            </a:r>
          </a:p>
          <a:p>
            <a:r>
              <a:rPr lang="en-US" dirty="0"/>
              <a:t>We use these to </a:t>
            </a:r>
            <a:r>
              <a:rPr lang="en-US" b="1" dirty="0"/>
              <a:t>embed</a:t>
            </a:r>
            <a:r>
              <a:rPr lang="en-US" dirty="0"/>
              <a:t> the original input values of our sequence into a latent space which captures the meaning and relationships between the values</a:t>
            </a:r>
          </a:p>
          <a:p>
            <a:r>
              <a:rPr lang="en-US" dirty="0"/>
              <a:t>From them we create </a:t>
            </a:r>
            <a:r>
              <a:rPr lang="en-US" b="1" dirty="0"/>
              <a:t>attention weights </a:t>
            </a:r>
            <a:r>
              <a:rPr lang="en-US" dirty="0"/>
              <a:t>that tell us how much influence the input sequence has on itself</a:t>
            </a:r>
          </a:p>
          <a:p>
            <a:r>
              <a:rPr lang="en-US" dirty="0"/>
              <a:t>We can do this also for the output sequence, and for the link between the inputs and the output sequence</a:t>
            </a:r>
          </a:p>
          <a:p>
            <a:r>
              <a:rPr lang="en-US" dirty="0"/>
              <a:t>We use </a:t>
            </a:r>
            <a:r>
              <a:rPr lang="en-US" b="1" dirty="0"/>
              <a:t>positional encoding </a:t>
            </a:r>
            <a:r>
              <a:rPr lang="en-US" dirty="0"/>
              <a:t>to make sure the order of the sequence matters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81F8C-573D-EB0F-1314-68E747641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5252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A9FC2-7FD9-FC06-D6D1-A65333D64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Scaled dot-product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6A4DD5-2C7B-AF15-E56A-CBEB230F44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ᵀ / </m:t>
                      </m:r>
                      <m:rad>
                        <m:radPr>
                          <m:degHide m:val="on"/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ra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)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dirty="0"/>
              </a:p>
              <a:p>
                <a:endParaRPr lang="en-US" dirty="0"/>
              </a:p>
              <a:p>
                <a:r>
                  <a:rPr lang="en-US" dirty="0"/>
                  <a:t>Compute dot products between each query and all keys</a:t>
                </a:r>
              </a:p>
              <a:p>
                <a:r>
                  <a:rPr lang="en-US" dirty="0"/>
                  <a:t>Divide by the square root of the latent dimension (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rad>
                  </m:oMath>
                </a14:m>
                <a:r>
                  <a:rPr lang="en-US" dirty="0"/>
                  <a:t>) to </a:t>
                </a:r>
                <a:r>
                  <a:rPr lang="en-US" dirty="0" err="1"/>
                  <a:t>stabilise</a:t>
                </a:r>
                <a:r>
                  <a:rPr lang="en-US" dirty="0"/>
                  <a:t> gradients</a:t>
                </a:r>
              </a:p>
              <a:p>
                <a:r>
                  <a:rPr lang="en-US" dirty="0"/>
                  <a:t>Apply </a:t>
                </a:r>
                <a:r>
                  <a:rPr lang="en-US" dirty="0" err="1"/>
                  <a:t>softmax</a:t>
                </a:r>
                <a:r>
                  <a:rPr lang="en-US" dirty="0"/>
                  <a:t> to obtain weights across all positions</a:t>
                </a:r>
              </a:p>
              <a:p>
                <a:r>
                  <a:rPr lang="en-US" dirty="0"/>
                  <a:t>Multiply the weights with values and sum them to get the output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6A4DD5-2C7B-AF15-E56A-CBEB230F44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68" r="-1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4AF93-1933-E9EB-5621-A44BBEDE9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127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C2328-D2E5-A4A9-1782-DF2C8891D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A6867B-894A-3347-3FBF-C8C7487DF4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Create Query values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Create Keys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dot products and scale them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Use </a:t>
                </a:r>
                <a:r>
                  <a:rPr lang="en-US" dirty="0" err="1"/>
                  <a:t>softmax</a:t>
                </a:r>
                <a:r>
                  <a:rPr lang="en-US" dirty="0"/>
                  <a:t> to determine attention weights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Create Values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Create Outputs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US" dirty="0"/>
                  <a:t> by multiplying A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together</a:t>
                </a:r>
              </a:p>
              <a:p>
                <a:r>
                  <a:rPr lang="en-US" dirty="0"/>
                  <a:t>Then decide how you want to fit that in with your current forecasting model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A6867B-894A-3347-3FBF-C8C7487DF4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20" t="-2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288244-9FA1-01CF-D9F8-D8F9754B2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148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3F3A6-C3A5-2D14-DD3E-C79FBECE3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AE49EC-9704-7641-0E1A-EE58D182A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9749"/>
                </a:solidFill>
              </a:rPr>
              <a:t>Go through on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A6AA0-274F-5AA0-9414-EC9BD4407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6D3252-D3ED-7447-F513-3FE69405C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019" y="883085"/>
            <a:ext cx="3746874" cy="4989386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136742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9B044-9F83-D8F9-CECA-7585E32F7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Multi-head attention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82826-C757-92F0-A5FF-1E49F61A4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have simplified everything</a:t>
            </a:r>
          </a:p>
          <a:p>
            <a:r>
              <a:rPr lang="en-US" dirty="0"/>
              <a:t>We could have:</a:t>
            </a:r>
          </a:p>
          <a:p>
            <a:pPr lvl="1"/>
            <a:r>
              <a:rPr lang="en-US" dirty="0"/>
              <a:t>Used more latent dimensions (and potentially changed them through the keys)</a:t>
            </a:r>
          </a:p>
          <a:p>
            <a:pPr lvl="1"/>
            <a:r>
              <a:rPr lang="en-US" dirty="0"/>
              <a:t>Replaced the creation of queries keys and values with full NNs</a:t>
            </a:r>
          </a:p>
          <a:p>
            <a:pPr lvl="1"/>
            <a:r>
              <a:rPr lang="en-US" dirty="0"/>
              <a:t>Performed independent attentions to create a multi-head attention blocks</a:t>
            </a:r>
          </a:p>
          <a:p>
            <a:pPr lvl="1"/>
            <a:r>
              <a:rPr lang="en-US" dirty="0"/>
              <a:t>Added in a decoder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269D74-36E6-E096-6637-E7213AF74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4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5E103-B361-D200-E8BC-40EB2CF98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huge benefit of transformers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F74B6F-91B8-A162-0F83-C72595E555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Fully parallel – sequence length defines complexity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²)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We re-use all the weights behind the transformer components</a:t>
                </a:r>
              </a:p>
              <a:p>
                <a:r>
                  <a:rPr lang="en-US" dirty="0"/>
                  <a:t>Also adding in the positional encoding (instead of multiplying or concatenating) and the residual / skip connections means we don’t need extra parameters</a:t>
                </a:r>
              </a:p>
              <a:p>
                <a:r>
                  <a:rPr lang="en-US" dirty="0"/>
                  <a:t>Massively reduces the number of parameters needed to estimate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F74B6F-91B8-A162-0F83-C72595E555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68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B43947-B4F4-73BE-620B-86C1DC828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455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4BA72-6A23-5A6C-5273-23B5DA94B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Weather task again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F1895-09E6-03EB-A542-8E0EEC490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32755" cy="414929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Goal: Given weather data from previous days (temperature, rainfall, humidity), predict the next day’s values</a:t>
            </a:r>
          </a:p>
          <a:p>
            <a:r>
              <a:rPr lang="en-US" dirty="0"/>
              <a:t>Sequence length (window) determines how far back we look</a:t>
            </a:r>
          </a:p>
          <a:p>
            <a:r>
              <a:rPr lang="en-US" dirty="0"/>
              <a:t>We can use our data sets in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 </a:t>
            </a:r>
            <a:r>
              <a:rPr lang="en-US" dirty="0"/>
              <a:t>folder</a:t>
            </a:r>
          </a:p>
          <a:p>
            <a:r>
              <a:rPr lang="en-US" dirty="0"/>
              <a:t>(Note: in real weather forecasts we use a </a:t>
            </a:r>
            <a:r>
              <a:rPr lang="en-US" i="1" dirty="0"/>
              <a:t>causal mask</a:t>
            </a:r>
            <a:r>
              <a:rPr lang="en-US" dirty="0"/>
              <a:t> to stop e.g. day 5 being able to help predict day 4)</a:t>
            </a:r>
          </a:p>
        </p:txBody>
      </p:sp>
      <p:graphicFrame>
        <p:nvGraphicFramePr>
          <p:cNvPr id="4" name="Chart 0">
            <a:extLst>
              <a:ext uri="{FF2B5EF4-FFF2-40B4-BE49-F238E27FC236}">
                <a16:creationId xmlns:a16="http://schemas.microsoft.com/office/drawing/2014/main" id="{50DD89E7-9152-EED1-CD50-771EA9D24E68}"/>
              </a:ext>
            </a:extLst>
          </p:cNvPr>
          <p:cNvGraphicFramePr/>
          <p:nvPr/>
        </p:nvGraphicFramePr>
        <p:xfrm>
          <a:off x="7315200" y="1950720"/>
          <a:ext cx="4632960" cy="3169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CA06C8-650E-CF64-50C9-6F9B4C459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090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FC21D-3F87-6CC3-1D2B-317148C2E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FE02D-1854-4030-A711-1BA9CAB134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6516" cy="414929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Given window length L, we create sequences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x[t–L+1…t]</a:t>
            </a:r>
            <a:r>
              <a:rPr lang="en-US" dirty="0"/>
              <a:t> as inputs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x[t+1]</a:t>
            </a:r>
            <a:r>
              <a:rPr lang="en-US" dirty="0"/>
              <a:t> as target</a:t>
            </a:r>
          </a:p>
          <a:p>
            <a:r>
              <a:rPr lang="en-US" dirty="0"/>
              <a:t>Could change the targets to more detailed or longer forecasts </a:t>
            </a:r>
          </a:p>
          <a:p>
            <a:r>
              <a:rPr lang="en-US" dirty="0"/>
              <a:t>Transformer processes the entire window simultaneously</a:t>
            </a:r>
          </a:p>
          <a:p>
            <a:r>
              <a:rPr lang="en-US" dirty="0"/>
              <a:t>Think back to the steps we have just followed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002E878-303D-C91D-A171-4CF88361AD52}"/>
              </a:ext>
            </a:extLst>
          </p:cNvPr>
          <p:cNvSpPr/>
          <p:nvPr/>
        </p:nvSpPr>
        <p:spPr>
          <a:xfrm>
            <a:off x="7315200" y="207264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2A46796-145B-C645-2617-6BF6F717A66A}"/>
              </a:ext>
            </a:extLst>
          </p:cNvPr>
          <p:cNvSpPr/>
          <p:nvPr/>
        </p:nvSpPr>
        <p:spPr>
          <a:xfrm>
            <a:off x="7315200" y="256032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F55A8ED-5E26-4FEF-5C79-27C56F6A1A4D}"/>
              </a:ext>
            </a:extLst>
          </p:cNvPr>
          <p:cNvSpPr/>
          <p:nvPr/>
        </p:nvSpPr>
        <p:spPr>
          <a:xfrm>
            <a:off x="7315200" y="304800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9C30165-EEB2-CC7B-A230-F0CD5EBCF427}"/>
              </a:ext>
            </a:extLst>
          </p:cNvPr>
          <p:cNvSpPr/>
          <p:nvPr/>
        </p:nvSpPr>
        <p:spPr>
          <a:xfrm>
            <a:off x="7315200" y="3535680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dirty="0">
                <a:solidFill>
                  <a:srgbClr val="030A18"/>
                </a:solidFill>
              </a:rPr>
              <a:t>1</a:t>
            </a:r>
            <a:endParaRPr lang="en-US" sz="1067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35D371B-6AF9-B63C-A37A-E5321430696A}"/>
              </a:ext>
            </a:extLst>
          </p:cNvPr>
          <p:cNvSpPr/>
          <p:nvPr/>
        </p:nvSpPr>
        <p:spPr>
          <a:xfrm>
            <a:off x="7985760" y="207264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9B1E3B1-9455-23F1-1B00-038F943A7CE4}"/>
              </a:ext>
            </a:extLst>
          </p:cNvPr>
          <p:cNvSpPr/>
          <p:nvPr/>
        </p:nvSpPr>
        <p:spPr>
          <a:xfrm>
            <a:off x="7985760" y="256032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4BA89B26-C3D6-DA33-89DC-73EE3A5FC43A}"/>
              </a:ext>
            </a:extLst>
          </p:cNvPr>
          <p:cNvSpPr/>
          <p:nvPr/>
        </p:nvSpPr>
        <p:spPr>
          <a:xfrm>
            <a:off x="7985760" y="304800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AEDC509-97C7-608B-40D4-840840AE2D1D}"/>
              </a:ext>
            </a:extLst>
          </p:cNvPr>
          <p:cNvSpPr/>
          <p:nvPr/>
        </p:nvSpPr>
        <p:spPr>
          <a:xfrm>
            <a:off x="7985760" y="3535680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dirty="0">
                <a:solidFill>
                  <a:srgbClr val="030A18"/>
                </a:solidFill>
              </a:rPr>
              <a:t>2</a:t>
            </a:r>
            <a:endParaRPr lang="en-US" sz="1067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8B5AF16-B54C-4738-BE96-867DCBA03D16}"/>
              </a:ext>
            </a:extLst>
          </p:cNvPr>
          <p:cNvSpPr/>
          <p:nvPr/>
        </p:nvSpPr>
        <p:spPr>
          <a:xfrm>
            <a:off x="8656320" y="207264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E49A5059-2DAF-5FE3-C7B9-C42711F44EAA}"/>
              </a:ext>
            </a:extLst>
          </p:cNvPr>
          <p:cNvSpPr/>
          <p:nvPr/>
        </p:nvSpPr>
        <p:spPr>
          <a:xfrm>
            <a:off x="8656320" y="256032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0D979543-CC84-D65D-ECA0-7438D470F95F}"/>
              </a:ext>
            </a:extLst>
          </p:cNvPr>
          <p:cNvSpPr/>
          <p:nvPr/>
        </p:nvSpPr>
        <p:spPr>
          <a:xfrm>
            <a:off x="8656320" y="304800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2311C0F-1F62-5C66-3D13-D06D1895E23D}"/>
              </a:ext>
            </a:extLst>
          </p:cNvPr>
          <p:cNvSpPr/>
          <p:nvPr/>
        </p:nvSpPr>
        <p:spPr>
          <a:xfrm>
            <a:off x="8656320" y="3535680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dirty="0">
                <a:solidFill>
                  <a:srgbClr val="030A18"/>
                </a:solidFill>
              </a:rPr>
              <a:t>3</a:t>
            </a:r>
            <a:endParaRPr lang="en-US" sz="1067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8D35303E-D8AB-5E16-7C30-0AD889EE37CF}"/>
              </a:ext>
            </a:extLst>
          </p:cNvPr>
          <p:cNvSpPr/>
          <p:nvPr/>
        </p:nvSpPr>
        <p:spPr>
          <a:xfrm>
            <a:off x="9326880" y="207264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972EF13A-FE84-AF8E-9944-C7FC4D4B3F8C}"/>
              </a:ext>
            </a:extLst>
          </p:cNvPr>
          <p:cNvSpPr/>
          <p:nvPr/>
        </p:nvSpPr>
        <p:spPr>
          <a:xfrm>
            <a:off x="9326880" y="256032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9EEA601-334D-49B7-B565-651305711EAA}"/>
              </a:ext>
            </a:extLst>
          </p:cNvPr>
          <p:cNvSpPr/>
          <p:nvPr/>
        </p:nvSpPr>
        <p:spPr>
          <a:xfrm>
            <a:off x="9326880" y="304800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18F7405-9F21-A4C0-F840-CC96B1FC3D94}"/>
              </a:ext>
            </a:extLst>
          </p:cNvPr>
          <p:cNvSpPr/>
          <p:nvPr/>
        </p:nvSpPr>
        <p:spPr>
          <a:xfrm>
            <a:off x="9326880" y="3535680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dirty="0">
                <a:solidFill>
                  <a:srgbClr val="030A18"/>
                </a:solidFill>
              </a:rPr>
              <a:t>4</a:t>
            </a:r>
            <a:endParaRPr lang="en-US" sz="1067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BC89363-8C7E-27D9-4F55-D2D1470E8545}"/>
              </a:ext>
            </a:extLst>
          </p:cNvPr>
          <p:cNvSpPr/>
          <p:nvPr/>
        </p:nvSpPr>
        <p:spPr>
          <a:xfrm>
            <a:off x="9997440" y="2072640"/>
            <a:ext cx="609600" cy="426720"/>
          </a:xfrm>
          <a:prstGeom prst="rect">
            <a:avLst/>
          </a:prstGeom>
          <a:solidFill>
            <a:srgbClr val="F7B26A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0A9C9C77-F0C9-AAFD-D996-94B896CD925E}"/>
              </a:ext>
            </a:extLst>
          </p:cNvPr>
          <p:cNvSpPr/>
          <p:nvPr/>
        </p:nvSpPr>
        <p:spPr>
          <a:xfrm>
            <a:off x="9997440" y="2560320"/>
            <a:ext cx="609600" cy="426720"/>
          </a:xfrm>
          <a:prstGeom prst="rect">
            <a:avLst/>
          </a:prstGeom>
          <a:solidFill>
            <a:srgbClr val="F7B26A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F3C478B-BD96-6C34-F380-289AC125655A}"/>
              </a:ext>
            </a:extLst>
          </p:cNvPr>
          <p:cNvSpPr/>
          <p:nvPr/>
        </p:nvSpPr>
        <p:spPr>
          <a:xfrm>
            <a:off x="9997440" y="3048000"/>
            <a:ext cx="609600" cy="426720"/>
          </a:xfrm>
          <a:prstGeom prst="rect">
            <a:avLst/>
          </a:prstGeom>
          <a:solidFill>
            <a:srgbClr val="F7B26A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CECDEFC1-86AF-39CF-BBE3-BCADAB6F3EB8}"/>
              </a:ext>
            </a:extLst>
          </p:cNvPr>
          <p:cNvSpPr/>
          <p:nvPr/>
        </p:nvSpPr>
        <p:spPr>
          <a:xfrm>
            <a:off x="9997440" y="3535680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dirty="0">
                <a:solidFill>
                  <a:srgbClr val="030A18"/>
                </a:solidFill>
              </a:rPr>
              <a:t>target</a:t>
            </a:r>
            <a:endParaRPr lang="en-US" sz="1067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82D61CB7-D58D-537A-30E4-F020D0DD7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1484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401BB-50BF-E30C-0910-DF2DD1A22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Transformers by hand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D9246-9BA4-591A-1996-3C6952FC88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689555" cy="4149290"/>
          </a:xfrm>
        </p:spPr>
        <p:txBody>
          <a:bodyPr/>
          <a:lstStyle/>
          <a:p>
            <a:r>
              <a:rPr lang="en-US" dirty="0"/>
              <a:t>This snippet computes a single attention layer using only NumPy</a:t>
            </a:r>
          </a:p>
          <a:p>
            <a:r>
              <a:rPr lang="en-US" dirty="0"/>
              <a:t>No deep learning frameworks required; gradients can be derived manually or via </a:t>
            </a:r>
            <a:r>
              <a:rPr lang="en-US" dirty="0" err="1"/>
              <a:t>autograd</a:t>
            </a:r>
            <a:endParaRPr lang="en-US" dirty="0"/>
          </a:p>
          <a:p>
            <a:r>
              <a:rPr lang="en-US" dirty="0"/>
              <a:t>(No biases here)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D268A2-987E-92D0-D1EF-4EB8487EB0D3}"/>
              </a:ext>
            </a:extLst>
          </p:cNvPr>
          <p:cNvSpPr txBox="1"/>
          <p:nvPr/>
        </p:nvSpPr>
        <p:spPr>
          <a:xfrm>
            <a:off x="5630196" y="1501902"/>
            <a:ext cx="6098458" cy="48013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800" b="1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numpy</a:t>
            </a:r>
            <a:r>
              <a:rPr lang="en-US" sz="1800" b="1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as np
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projection matrices
W_Q =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np.random.randn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d_model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d_k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W_K =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np.random.randn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d_model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d_k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W_V =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np.random.randn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d_model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d_v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# project inputs to queries, keys, values
Q = X @ W_Q
K = X @ W_K
V = X @ W_V
# compute scaled dot‑product attention
scores = Q @ K.T /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np.sqrt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d_k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weights =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np.exp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(scores) /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np.exp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(scores).sum(axis=1,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keepdims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=True)
Y = weights @ V</a:t>
            </a:r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2906B3-0628-32AC-B1F4-B7DDEDB5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1915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7CF19-5585-B6F8-8B50-E2346D400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in </a:t>
            </a:r>
            <a:r>
              <a:rPr lang="en-US" dirty="0" err="1"/>
              <a:t>PyTorch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7D8FCD-C0DB-5DC6-6D6F-2A814A750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304206" cy="41492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TinyTransformer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nn.Module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def __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__(self, d=16, F=1,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nhead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=4,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nlayers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=2, H=1,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=512):</a:t>
            </a: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super().__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__();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self.inp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nn.Linear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F,d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self.pos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nn.Embedding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max_len,d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layer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nn.TransformerEncoderLayer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d_model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=d,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nhead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nhead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batch_first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=False)</a:t>
            </a: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self.enc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nn.TransformerEncoder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(layer,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nlayers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self.head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nn.Linear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d,H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def forward(self, x):                      # x: [T,B,F]</a:t>
            </a: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x.size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(0); z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self.inp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(x) +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self.pos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torch.arange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(T, device=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x.device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))[:,None,:]</a:t>
            </a: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h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self.enc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(z)                        # [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T,B,d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self.head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(h[-1])                # last step → [B,H] prediction</a:t>
            </a:r>
          </a:p>
          <a:p>
            <a:pPr marL="0" indent="0"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Run (assumes you have x):</a:t>
            </a: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model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TinyTransformer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(d=16, F=1, H=1)       # 1 feature → 1-step forecast</a:t>
            </a:r>
          </a:p>
          <a:p>
            <a:pPr marL="0" indent="0">
              <a:buNone/>
            </a:pP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y_hat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model(x)                               # x: [T,B,1], 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y_hat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[B,1]</a:t>
            </a:r>
          </a:p>
          <a:p>
            <a:pPr marL="0" indent="0"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8F9489-39E1-2E60-D8FA-D5D1ABB8A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580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9600" y="2072640"/>
            <a:ext cx="6705600" cy="4511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3994" indent="-253994">
              <a:lnSpc>
                <a:spcPts val="2400"/>
              </a:lnSpc>
              <a:spcAft>
                <a:spcPts val="480"/>
              </a:spcAft>
              <a:buSzPct val="100000"/>
              <a:buChar char="•"/>
            </a:pPr>
            <a:endParaRPr lang="en-US" sz="16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2377621294"/>
              </p:ext>
            </p:extLst>
          </p:nvPr>
        </p:nvGraphicFramePr>
        <p:xfrm>
          <a:off x="7543800" y="2072640"/>
          <a:ext cx="4389120" cy="304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itle 4">
            <a:extLst>
              <a:ext uri="{FF2B5EF4-FFF2-40B4-BE49-F238E27FC236}">
                <a16:creationId xmlns:a16="http://schemas.microsoft.com/office/drawing/2014/main" id="{2BE25F9E-EEC7-092D-71DA-49A02E236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Hyperparameters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3BDD08-ED76-8BFC-012E-85CA3C5C1E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05600" cy="414929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: embedding dimension (e.g., 32–256) – controls representation capacity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dirty="0"/>
              <a:t>: number of features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nheads</a:t>
            </a:r>
            <a:r>
              <a:rPr lang="en-US" dirty="0"/>
              <a:t>: number of attention heads (e.g., 4–8) – trade‑off between diversity and computation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nlayers</a:t>
            </a:r>
            <a:r>
              <a:rPr lang="en-US" dirty="0"/>
              <a:t>: number of encoder blocks – deeper networks capture more complex patterns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</a:t>
            </a:r>
            <a:r>
              <a:rPr lang="en-US" dirty="0"/>
              <a:t>: number of outputs variables (i.e. number of steps ahead)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dirty="0"/>
              <a:t>: Longest length of sequence</a:t>
            </a:r>
          </a:p>
          <a:p>
            <a:r>
              <a:rPr lang="en-US" dirty="0"/>
              <a:t>Could include other layers: mitigate problems by using e.g. dropout, layer norm, </a:t>
            </a:r>
            <a:r>
              <a:rPr lang="en-US" dirty="0" err="1"/>
              <a:t>etc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CCBEC4-BB91-E87B-EEC0-29277B047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2211C-F9AE-7C1D-99EE-04963EA61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Comparison: LSTM vs Transformer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B0A72-4EF7-A303-54CE-3BA70217F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78594" cy="4149290"/>
          </a:xfrm>
        </p:spPr>
        <p:txBody>
          <a:bodyPr/>
          <a:lstStyle/>
          <a:p>
            <a:r>
              <a:rPr lang="en-US" dirty="0"/>
              <a:t>Transformers offer parallelism and long‑range modelling at the cost of quadratic complexity</a:t>
            </a:r>
          </a:p>
          <a:p>
            <a:r>
              <a:rPr lang="en-US" dirty="0"/>
              <a:t>LSTMs remain useful when sequence lengths are moderate and resources limited</a:t>
            </a:r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32366998-4E67-B1FD-AB19-3E6ABB537F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3703002"/>
              </p:ext>
            </p:extLst>
          </p:nvPr>
        </p:nvGraphicFramePr>
        <p:xfrm>
          <a:off x="5316794" y="1980708"/>
          <a:ext cx="6705600" cy="3048000"/>
        </p:xfrm>
        <a:graphic>
          <a:graphicData uri="http://schemas.openxmlformats.org/drawingml/2006/table">
            <a:tbl>
              <a:tblPr/>
              <a:tblGrid>
                <a:gridCol w="223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LSTM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Transformer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Computation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Sequential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Parallel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Dependency length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Limited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Global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Complexity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O(n)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O(n²)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Interpretability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Hidden gating dynamics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Explicit attention weights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Use cases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Small/medium sequences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Long sequences, NLP, time series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6B4FB-FD34-177D-BAE1-05D1DDC6F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602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0384E-963F-048E-956A-8A65F8A61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Pre-training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0DFEA6-BDAB-9E9C-AE26-2B860DDD1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E" dirty="0"/>
              <a:t>Use, for example, before full model fitting to obtain better values of embeddings or other aspects of the model</a:t>
            </a:r>
          </a:p>
          <a:p>
            <a:r>
              <a:rPr lang="en-IE" dirty="0"/>
              <a:t>Take a large data set and try to learn something simple from it before you run it on your specific task</a:t>
            </a:r>
          </a:p>
          <a:p>
            <a:r>
              <a:rPr lang="en-IE" dirty="0"/>
              <a:t>E.g. predict next item in a sequence, mask out some part of the values and predict them</a:t>
            </a:r>
          </a:p>
          <a:p>
            <a:r>
              <a:rPr lang="en-IE" dirty="0"/>
              <a:t>Makes the later fitting of the model much easier</a:t>
            </a:r>
          </a:p>
          <a:p>
            <a:r>
              <a:rPr lang="en-IE" dirty="0"/>
              <a:t>Does add computational cost and sometimes worsens bias on training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883C3-8925-E75E-3D30-E1F5E0170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5057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0C11C-1AF0-5222-43C3-8B227297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variants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6EC3B-829A-552E-7B12-68B68FBD3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Informers &amp; </a:t>
            </a:r>
            <a:r>
              <a:rPr lang="en-US" dirty="0" err="1"/>
              <a:t>Longformers</a:t>
            </a:r>
            <a:r>
              <a:rPr lang="en-US" dirty="0"/>
              <a:t>: design sparse attention patterns to handle long sequences efficiently</a:t>
            </a:r>
          </a:p>
          <a:p>
            <a:r>
              <a:rPr lang="en-US" dirty="0"/>
              <a:t>Reformer &amp; </a:t>
            </a:r>
            <a:r>
              <a:rPr lang="en-US" dirty="0" err="1"/>
              <a:t>Linformer</a:t>
            </a:r>
            <a:r>
              <a:rPr lang="en-US" dirty="0"/>
              <a:t>: reduce memory with low‑rank projections</a:t>
            </a:r>
          </a:p>
          <a:p>
            <a:r>
              <a:rPr lang="en-US" dirty="0"/>
              <a:t>BERT, GPT: pre‑trained language models; can be adapted to forecasting via fine‑tuning</a:t>
            </a:r>
          </a:p>
          <a:p>
            <a:r>
              <a:rPr lang="en-US" dirty="0"/>
              <a:t>Time Series Transformers: embed temporal features and </a:t>
            </a:r>
            <a:r>
              <a:rPr lang="en-US" dirty="0" err="1"/>
              <a:t>seasonalities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740391-670B-A3A5-DC0C-7A1A36B0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4528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A89C1-DA5E-6D55-921F-68BF01889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tips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2192B4-BAE7-086F-AF1C-CA60D60D30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 err="1"/>
                  <a:t>Normalise</a:t>
                </a:r>
                <a:r>
                  <a:rPr lang="en-US" dirty="0"/>
                  <a:t> inputs and consider detrending/seasonal decomposition</a:t>
                </a:r>
              </a:p>
              <a:p>
                <a:r>
                  <a:rPr lang="en-US" dirty="0"/>
                  <a:t>Choose a window size that captures sufficient context without too much overhead</a:t>
                </a:r>
              </a:p>
              <a:p>
                <a:r>
                  <a:rPr lang="en-US" dirty="0"/>
                  <a:t>Experiment with number of heads and </a:t>
                </a:r>
                <a:r>
                  <a:rPr lang="en-US" dirty="0" err="1"/>
                  <a:t>d_model</a:t>
                </a:r>
                <a:r>
                  <a:rPr lang="en-US" dirty="0"/>
                  <a:t>; small values may suffice for time series</a:t>
                </a:r>
              </a:p>
              <a:p>
                <a:r>
                  <a:rPr lang="en-US" dirty="0"/>
                  <a:t>Monitor validation loss and apply early stopping or learning‑rate schedules</a:t>
                </a:r>
              </a:p>
              <a:p>
                <a:r>
                  <a:rPr lang="en-US" dirty="0"/>
                  <a:t>Use GPU acceleration for larger models; memory consumption grows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2192B4-BAE7-086F-AF1C-CA60D60D30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6" t="-2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2494B-BFFA-01A4-EF36-07B008D03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0398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99CAB-C059-A355-C946-789034171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with AIFS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92B9F-687F-9243-3AFC-A4AD6840D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61020" cy="414929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Apart from the graph structure (next class) this is exactly the background in ECMWF’s AIFS forecasting system</a:t>
            </a:r>
          </a:p>
          <a:p>
            <a:r>
              <a:rPr lang="en-US" dirty="0"/>
              <a:t>They predict multiple variables 6 hours ahead</a:t>
            </a:r>
          </a:p>
          <a:p>
            <a:r>
              <a:rPr lang="en-US" dirty="0"/>
              <a:t>Takes a week to run with 64 A100 GPUs (we only have 16!)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22553E-3E4C-09FE-CB8B-113FDBAA71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274" y="1527097"/>
            <a:ext cx="6054795" cy="392372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06E4CD-68DB-F90A-4D01-AA3227626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085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E3C7-E02A-F443-93FF-99B0D1284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1495C-38DD-F9F0-478E-D16C6E4C6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Transformers replace recurrence with attention, enabling </a:t>
            </a:r>
            <a:r>
              <a:rPr lang="en-US" dirty="0" err="1"/>
              <a:t>parallelisation</a:t>
            </a:r>
            <a:r>
              <a:rPr lang="en-US" dirty="0"/>
              <a:t> and capturing long‑range dependencies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Scaled dot‑product and multi‑head attention are core building blocks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Positional encoding injects order information into the model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On weather forecasting, transformers handle multivariate sequences effectively when sequence length is moderate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PyTorch</a:t>
            </a:r>
            <a:r>
              <a:rPr lang="en-US" dirty="0"/>
              <a:t> makes fitting these kinds of models relatively easy</a:t>
            </a:r>
          </a:p>
        </p:txBody>
      </p:sp>
    </p:spTree>
    <p:extLst>
      <p:ext uri="{BB962C8B-B14F-4D97-AF65-F5344CB8AC3E}">
        <p14:creationId xmlns:p14="http://schemas.microsoft.com/office/powerpoint/2010/main" val="29023752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A834B-E6A7-DB6A-B3F4-E4FB6954DB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4ECABE-8F06-9E2C-1363-0B2628602B4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A7435-36C2-6D40-A56F-2FAFF72F7E4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21</a:t>
            </a:fld>
            <a:endParaRPr lang="en-US"/>
          </a:p>
        </p:txBody>
      </p:sp>
      <p:pic>
        <p:nvPicPr>
          <p:cNvPr id="6" name="slide.url=https://www.polleverywhere.com/multiple_choice_polls/21taUBEO7nRKhZ37Z5yHt?state=opened&amp;flow=Default&amp;onscreen=persist">
            <a:extLst>
              <a:ext uri="{FF2B5EF4-FFF2-40B4-BE49-F238E27FC236}">
                <a16:creationId xmlns:a16="http://schemas.microsoft.com/office/drawing/2014/main" id="{AA44FA65-196E-2544-547F-A50A7E68E6D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6035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2E10E-525F-42F7-F943-C6C1FF1B7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CE5A4-43C6-FD2C-8481-C5B76C0905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through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D3C3_code.ipynb</a:t>
            </a:r>
          </a:p>
        </p:txBody>
      </p:sp>
    </p:spTree>
    <p:extLst>
      <p:ext uri="{BB962C8B-B14F-4D97-AF65-F5344CB8AC3E}">
        <p14:creationId xmlns:p14="http://schemas.microsoft.com/office/powerpoint/2010/main" val="3061413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D8B16-F77C-4502-E883-947833A5B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D12BE41-29B7-DB52-F8D4-2A9E21327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Afternoon session instructions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C75756-92C0-C376-0050-04C81344C3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0"/>
            <a:ext cx="4866249" cy="4171821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Use some of the data sets in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dirty="0"/>
              <a:t> directory (or download your own)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Get an LLM to help you write </a:t>
            </a:r>
            <a:r>
              <a:rPr lang="en-US" dirty="0" err="1"/>
              <a:t>PyTorch</a:t>
            </a:r>
            <a:r>
              <a:rPr lang="en-US" dirty="0"/>
              <a:t> code for that compares an LSTM with a Transformer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Present your </a:t>
            </a:r>
            <a:r>
              <a:rPr lang="en-US" dirty="0" err="1"/>
              <a:t>ipynb</a:t>
            </a:r>
            <a:r>
              <a:rPr lang="en-US" dirty="0"/>
              <a:t> file in 5 minutes</a:t>
            </a:r>
          </a:p>
          <a:p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4619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msir_template_2" id="{885FC850-5704-7C40-B0D5-B2BE1CAB90DE}" vid="{17F42F5C-6F7C-FD4F-918A-67665F080F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2508</TotalTime>
  <Words>1682</Words>
  <Application>Microsoft Macintosh PowerPoint</Application>
  <PresentationFormat>Widescreen</PresentationFormat>
  <Paragraphs>203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Arial</vt:lpstr>
      <vt:lpstr>Calibri</vt:lpstr>
      <vt:lpstr>Cambria Math</vt:lpstr>
      <vt:lpstr>Consolas</vt:lpstr>
      <vt:lpstr>Courier New</vt:lpstr>
      <vt:lpstr>Office Theme</vt:lpstr>
      <vt:lpstr>Class 6: Transformers for weather forecasting</vt:lpstr>
      <vt:lpstr>Outline</vt:lpstr>
      <vt:lpstr>Recap &amp; Motivation</vt:lpstr>
      <vt:lpstr>Self‑Attention</vt:lpstr>
      <vt:lpstr>Scaled dot-product attention</vt:lpstr>
      <vt:lpstr>Steps</vt:lpstr>
      <vt:lpstr>Numerical example</vt:lpstr>
      <vt:lpstr>Multi-head attention</vt:lpstr>
      <vt:lpstr>The huge benefit of transformers</vt:lpstr>
      <vt:lpstr>Weather task again</vt:lpstr>
      <vt:lpstr>Sequence preparation</vt:lpstr>
      <vt:lpstr>Transformers by hand</vt:lpstr>
      <vt:lpstr>Training in PyTorch</vt:lpstr>
      <vt:lpstr>Hyperparameters</vt:lpstr>
      <vt:lpstr>Comparison: LSTM vs Transformer</vt:lpstr>
      <vt:lpstr>Pre-training </vt:lpstr>
      <vt:lpstr>Other variants</vt:lpstr>
      <vt:lpstr>Practical tips</vt:lpstr>
      <vt:lpstr>Link with AIFS</vt:lpstr>
      <vt:lpstr>Summary</vt:lpstr>
      <vt:lpstr>PowerPoint Presentation</vt:lpstr>
      <vt:lpstr>Next class</vt:lpstr>
      <vt:lpstr>Afternoon session instructions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Parnell</dc:creator>
  <cp:lastModifiedBy>Andrew Parnell</cp:lastModifiedBy>
  <cp:revision>96</cp:revision>
  <dcterms:created xsi:type="dcterms:W3CDTF">2025-09-24T09:34:21Z</dcterms:created>
  <dcterms:modified xsi:type="dcterms:W3CDTF">2026-02-19T08:57:01Z</dcterms:modified>
</cp:coreProperties>
</file>