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8" r:id="rId3"/>
    <p:sldId id="319" r:id="rId4"/>
    <p:sldId id="320" r:id="rId5"/>
    <p:sldId id="288" r:id="rId6"/>
    <p:sldId id="323" r:id="rId7"/>
    <p:sldId id="317" r:id="rId8"/>
    <p:sldId id="289" r:id="rId9"/>
    <p:sldId id="259" r:id="rId10"/>
    <p:sldId id="260" r:id="rId11"/>
    <p:sldId id="314" r:id="rId12"/>
    <p:sldId id="315" r:id="rId13"/>
    <p:sldId id="266" r:id="rId14"/>
    <p:sldId id="261" r:id="rId15"/>
    <p:sldId id="292" r:id="rId16"/>
    <p:sldId id="262" r:id="rId17"/>
    <p:sldId id="294" r:id="rId18"/>
    <p:sldId id="295" r:id="rId19"/>
    <p:sldId id="296" r:id="rId20"/>
    <p:sldId id="297" r:id="rId21"/>
    <p:sldId id="298" r:id="rId22"/>
    <p:sldId id="299" r:id="rId23"/>
    <p:sldId id="300" r:id="rId24"/>
    <p:sldId id="301" r:id="rId25"/>
    <p:sldId id="302" r:id="rId26"/>
    <p:sldId id="303" r:id="rId27"/>
    <p:sldId id="321" r:id="rId28"/>
    <p:sldId id="322" r:id="rId29"/>
    <p:sldId id="304" r:id="rId30"/>
    <p:sldId id="318" r:id="rId31"/>
    <p:sldId id="305" r:id="rId32"/>
    <p:sldId id="306" r:id="rId33"/>
    <p:sldId id="308" r:id="rId34"/>
    <p:sldId id="309" r:id="rId35"/>
    <p:sldId id="310" r:id="rId36"/>
    <p:sldId id="311" r:id="rId37"/>
    <p:sldId id="312" r:id="rId38"/>
    <p:sldId id="285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27A"/>
    <a:srgbClr val="009749"/>
    <a:srgbClr val="0095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645"/>
  </p:normalViewPr>
  <p:slideViewPr>
    <p:cSldViewPr snapToGrid="0">
      <p:cViewPr varScale="1">
        <p:scale>
          <a:sx n="100" d="100"/>
          <a:sy n="100" d="100"/>
        </p:scale>
        <p:origin x="18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E" sz="1800" b="0" i="0" u="none" strike="noStrike">
                <a:solidFill>
                  <a:srgbClr val="000000"/>
                </a:solidFill>
                <a:latin typeface="Arial"/>
              </a:rPr>
              <a:t>Effect of </a:t>
            </a:r>
            <a:r>
              <a:rPr lang="el-GR" sz="1800" b="0" i="0" u="none" strike="noStrike">
                <a:solidFill>
                  <a:srgbClr val="000000"/>
                </a:solidFill>
                <a:latin typeface="Arial"/>
              </a:rPr>
              <a:t>α </a:t>
            </a:r>
            <a:r>
              <a:rPr lang="en-IE" sz="1800" b="0" i="0" u="none" strike="noStrike">
                <a:solidFill>
                  <a:srgbClr val="000000"/>
                </a:solidFill>
                <a:latin typeface="Arial"/>
              </a:rPr>
              <a:t>on Convergence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Small α</c:v>
                </c:pt>
              </c:strCache>
            </c:strRef>
          </c:tx>
          <c:spPr>
            <a:ln w="25400" cap="flat">
              <a:solidFill>
                <a:srgbClr val="375E9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75E97"/>
              </a:solidFill>
              <a:ln w="9525" cap="flat">
                <a:solidFill>
                  <a:srgbClr val="375E97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100</c:v>
                </c:pt>
                <c:pt idx="1">
                  <c:v>60</c:v>
                </c:pt>
                <c:pt idx="2">
                  <c:v>40</c:v>
                </c:pt>
                <c:pt idx="3">
                  <c:v>30</c:v>
                </c:pt>
                <c:pt idx="4">
                  <c:v>25</c:v>
                </c:pt>
                <c:pt idx="5">
                  <c:v>24</c:v>
                </c:pt>
                <c:pt idx="6">
                  <c:v>23.5</c:v>
                </c:pt>
                <c:pt idx="7">
                  <c:v>23</c:v>
                </c:pt>
                <c:pt idx="8">
                  <c:v>22.8</c:v>
                </c:pt>
                <c:pt idx="9">
                  <c:v>22.7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9FD-1E49-865B-53E9D10F0C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Large α</c:v>
                </c:pt>
              </c:strCache>
            </c:strRef>
          </c:tx>
          <c:spPr>
            <a:ln w="25400" cap="flat">
              <a:solidFill>
                <a:srgbClr val="F0583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05837"/>
              </a:solidFill>
              <a:ln w="9525" cap="flat">
                <a:solidFill>
                  <a:srgbClr val="F05837"/>
                </a:solidFill>
                <a:prstDash val="solid"/>
                <a:round/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100</c:v>
                </c:pt>
                <c:pt idx="1">
                  <c:v>20</c:v>
                </c:pt>
                <c:pt idx="2">
                  <c:v>150</c:v>
                </c:pt>
                <c:pt idx="3">
                  <c:v>50</c:v>
                </c:pt>
                <c:pt idx="4">
                  <c:v>80</c:v>
                </c:pt>
                <c:pt idx="5">
                  <c:v>30</c:v>
                </c:pt>
                <c:pt idx="6">
                  <c:v>40</c:v>
                </c:pt>
                <c:pt idx="7">
                  <c:v>20</c:v>
                </c:pt>
                <c:pt idx="8">
                  <c:v>10</c:v>
                </c:pt>
                <c:pt idx="9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9FD-1E49-865B-53E9D10F0CD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E" b="0" i="0" u="none" strike="noStrike">
                    <a:solidFill>
                      <a:srgbClr val="000000"/>
                    </a:solidFill>
                    <a:latin typeface="Arial"/>
                  </a:rPr>
                  <a:t>Iteration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IE" b="0" i="0" u="none" strike="noStrike">
                    <a:solidFill>
                      <a:srgbClr val="000000"/>
                    </a:solidFill>
                    <a:latin typeface="Arial"/>
                  </a:rPr>
                  <a:t>Loss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B8BED2-D1F4-47CD-A600-632C51F5E028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DF0D650-7AEE-425B-9DF3-C4F6D0FAEAF0}">
      <dgm:prSet/>
      <dgm:spPr>
        <a:solidFill>
          <a:srgbClr val="00427A"/>
        </a:solidFill>
        <a:ln>
          <a:noFill/>
        </a:ln>
      </dgm:spPr>
      <dgm:t>
        <a:bodyPr/>
        <a:lstStyle/>
        <a:p>
          <a:r>
            <a:rPr lang="en-US" dirty="0"/>
            <a:t>Learn to build and evaluate ML models for weather forecasting for use in your research</a:t>
          </a:r>
        </a:p>
      </dgm:t>
    </dgm:pt>
    <dgm:pt modelId="{CD38BC38-8900-46CE-ACC6-429681AAFC4B}" type="parTrans" cxnId="{04D02288-DB36-41E6-BCDD-E581458DF15F}">
      <dgm:prSet/>
      <dgm:spPr/>
      <dgm:t>
        <a:bodyPr/>
        <a:lstStyle/>
        <a:p>
          <a:endParaRPr lang="en-US"/>
        </a:p>
      </dgm:t>
    </dgm:pt>
    <dgm:pt modelId="{C8E2BEE5-3AF4-4AAC-B140-A8A8BF55BB8C}" type="sibTrans" cxnId="{04D02288-DB36-41E6-BCDD-E581458DF15F}">
      <dgm:prSet phldrT="01" phldr="0"/>
      <dgm:spPr/>
      <dgm:t>
        <a:bodyPr/>
        <a:lstStyle/>
        <a:p>
          <a:r>
            <a:rPr lang="en-US"/>
            <a:t>01</a:t>
          </a:r>
          <a:endParaRPr lang="en-US" dirty="0"/>
        </a:p>
      </dgm:t>
    </dgm:pt>
    <dgm:pt modelId="{F722D835-B117-48B9-B65B-033F493AEA25}">
      <dgm:prSet/>
      <dgm:spPr>
        <a:solidFill>
          <a:srgbClr val="009749"/>
        </a:solidFill>
        <a:ln>
          <a:noFill/>
        </a:ln>
      </dgm:spPr>
      <dgm:t>
        <a:bodyPr/>
        <a:lstStyle/>
        <a:p>
          <a:r>
            <a:rPr lang="en-US"/>
            <a:t>Understand what the models are doing in the background so that you can extend them</a:t>
          </a:r>
        </a:p>
      </dgm:t>
    </dgm:pt>
    <dgm:pt modelId="{BA7A5A3A-9F79-4373-9EC2-065BF136DDDE}" type="parTrans" cxnId="{008C6FC1-C8A1-4FDE-BB2A-8B065680DBCC}">
      <dgm:prSet/>
      <dgm:spPr/>
      <dgm:t>
        <a:bodyPr/>
        <a:lstStyle/>
        <a:p>
          <a:endParaRPr lang="en-US"/>
        </a:p>
      </dgm:t>
    </dgm:pt>
    <dgm:pt modelId="{B3152D6C-71A9-4F33-83A4-76C68B8ACE93}" type="sibTrans" cxnId="{008C6FC1-C8A1-4FDE-BB2A-8B065680DBCC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A1279308-7B81-4C49-8358-C9C64D57DC5D}">
      <dgm:prSet/>
      <dgm:spPr>
        <a:solidFill>
          <a:srgbClr val="00959F"/>
        </a:solidFill>
        <a:ln>
          <a:noFill/>
        </a:ln>
      </dgm:spPr>
      <dgm:t>
        <a:bodyPr/>
        <a:lstStyle/>
        <a:p>
          <a:r>
            <a:rPr lang="en-US" dirty="0"/>
            <a:t>Work with real meteorological datasets from e.g. the Climate Data Store</a:t>
          </a:r>
        </a:p>
      </dgm:t>
    </dgm:pt>
    <dgm:pt modelId="{B4AF5776-7FB7-42C0-8826-69AF3735E8AD}" type="parTrans" cxnId="{272E4991-24A5-41D5-B5CC-593177BAFF8E}">
      <dgm:prSet/>
      <dgm:spPr/>
      <dgm:t>
        <a:bodyPr/>
        <a:lstStyle/>
        <a:p>
          <a:endParaRPr lang="en-US"/>
        </a:p>
      </dgm:t>
    </dgm:pt>
    <dgm:pt modelId="{A0DD7E18-D529-4841-8090-D4E136E60FDC}" type="sibTrans" cxnId="{272E4991-24A5-41D5-B5CC-593177BAFF8E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4101E194-7FED-BA40-A92E-300E402F64A0}" type="pres">
      <dgm:prSet presAssocID="{71B8BED2-D1F4-47CD-A600-632C51F5E028}" presName="Name0" presStyleCnt="0">
        <dgm:presLayoutVars>
          <dgm:animLvl val="lvl"/>
          <dgm:resizeHandles val="exact"/>
        </dgm:presLayoutVars>
      </dgm:prSet>
      <dgm:spPr/>
    </dgm:pt>
    <dgm:pt modelId="{BC3F38A0-C7C7-E748-8886-B110FD0859E9}" type="pres">
      <dgm:prSet presAssocID="{7DF0D650-7AEE-425B-9DF3-C4F6D0FAEAF0}" presName="compositeNode" presStyleCnt="0">
        <dgm:presLayoutVars>
          <dgm:bulletEnabled val="1"/>
        </dgm:presLayoutVars>
      </dgm:prSet>
      <dgm:spPr/>
    </dgm:pt>
    <dgm:pt modelId="{629DADDF-CD7E-B34F-8073-436B27DCA6B0}" type="pres">
      <dgm:prSet presAssocID="{7DF0D650-7AEE-425B-9DF3-C4F6D0FAEAF0}" presName="bgRect" presStyleLbl="alignNode1" presStyleIdx="0" presStyleCnt="3"/>
      <dgm:spPr/>
    </dgm:pt>
    <dgm:pt modelId="{AF5BBA6B-6FC8-6D46-8691-C6B98DD2A28A}" type="pres">
      <dgm:prSet presAssocID="{C8E2BEE5-3AF4-4AAC-B140-A8A8BF55BB8C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283796CA-EC71-DE4C-9D0A-A6C9CD68901E}" type="pres">
      <dgm:prSet presAssocID="{7DF0D650-7AEE-425B-9DF3-C4F6D0FAEAF0}" presName="nodeRect" presStyleLbl="alignNode1" presStyleIdx="0" presStyleCnt="3">
        <dgm:presLayoutVars>
          <dgm:bulletEnabled val="1"/>
        </dgm:presLayoutVars>
      </dgm:prSet>
      <dgm:spPr/>
    </dgm:pt>
    <dgm:pt modelId="{74AA9172-C599-D043-BFFE-B2D35B9181C7}" type="pres">
      <dgm:prSet presAssocID="{C8E2BEE5-3AF4-4AAC-B140-A8A8BF55BB8C}" presName="sibTrans" presStyleCnt="0"/>
      <dgm:spPr/>
    </dgm:pt>
    <dgm:pt modelId="{407DE072-DA84-3546-A201-D936C8A75273}" type="pres">
      <dgm:prSet presAssocID="{F722D835-B117-48B9-B65B-033F493AEA25}" presName="compositeNode" presStyleCnt="0">
        <dgm:presLayoutVars>
          <dgm:bulletEnabled val="1"/>
        </dgm:presLayoutVars>
      </dgm:prSet>
      <dgm:spPr/>
    </dgm:pt>
    <dgm:pt modelId="{701FD564-57B3-8249-9FEF-00608BDAC407}" type="pres">
      <dgm:prSet presAssocID="{F722D835-B117-48B9-B65B-033F493AEA25}" presName="bgRect" presStyleLbl="alignNode1" presStyleIdx="1" presStyleCnt="3"/>
      <dgm:spPr/>
    </dgm:pt>
    <dgm:pt modelId="{36D27448-1ED2-5845-A2C3-11BCECD53E53}" type="pres">
      <dgm:prSet presAssocID="{B3152D6C-71A9-4F33-83A4-76C68B8ACE93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F7F5D824-6F48-1949-9562-7AABCB472EE7}" type="pres">
      <dgm:prSet presAssocID="{F722D835-B117-48B9-B65B-033F493AEA25}" presName="nodeRect" presStyleLbl="alignNode1" presStyleIdx="1" presStyleCnt="3">
        <dgm:presLayoutVars>
          <dgm:bulletEnabled val="1"/>
        </dgm:presLayoutVars>
      </dgm:prSet>
      <dgm:spPr/>
    </dgm:pt>
    <dgm:pt modelId="{C61B94DA-D639-A24E-B4E1-ABACCB0842B4}" type="pres">
      <dgm:prSet presAssocID="{B3152D6C-71A9-4F33-83A4-76C68B8ACE93}" presName="sibTrans" presStyleCnt="0"/>
      <dgm:spPr/>
    </dgm:pt>
    <dgm:pt modelId="{E2729637-239A-5441-8DC3-1E73D2F79916}" type="pres">
      <dgm:prSet presAssocID="{A1279308-7B81-4C49-8358-C9C64D57DC5D}" presName="compositeNode" presStyleCnt="0">
        <dgm:presLayoutVars>
          <dgm:bulletEnabled val="1"/>
        </dgm:presLayoutVars>
      </dgm:prSet>
      <dgm:spPr/>
    </dgm:pt>
    <dgm:pt modelId="{66E25734-B316-8F4E-B22C-D1D2451737A6}" type="pres">
      <dgm:prSet presAssocID="{A1279308-7B81-4C49-8358-C9C64D57DC5D}" presName="bgRect" presStyleLbl="alignNode1" presStyleIdx="2" presStyleCnt="3"/>
      <dgm:spPr/>
    </dgm:pt>
    <dgm:pt modelId="{AD8C50C8-5B8C-974B-BF7D-A5DFE98C9C44}" type="pres">
      <dgm:prSet presAssocID="{A0DD7E18-D529-4841-8090-D4E136E60FDC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051F56D7-A696-F54C-931B-017B716A204E}" type="pres">
      <dgm:prSet presAssocID="{A1279308-7B81-4C49-8358-C9C64D57DC5D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350A7D4C-1B1B-CE4A-9A0E-0FDD87DF6999}" type="presOf" srcId="{B3152D6C-71A9-4F33-83A4-76C68B8ACE93}" destId="{36D27448-1ED2-5845-A2C3-11BCECD53E53}" srcOrd="0" destOrd="0" presId="urn:microsoft.com/office/officeart/2016/7/layout/LinearBlockProcessNumbered"/>
    <dgm:cxn modelId="{F8F2BB7A-AE03-4045-8202-CC202AD9AA94}" type="presOf" srcId="{A1279308-7B81-4C49-8358-C9C64D57DC5D}" destId="{66E25734-B316-8F4E-B22C-D1D2451737A6}" srcOrd="0" destOrd="0" presId="urn:microsoft.com/office/officeart/2016/7/layout/LinearBlockProcessNumbered"/>
    <dgm:cxn modelId="{E5937580-C884-1C4F-B0D4-97953373B677}" type="presOf" srcId="{71B8BED2-D1F4-47CD-A600-632C51F5E028}" destId="{4101E194-7FED-BA40-A92E-300E402F64A0}" srcOrd="0" destOrd="0" presId="urn:microsoft.com/office/officeart/2016/7/layout/LinearBlockProcessNumbered"/>
    <dgm:cxn modelId="{945E9087-8DA0-F842-96DD-932084DDFABF}" type="presOf" srcId="{7DF0D650-7AEE-425B-9DF3-C4F6D0FAEAF0}" destId="{283796CA-EC71-DE4C-9D0A-A6C9CD68901E}" srcOrd="1" destOrd="0" presId="urn:microsoft.com/office/officeart/2016/7/layout/LinearBlockProcessNumbered"/>
    <dgm:cxn modelId="{04D02288-DB36-41E6-BCDD-E581458DF15F}" srcId="{71B8BED2-D1F4-47CD-A600-632C51F5E028}" destId="{7DF0D650-7AEE-425B-9DF3-C4F6D0FAEAF0}" srcOrd="0" destOrd="0" parTransId="{CD38BC38-8900-46CE-ACC6-429681AAFC4B}" sibTransId="{C8E2BEE5-3AF4-4AAC-B140-A8A8BF55BB8C}"/>
    <dgm:cxn modelId="{272E4991-24A5-41D5-B5CC-593177BAFF8E}" srcId="{71B8BED2-D1F4-47CD-A600-632C51F5E028}" destId="{A1279308-7B81-4C49-8358-C9C64D57DC5D}" srcOrd="2" destOrd="0" parTransId="{B4AF5776-7FB7-42C0-8826-69AF3735E8AD}" sibTransId="{A0DD7E18-D529-4841-8090-D4E136E60FDC}"/>
    <dgm:cxn modelId="{232DE291-A5CD-A649-86D8-D372DE62CD77}" type="presOf" srcId="{A0DD7E18-D529-4841-8090-D4E136E60FDC}" destId="{AD8C50C8-5B8C-974B-BF7D-A5DFE98C9C44}" srcOrd="0" destOrd="0" presId="urn:microsoft.com/office/officeart/2016/7/layout/LinearBlockProcessNumbered"/>
    <dgm:cxn modelId="{008C6FC1-C8A1-4FDE-BB2A-8B065680DBCC}" srcId="{71B8BED2-D1F4-47CD-A600-632C51F5E028}" destId="{F722D835-B117-48B9-B65B-033F493AEA25}" srcOrd="1" destOrd="0" parTransId="{BA7A5A3A-9F79-4373-9EC2-065BF136DDDE}" sibTransId="{B3152D6C-71A9-4F33-83A4-76C68B8ACE93}"/>
    <dgm:cxn modelId="{7F0D6FC3-3C63-3B4D-89C9-4F84BA9A7204}" type="presOf" srcId="{A1279308-7B81-4C49-8358-C9C64D57DC5D}" destId="{051F56D7-A696-F54C-931B-017B716A204E}" srcOrd="1" destOrd="0" presId="urn:microsoft.com/office/officeart/2016/7/layout/LinearBlockProcessNumbered"/>
    <dgm:cxn modelId="{DA12ACC5-9D30-924E-9505-C564B73D0DC7}" type="presOf" srcId="{F722D835-B117-48B9-B65B-033F493AEA25}" destId="{F7F5D824-6F48-1949-9562-7AABCB472EE7}" srcOrd="1" destOrd="0" presId="urn:microsoft.com/office/officeart/2016/7/layout/LinearBlockProcessNumbered"/>
    <dgm:cxn modelId="{3CA054CA-2869-AF42-9BF4-12CDA02BFE1B}" type="presOf" srcId="{7DF0D650-7AEE-425B-9DF3-C4F6D0FAEAF0}" destId="{629DADDF-CD7E-B34F-8073-436B27DCA6B0}" srcOrd="0" destOrd="0" presId="urn:microsoft.com/office/officeart/2016/7/layout/LinearBlockProcessNumbered"/>
    <dgm:cxn modelId="{75A4B7E8-8491-2243-A930-3AA18EFD5897}" type="presOf" srcId="{C8E2BEE5-3AF4-4AAC-B140-A8A8BF55BB8C}" destId="{AF5BBA6B-6FC8-6D46-8691-C6B98DD2A28A}" srcOrd="0" destOrd="0" presId="urn:microsoft.com/office/officeart/2016/7/layout/LinearBlockProcessNumbered"/>
    <dgm:cxn modelId="{98A6AFEC-8917-AB42-8DEF-98E9C62D68B1}" type="presOf" srcId="{F722D835-B117-48B9-B65B-033F493AEA25}" destId="{701FD564-57B3-8249-9FEF-00608BDAC407}" srcOrd="0" destOrd="0" presId="urn:microsoft.com/office/officeart/2016/7/layout/LinearBlockProcessNumbered"/>
    <dgm:cxn modelId="{832AC815-2D56-FA43-80B6-0F76E279D62F}" type="presParOf" srcId="{4101E194-7FED-BA40-A92E-300E402F64A0}" destId="{BC3F38A0-C7C7-E748-8886-B110FD0859E9}" srcOrd="0" destOrd="0" presId="urn:microsoft.com/office/officeart/2016/7/layout/LinearBlockProcessNumbered"/>
    <dgm:cxn modelId="{CEC4C172-90DD-5048-BF43-ABF46AC54730}" type="presParOf" srcId="{BC3F38A0-C7C7-E748-8886-B110FD0859E9}" destId="{629DADDF-CD7E-B34F-8073-436B27DCA6B0}" srcOrd="0" destOrd="0" presId="urn:microsoft.com/office/officeart/2016/7/layout/LinearBlockProcessNumbered"/>
    <dgm:cxn modelId="{1A6C90A8-8D61-124D-92F0-A316D4EF7128}" type="presParOf" srcId="{BC3F38A0-C7C7-E748-8886-B110FD0859E9}" destId="{AF5BBA6B-6FC8-6D46-8691-C6B98DD2A28A}" srcOrd="1" destOrd="0" presId="urn:microsoft.com/office/officeart/2016/7/layout/LinearBlockProcessNumbered"/>
    <dgm:cxn modelId="{37DDF70C-455A-7F42-A6DE-1506929DDBDC}" type="presParOf" srcId="{BC3F38A0-C7C7-E748-8886-B110FD0859E9}" destId="{283796CA-EC71-DE4C-9D0A-A6C9CD68901E}" srcOrd="2" destOrd="0" presId="urn:microsoft.com/office/officeart/2016/7/layout/LinearBlockProcessNumbered"/>
    <dgm:cxn modelId="{C454D723-1755-0F42-AB92-304400A3E884}" type="presParOf" srcId="{4101E194-7FED-BA40-A92E-300E402F64A0}" destId="{74AA9172-C599-D043-BFFE-B2D35B9181C7}" srcOrd="1" destOrd="0" presId="urn:microsoft.com/office/officeart/2016/7/layout/LinearBlockProcessNumbered"/>
    <dgm:cxn modelId="{A17E6BC6-8D06-5148-BA26-4A18E5EF73BA}" type="presParOf" srcId="{4101E194-7FED-BA40-A92E-300E402F64A0}" destId="{407DE072-DA84-3546-A201-D936C8A75273}" srcOrd="2" destOrd="0" presId="urn:microsoft.com/office/officeart/2016/7/layout/LinearBlockProcessNumbered"/>
    <dgm:cxn modelId="{7D6D0E8F-2929-1040-AEFB-78BF90AF7CA0}" type="presParOf" srcId="{407DE072-DA84-3546-A201-D936C8A75273}" destId="{701FD564-57B3-8249-9FEF-00608BDAC407}" srcOrd="0" destOrd="0" presId="urn:microsoft.com/office/officeart/2016/7/layout/LinearBlockProcessNumbered"/>
    <dgm:cxn modelId="{C21D9F24-9EA7-3241-9D72-4727FF9FF9D2}" type="presParOf" srcId="{407DE072-DA84-3546-A201-D936C8A75273}" destId="{36D27448-1ED2-5845-A2C3-11BCECD53E53}" srcOrd="1" destOrd="0" presId="urn:microsoft.com/office/officeart/2016/7/layout/LinearBlockProcessNumbered"/>
    <dgm:cxn modelId="{11BFBA38-9239-4045-8058-08D64DDBDED1}" type="presParOf" srcId="{407DE072-DA84-3546-A201-D936C8A75273}" destId="{F7F5D824-6F48-1949-9562-7AABCB472EE7}" srcOrd="2" destOrd="0" presId="urn:microsoft.com/office/officeart/2016/7/layout/LinearBlockProcessNumbered"/>
    <dgm:cxn modelId="{73387B59-21B2-6746-975D-C14AA242B583}" type="presParOf" srcId="{4101E194-7FED-BA40-A92E-300E402F64A0}" destId="{C61B94DA-D639-A24E-B4E1-ABACCB0842B4}" srcOrd="3" destOrd="0" presId="urn:microsoft.com/office/officeart/2016/7/layout/LinearBlockProcessNumbered"/>
    <dgm:cxn modelId="{2FA7C324-CC2F-FE45-BFFF-8C548F2F7133}" type="presParOf" srcId="{4101E194-7FED-BA40-A92E-300E402F64A0}" destId="{E2729637-239A-5441-8DC3-1E73D2F79916}" srcOrd="4" destOrd="0" presId="urn:microsoft.com/office/officeart/2016/7/layout/LinearBlockProcessNumbered"/>
    <dgm:cxn modelId="{B2E54591-7DC4-6E40-AC31-DAA69CEF7238}" type="presParOf" srcId="{E2729637-239A-5441-8DC3-1E73D2F79916}" destId="{66E25734-B316-8F4E-B22C-D1D2451737A6}" srcOrd="0" destOrd="0" presId="urn:microsoft.com/office/officeart/2016/7/layout/LinearBlockProcessNumbered"/>
    <dgm:cxn modelId="{2C053050-4F0F-504F-8122-9068737CB7C3}" type="presParOf" srcId="{E2729637-239A-5441-8DC3-1E73D2F79916}" destId="{AD8C50C8-5B8C-974B-BF7D-A5DFE98C9C44}" srcOrd="1" destOrd="0" presId="urn:microsoft.com/office/officeart/2016/7/layout/LinearBlockProcessNumbered"/>
    <dgm:cxn modelId="{3A300C72-0127-E240-B1FB-04B17A9E6553}" type="presParOf" srcId="{E2729637-239A-5441-8DC3-1E73D2F79916}" destId="{051F56D7-A696-F54C-931B-017B716A204E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9DADDF-CD7E-B34F-8073-436B27DCA6B0}">
      <dsp:nvSpPr>
        <dsp:cNvPr id="0" name=""/>
        <dsp:cNvSpPr/>
      </dsp:nvSpPr>
      <dsp:spPr>
        <a:xfrm>
          <a:off x="853" y="0"/>
          <a:ext cx="3457295" cy="3689350"/>
        </a:xfrm>
        <a:prstGeom prst="rect">
          <a:avLst/>
        </a:prstGeom>
        <a:solidFill>
          <a:srgbClr val="00427A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04" tIns="0" rIns="341504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Learn to build and evaluate ML models for weather forecasting for use in your research</a:t>
          </a:r>
        </a:p>
      </dsp:txBody>
      <dsp:txXfrm>
        <a:off x="853" y="1475740"/>
        <a:ext cx="3457295" cy="2213610"/>
      </dsp:txXfrm>
    </dsp:sp>
    <dsp:sp modelId="{AF5BBA6B-6FC8-6D46-8691-C6B98DD2A28A}">
      <dsp:nvSpPr>
        <dsp:cNvPr id="0" name=""/>
        <dsp:cNvSpPr/>
      </dsp:nvSpPr>
      <dsp:spPr>
        <a:xfrm>
          <a:off x="853" y="0"/>
          <a:ext cx="3457295" cy="147574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04" tIns="165100" rIns="34150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  <a:endParaRPr lang="en-US" sz="6600" kern="1200" dirty="0"/>
        </a:p>
      </dsp:txBody>
      <dsp:txXfrm>
        <a:off x="853" y="0"/>
        <a:ext cx="3457295" cy="1475740"/>
      </dsp:txXfrm>
    </dsp:sp>
    <dsp:sp modelId="{701FD564-57B3-8249-9FEF-00608BDAC407}">
      <dsp:nvSpPr>
        <dsp:cNvPr id="0" name=""/>
        <dsp:cNvSpPr/>
      </dsp:nvSpPr>
      <dsp:spPr>
        <a:xfrm>
          <a:off x="3734733" y="0"/>
          <a:ext cx="3457295" cy="3689350"/>
        </a:xfrm>
        <a:prstGeom prst="rect">
          <a:avLst/>
        </a:prstGeom>
        <a:solidFill>
          <a:srgbClr val="009749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04" tIns="0" rIns="341504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Understand what the models are doing in the background so that you can extend them</a:t>
          </a:r>
        </a:p>
      </dsp:txBody>
      <dsp:txXfrm>
        <a:off x="3734733" y="1475740"/>
        <a:ext cx="3457295" cy="2213610"/>
      </dsp:txXfrm>
    </dsp:sp>
    <dsp:sp modelId="{36D27448-1ED2-5845-A2C3-11BCECD53E53}">
      <dsp:nvSpPr>
        <dsp:cNvPr id="0" name=""/>
        <dsp:cNvSpPr/>
      </dsp:nvSpPr>
      <dsp:spPr>
        <a:xfrm>
          <a:off x="3734733" y="0"/>
          <a:ext cx="3457295" cy="147574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04" tIns="165100" rIns="34150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3734733" y="0"/>
        <a:ext cx="3457295" cy="1475740"/>
      </dsp:txXfrm>
    </dsp:sp>
    <dsp:sp modelId="{66E25734-B316-8F4E-B22C-D1D2451737A6}">
      <dsp:nvSpPr>
        <dsp:cNvPr id="0" name=""/>
        <dsp:cNvSpPr/>
      </dsp:nvSpPr>
      <dsp:spPr>
        <a:xfrm>
          <a:off x="7468612" y="0"/>
          <a:ext cx="3457295" cy="3689350"/>
        </a:xfrm>
        <a:prstGeom prst="rect">
          <a:avLst/>
        </a:prstGeom>
        <a:solidFill>
          <a:srgbClr val="00959F"/>
        </a:solid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04" tIns="0" rIns="341504" bIns="33020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Work with real meteorological datasets from e.g. the Climate Data Store</a:t>
          </a:r>
        </a:p>
      </dsp:txBody>
      <dsp:txXfrm>
        <a:off x="7468612" y="1475740"/>
        <a:ext cx="3457295" cy="2213610"/>
      </dsp:txXfrm>
    </dsp:sp>
    <dsp:sp modelId="{AD8C50C8-5B8C-974B-BF7D-A5DFE98C9C44}">
      <dsp:nvSpPr>
        <dsp:cNvPr id="0" name=""/>
        <dsp:cNvSpPr/>
      </dsp:nvSpPr>
      <dsp:spPr>
        <a:xfrm>
          <a:off x="7468612" y="0"/>
          <a:ext cx="3457295" cy="1475740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1504" tIns="165100" rIns="341504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7468612" y="0"/>
        <a:ext cx="3457295" cy="14757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5685EE-3D40-0A4E-BB88-46887330FC0A}" type="datetimeFigureOut">
              <a:rPr lang="en-US" smtClean="0"/>
              <a:t>2/23/26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752F2A-FA59-1746-ABA5-28C394E5ED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25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How would you rate your Python skills?</a:t>
            </a:r>
          </a:p>
          <a:p>
            <a:r>
              <a:rPr lang="en-US"/>
              <a:t>https://www.polleverywhere.com/multiple_choice_polls/ke0F7V1qXKkGTR3kaJFc2?state=opened&amp;flow=Default&amp;onscreen=persist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5784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How would you rate your Machine Learning / AI skills?</a:t>
            </a:r>
          </a:p>
          <a:p>
            <a:r>
              <a:rPr lang="en-US"/>
              <a:t>https://www.polleverywhere.com/multiple_choice_polls/hWsbco8TWVs02D6zeGQK2?state=opened&amp;flow=Default&amp;onscreen=persist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4672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16AF13-2809-9544-9651-1E9FCBB11C9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2023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73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Do not modify the notes in this section to avoid tampering with the Poll Everywhere activity.
More info at polleverywhere.com/support
Imagine a 2D contour plot of the Loss Surface with weight (w) and bias (b) as axes. If the current parameters are on a very steep part of the surface, what does this tell us about the gradients?</a:t>
            </a:r>
          </a:p>
          <a:p>
            <a:r>
              <a:rPr lang="en-US"/>
              <a:t>https://www.polleverywhere.com/multiple_choice_polls/Nl64SB8F6W7j9Limp1MDf?state=opened&amp;flow=Default&amp;onscreen=persist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3553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modify the notes in this section to avoid tampering with the Poll Everywhere activity.
More info at </a:t>
            </a:r>
            <a:r>
              <a:rPr lang="en-US" dirty="0" err="1"/>
              <a:t>polleverywhere.com</a:t>
            </a:r>
            <a:r>
              <a:rPr lang="en-US" dirty="0"/>
              <a:t>/support
Current weight w = 2.0 and bias b = 4.0. The gradients are dL/</a:t>
            </a:r>
            <a:r>
              <a:rPr lang="en-US" dirty="0" err="1"/>
              <a:t>dw</a:t>
            </a:r>
            <a:r>
              <a:rPr lang="en-US" dirty="0"/>
              <a:t> = 0.5 and dL/</a:t>
            </a:r>
            <a:r>
              <a:rPr lang="en-US" dirty="0" err="1"/>
              <a:t>db</a:t>
            </a:r>
            <a:r>
              <a:rPr lang="en-US" dirty="0"/>
              <a:t> = -1.0. If the learning rate is 0.1, what are the new values for w and b after one gradient descent step?</a:t>
            </a:r>
          </a:p>
          <a:p>
            <a:r>
              <a:rPr lang="en-US" dirty="0"/>
              <a:t>https://</a:t>
            </a:r>
            <a:r>
              <a:rPr lang="en-US" dirty="0" err="1"/>
              <a:t>www.polleverywhere.com</a:t>
            </a:r>
            <a:r>
              <a:rPr lang="en-US" dirty="0"/>
              <a:t>/</a:t>
            </a:r>
            <a:r>
              <a:rPr lang="en-US" dirty="0" err="1"/>
              <a:t>multiple_choice_polls</a:t>
            </a:r>
            <a:r>
              <a:rPr lang="en-US" dirty="0"/>
              <a:t>/OrixocTkLIB9GXI5DFJxH?state=</a:t>
            </a:r>
            <a:r>
              <a:rPr lang="en-US" dirty="0" err="1"/>
              <a:t>opened&amp;flow</a:t>
            </a:r>
            <a:r>
              <a:rPr lang="en-US" dirty="0"/>
              <a:t>=</a:t>
            </a:r>
            <a:r>
              <a:rPr lang="en-US" dirty="0" err="1"/>
              <a:t>Default&amp;onscreen</a:t>
            </a:r>
            <a:r>
              <a:rPr lang="en-US" dirty="0"/>
              <a:t>=persist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9235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$w_{new} = 2.0 - (0.1 \times 0.5) = 1.95$</a:t>
            </a:r>
          </a:p>
          <a:p>
            <a:r>
              <a:rPr lang="en-I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$b_{new} = 4.0 - (0.1 \times -1.0) = 4.1$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52F2A-FA59-1746-ABA5-28C394E5ED0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316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Colou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63CE9-5A18-2F6D-2BDB-54024EE575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5570" y="4184850"/>
            <a:ext cx="9144000" cy="816192"/>
          </a:xfrm>
        </p:spPr>
        <p:txBody>
          <a:bodyPr anchor="b">
            <a:normAutofit/>
          </a:bodyPr>
          <a:lstStyle>
            <a:lvl1pPr algn="l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2FBF90-A221-6D5D-A217-46B8FEF4EBA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75570" y="5137738"/>
            <a:ext cx="9144000" cy="661812"/>
          </a:xfrm>
        </p:spPr>
        <p:txBody>
          <a:bodyPr>
            <a:normAutofit/>
          </a:bodyPr>
          <a:lstStyle>
            <a:lvl1pPr marL="0" indent="0" algn="l">
              <a:buNone/>
              <a:defRPr sz="35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Andrew Parnell</a:t>
            </a:r>
            <a:endParaRPr lang="en-US" dirty="0"/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19BF7E5-ED45-E4D7-8DD2-E8A3757D1F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5570" y="5901563"/>
            <a:ext cx="4077660" cy="36512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16F2FB5F-D553-C945-B874-A642CC0C851F}" type="datetime3">
              <a:rPr lang="en-IE" smtClean="0"/>
              <a:pPr/>
              <a:t>23 February 2026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48403D-CA02-EE11-96CC-8E09913F647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5570" y="682730"/>
            <a:ext cx="4921049" cy="3023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987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63CE9-5A18-2F6D-2BDB-54024EE575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5570" y="4184850"/>
            <a:ext cx="9144000" cy="816192"/>
          </a:xfrm>
        </p:spPr>
        <p:txBody>
          <a:bodyPr anchor="b">
            <a:normAutofit/>
          </a:bodyPr>
          <a:lstStyle>
            <a:lvl1pPr algn="l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2FBF90-A221-6D5D-A217-46B8FEF4EBA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75570" y="5137738"/>
            <a:ext cx="9144000" cy="661812"/>
          </a:xfrm>
        </p:spPr>
        <p:txBody>
          <a:bodyPr>
            <a:normAutofit/>
          </a:bodyPr>
          <a:lstStyle>
            <a:lvl1pPr marL="0" indent="0" algn="l">
              <a:buNone/>
              <a:defRPr sz="35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Andrew Parnell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95EAAC-03A2-8D88-C693-5373EC4D999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75570" y="661140"/>
            <a:ext cx="4921049" cy="3023526"/>
          </a:xfrm>
          <a:prstGeom prst="rect">
            <a:avLst/>
          </a:prstGeom>
        </p:spPr>
      </p:pic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19BF7E5-ED45-E4D7-8DD2-E8A3757D1F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5570" y="5901563"/>
            <a:ext cx="4077660" cy="36512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16F2FB5F-D553-C945-B874-A642CC0C851F}" type="datetime3">
              <a:rPr lang="en-IE" smtClean="0"/>
              <a:pPr/>
              <a:t>23 February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839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63CE9-5A18-2F6D-2BDB-54024EE575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5570" y="4184850"/>
            <a:ext cx="9144000" cy="816192"/>
          </a:xfrm>
        </p:spPr>
        <p:txBody>
          <a:bodyPr anchor="b">
            <a:normAutofit/>
          </a:bodyPr>
          <a:lstStyle>
            <a:lvl1pPr algn="l">
              <a:defRPr sz="4500">
                <a:solidFill>
                  <a:srgbClr val="00959F"/>
                </a:solidFill>
              </a:defRPr>
            </a:lvl1pPr>
          </a:lstStyle>
          <a:p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2FBF90-A221-6D5D-A217-46B8FEF4EBA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75570" y="5137738"/>
            <a:ext cx="9144000" cy="661812"/>
          </a:xfrm>
        </p:spPr>
        <p:txBody>
          <a:bodyPr>
            <a:normAutofit/>
          </a:bodyPr>
          <a:lstStyle>
            <a:lvl1pPr marL="0" indent="0" algn="l">
              <a:buNone/>
              <a:defRPr sz="3500">
                <a:solidFill>
                  <a:srgbClr val="00427A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Andrew Parnell</a:t>
            </a:r>
            <a:endParaRPr lang="en-US" dirty="0"/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C19BF7E5-ED45-E4D7-8DD2-E8A3757D1F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5570" y="5901563"/>
            <a:ext cx="4077660" cy="365125"/>
          </a:xfrm>
        </p:spPr>
        <p:txBody>
          <a:bodyPr/>
          <a:lstStyle>
            <a:lvl1pPr>
              <a:defRPr sz="2000">
                <a:solidFill>
                  <a:srgbClr val="00427A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16F2FB5F-D553-C945-B874-A642CC0C851F}" type="datetime3">
              <a:rPr lang="en-IE" smtClean="0"/>
              <a:pPr/>
              <a:t>23 February 2026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E57DE2-DEBB-B17B-3186-6B7F239D4C1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70858" y="764010"/>
            <a:ext cx="4921049" cy="302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366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936AE-C30A-53BD-4925-C496BE6C4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265C0-0ACE-3E63-95B9-D176766F2E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070AD6-AAEF-8A4F-2919-ED9A3F9B5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690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F2AFB-F4C4-719F-41DE-8454632EB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835495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AA946-8443-8B80-0497-6EB6FAAD0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8A09E1-70FE-9852-483A-38FAC966D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96900-CA2A-2D43-9641-C5C0DD2D22D3}" type="datetime3">
              <a:rPr lang="en-IE" smtClean="0"/>
              <a:t>23 February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A71E3E-2DD5-AE03-E092-6934E2C4A0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E6B2A-3B08-3B49-5EC6-5F1CF60C6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883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0CB63-89BA-5DA1-ABAC-95F644463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EC219-68C6-906B-6B38-F56C88CEA6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55E0A4-A8B0-2CA7-E857-19478981F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FCDAEB-ECE1-93D0-4968-B0F78E228E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1A910-F8E0-D541-83F2-2CFD6E718762}" type="datetime3">
              <a:rPr lang="en-IE" smtClean="0"/>
              <a:t>23 February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34EDF8-107F-48D4-9168-408544498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D97297-368B-D76D-B573-F2EA9B4F5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390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E21E6-E145-FB62-1B42-F05F62D34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EC9051-66F9-6E83-2AFF-2DEEFE390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45B59-D3F3-5B43-BDD1-6C7B7CFD2AA6}" type="datetime3">
              <a:rPr lang="en-IE" smtClean="0"/>
              <a:t>23 February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FA92D5-85D4-798F-6073-C1BBC39E8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41B856-F9DF-6501-6837-20D15C2FC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700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92D247-1B5B-5B1D-21E6-0237F292C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77DDCF-3644-8C44-AE36-2C59F897E125}" type="datetime3">
              <a:rPr lang="en-IE" smtClean="0"/>
              <a:t>23 February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6B62E2-EFD1-BADE-5ADC-CDA692DD3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CE0D8-9D28-4B5B-E0D8-6FD104DED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22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oint Turquios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2CE0D8-9D28-4B5B-E0D8-6FD104DED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A064C77-022D-3743-A04E-645624933D1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08B8ED-D310-53BD-6BF7-B80F6B548FE2}"/>
              </a:ext>
            </a:extLst>
          </p:cNvPr>
          <p:cNvSpPr txBox="1"/>
          <p:nvPr userDrawn="1"/>
        </p:nvSpPr>
        <p:spPr>
          <a:xfrm>
            <a:off x="870860" y="1262017"/>
            <a:ext cx="7380512" cy="4632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>
                <a:solidFill>
                  <a:schemeClr val="bg1"/>
                </a:solidFill>
              </a:rPr>
              <a:t>Headline</a:t>
            </a:r>
          </a:p>
          <a:p>
            <a:r>
              <a:rPr lang="en-US" sz="2500" dirty="0">
                <a:solidFill>
                  <a:schemeClr val="bg1"/>
                </a:solidFill>
              </a:rPr>
              <a:t>Lorem ipsum dolor sit </a:t>
            </a:r>
            <a:r>
              <a:rPr lang="en-US" sz="2500" dirty="0" err="1">
                <a:solidFill>
                  <a:schemeClr val="bg1"/>
                </a:solidFill>
              </a:rPr>
              <a:t>amet</a:t>
            </a:r>
            <a:r>
              <a:rPr lang="en-US" sz="2500" dirty="0">
                <a:solidFill>
                  <a:schemeClr val="bg1"/>
                </a:solidFill>
              </a:rPr>
              <a:t>, </a:t>
            </a:r>
            <a:r>
              <a:rPr lang="en-US" sz="2500" dirty="0" err="1">
                <a:solidFill>
                  <a:schemeClr val="bg1"/>
                </a:solidFill>
              </a:rPr>
              <a:t>consectetuer</a:t>
            </a:r>
            <a:r>
              <a:rPr lang="en-US" sz="2500" dirty="0">
                <a:solidFill>
                  <a:schemeClr val="bg1"/>
                </a:solidFill>
              </a:rPr>
              <a:t> </a:t>
            </a:r>
            <a:r>
              <a:rPr lang="en-US" sz="2500" dirty="0" err="1">
                <a:solidFill>
                  <a:schemeClr val="bg1"/>
                </a:solidFill>
              </a:rPr>
              <a:t>adipiscing</a:t>
            </a:r>
            <a:r>
              <a:rPr lang="en-US" sz="2500" dirty="0">
                <a:solidFill>
                  <a:schemeClr val="bg1"/>
                </a:solidFill>
              </a:rPr>
              <a:t> </a:t>
            </a:r>
            <a:r>
              <a:rPr lang="en-US" sz="2500" dirty="0" err="1">
                <a:solidFill>
                  <a:schemeClr val="bg1"/>
                </a:solidFill>
              </a:rPr>
              <a:t>elit</a:t>
            </a:r>
            <a:r>
              <a:rPr lang="en-US" sz="2500" dirty="0">
                <a:solidFill>
                  <a:schemeClr val="bg1"/>
                </a:solidFill>
              </a:rPr>
              <a:t>. </a:t>
            </a:r>
            <a:r>
              <a:rPr lang="en-US" sz="2500" dirty="0" err="1">
                <a:solidFill>
                  <a:schemeClr val="bg1"/>
                </a:solidFill>
              </a:rPr>
              <a:t>Fusce</a:t>
            </a:r>
            <a:r>
              <a:rPr lang="en-US" sz="2500" dirty="0">
                <a:solidFill>
                  <a:schemeClr val="bg1"/>
                </a:solidFill>
              </a:rPr>
              <a:t> auctor </a:t>
            </a:r>
            <a:r>
              <a:rPr lang="en-US" sz="2500" dirty="0" err="1">
                <a:solidFill>
                  <a:schemeClr val="bg1"/>
                </a:solidFill>
              </a:rPr>
              <a:t>turpis</a:t>
            </a:r>
            <a:r>
              <a:rPr lang="en-US" sz="2500" dirty="0">
                <a:solidFill>
                  <a:schemeClr val="bg1"/>
                </a:solidFill>
              </a:rPr>
              <a:t> sit </a:t>
            </a:r>
            <a:r>
              <a:rPr lang="en-US" sz="2500" dirty="0" err="1">
                <a:solidFill>
                  <a:schemeClr val="bg1"/>
                </a:solidFill>
              </a:rPr>
              <a:t>amet</a:t>
            </a:r>
            <a:r>
              <a:rPr lang="en-US" sz="2500" dirty="0">
                <a:solidFill>
                  <a:schemeClr val="bg1"/>
                </a:solidFill>
              </a:rPr>
              <a:t> </a:t>
            </a:r>
            <a:r>
              <a:rPr lang="en-US" sz="2500" dirty="0" err="1">
                <a:solidFill>
                  <a:schemeClr val="bg1"/>
                </a:solidFill>
              </a:rPr>
              <a:t>pede</a:t>
            </a:r>
            <a:r>
              <a:rPr lang="en-US" sz="2500" dirty="0">
                <a:solidFill>
                  <a:schemeClr val="bg1"/>
                </a:solidFill>
              </a:rPr>
              <a:t> </a:t>
            </a:r>
            <a:r>
              <a:rPr lang="en-US" sz="2500" dirty="0" err="1">
                <a:solidFill>
                  <a:schemeClr val="bg1"/>
                </a:solidFill>
              </a:rPr>
              <a:t>facilisis</a:t>
            </a:r>
            <a:r>
              <a:rPr lang="en-US" sz="2500" dirty="0">
                <a:solidFill>
                  <a:schemeClr val="bg1"/>
                </a:solidFill>
              </a:rPr>
              <a:t> </a:t>
            </a:r>
            <a:r>
              <a:rPr lang="en-US" sz="2500" dirty="0" err="1">
                <a:solidFill>
                  <a:schemeClr val="bg1"/>
                </a:solidFill>
              </a:rPr>
              <a:t>eleifend</a:t>
            </a:r>
            <a:r>
              <a:rPr lang="en-US" sz="2500" dirty="0">
                <a:solidFill>
                  <a:schemeClr val="bg1"/>
                </a:solidFill>
              </a:rPr>
              <a:t>. </a:t>
            </a:r>
            <a:r>
              <a:rPr lang="en-US" sz="2500" dirty="0" err="1">
                <a:solidFill>
                  <a:schemeClr val="bg1"/>
                </a:solidFill>
              </a:rPr>
              <a:t>Suspendisse</a:t>
            </a:r>
            <a:r>
              <a:rPr lang="en-US" sz="2500" dirty="0">
                <a:solidFill>
                  <a:schemeClr val="bg1"/>
                </a:solidFill>
              </a:rPr>
              <a:t> </a:t>
            </a:r>
            <a:r>
              <a:rPr lang="en-US" sz="2500" dirty="0" err="1">
                <a:solidFill>
                  <a:schemeClr val="bg1"/>
                </a:solidFill>
              </a:rPr>
              <a:t>potenti</a:t>
            </a:r>
            <a:r>
              <a:rPr lang="en-US" sz="2500" dirty="0">
                <a:solidFill>
                  <a:schemeClr val="bg1"/>
                </a:solidFill>
              </a:rPr>
              <a:t>. In </a:t>
            </a:r>
            <a:r>
              <a:rPr lang="en-US" sz="2500" dirty="0" err="1">
                <a:solidFill>
                  <a:schemeClr val="bg1"/>
                </a:solidFill>
              </a:rPr>
              <a:t>sapien</a:t>
            </a:r>
            <a:r>
              <a:rPr lang="en-US" sz="2500" dirty="0">
                <a:solidFill>
                  <a:schemeClr val="bg1"/>
                </a:solidFill>
              </a:rPr>
              <a:t> </a:t>
            </a:r>
            <a:r>
              <a:rPr lang="en-US" sz="2500" dirty="0" err="1">
                <a:solidFill>
                  <a:schemeClr val="bg1"/>
                </a:solidFill>
              </a:rPr>
              <a:t>purus</a:t>
            </a:r>
            <a:r>
              <a:rPr lang="en-US" sz="2500" dirty="0">
                <a:solidFill>
                  <a:schemeClr val="bg1"/>
                </a:solidFill>
              </a:rPr>
              <a:t>, </a:t>
            </a:r>
            <a:r>
              <a:rPr lang="en-US" sz="2500" dirty="0" err="1">
                <a:solidFill>
                  <a:schemeClr val="bg1"/>
                </a:solidFill>
              </a:rPr>
              <a:t>feugiat</a:t>
            </a:r>
            <a:r>
              <a:rPr lang="en-US" sz="2500" dirty="0">
                <a:solidFill>
                  <a:schemeClr val="bg1"/>
                </a:solidFill>
              </a:rPr>
              <a:t> sed, </a:t>
            </a:r>
            <a:r>
              <a:rPr lang="en-US" sz="2500" dirty="0" err="1">
                <a:solidFill>
                  <a:schemeClr val="bg1"/>
                </a:solidFill>
              </a:rPr>
              <a:t>tristique</a:t>
            </a:r>
            <a:r>
              <a:rPr lang="en-US" sz="2500" dirty="0">
                <a:solidFill>
                  <a:schemeClr val="bg1"/>
                </a:solidFill>
              </a:rPr>
              <a:t> non, semper sed, diam. Ut </a:t>
            </a:r>
            <a:r>
              <a:rPr lang="en-US" sz="2500" dirty="0" err="1">
                <a:solidFill>
                  <a:schemeClr val="bg1"/>
                </a:solidFill>
              </a:rPr>
              <a:t>sem</a:t>
            </a:r>
            <a:r>
              <a:rPr lang="en-US" sz="2500" dirty="0">
                <a:solidFill>
                  <a:schemeClr val="bg1"/>
                </a:solidFill>
              </a:rPr>
              <a:t> </a:t>
            </a:r>
            <a:r>
              <a:rPr lang="en-US" sz="2500" dirty="0" err="1">
                <a:solidFill>
                  <a:schemeClr val="bg1"/>
                </a:solidFill>
              </a:rPr>
              <a:t>nisl</a:t>
            </a:r>
            <a:r>
              <a:rPr lang="en-US" sz="2500" dirty="0">
                <a:solidFill>
                  <a:schemeClr val="bg1"/>
                </a:solidFill>
              </a:rPr>
              <a:t>, </a:t>
            </a:r>
            <a:r>
              <a:rPr lang="en-US" sz="2500" dirty="0" err="1">
                <a:solidFill>
                  <a:schemeClr val="bg1"/>
                </a:solidFill>
              </a:rPr>
              <a:t>rhoncus</a:t>
            </a:r>
            <a:r>
              <a:rPr lang="en-US" sz="2500" dirty="0">
                <a:solidFill>
                  <a:schemeClr val="bg1"/>
                </a:solidFill>
              </a:rPr>
              <a:t> id, lacinia </a:t>
            </a:r>
            <a:r>
              <a:rPr lang="en-US" sz="2500" dirty="0" err="1">
                <a:solidFill>
                  <a:schemeClr val="bg1"/>
                </a:solidFill>
              </a:rPr>
              <a:t>quis</a:t>
            </a:r>
            <a:r>
              <a:rPr lang="en-US" sz="2500" dirty="0">
                <a:solidFill>
                  <a:schemeClr val="bg1"/>
                </a:solidFill>
              </a:rPr>
              <a:t>, </a:t>
            </a:r>
            <a:r>
              <a:rPr lang="en-US" sz="2500" dirty="0" err="1">
                <a:solidFill>
                  <a:schemeClr val="bg1"/>
                </a:solidFill>
              </a:rPr>
              <a:t>consequat</a:t>
            </a:r>
            <a:r>
              <a:rPr lang="en-US" sz="2500" dirty="0">
                <a:solidFill>
                  <a:schemeClr val="bg1"/>
                </a:solidFill>
              </a:rPr>
              <a:t> </a:t>
            </a:r>
            <a:r>
              <a:rPr lang="en-US" sz="2500" dirty="0" err="1">
                <a:solidFill>
                  <a:schemeClr val="bg1"/>
                </a:solidFill>
              </a:rPr>
              <a:t>scelerisque</a:t>
            </a:r>
            <a:r>
              <a:rPr lang="en-US" sz="2500" dirty="0">
                <a:solidFill>
                  <a:schemeClr val="bg1"/>
                </a:solidFill>
              </a:rPr>
              <a:t>, </a:t>
            </a:r>
            <a:r>
              <a:rPr lang="en-US" sz="2500" dirty="0" err="1">
                <a:solidFill>
                  <a:schemeClr val="bg1"/>
                </a:solidFill>
              </a:rPr>
              <a:t>pede</a:t>
            </a:r>
            <a:r>
              <a:rPr lang="en-US" sz="2500" dirty="0">
                <a:solidFill>
                  <a:schemeClr val="bg1"/>
                </a:solidFill>
              </a:rPr>
              <a:t>. </a:t>
            </a:r>
            <a:r>
              <a:rPr lang="en-US" sz="2500" dirty="0" err="1">
                <a:solidFill>
                  <a:schemeClr val="bg1"/>
                </a:solidFill>
              </a:rPr>
              <a:t>Aliquam</a:t>
            </a:r>
            <a:r>
              <a:rPr lang="en-US" sz="2500" dirty="0">
                <a:solidFill>
                  <a:schemeClr val="bg1"/>
                </a:solidFill>
              </a:rPr>
              <a:t> fermentum </a:t>
            </a:r>
            <a:r>
              <a:rPr lang="en-US" sz="2500" dirty="0" err="1">
                <a:solidFill>
                  <a:schemeClr val="bg1"/>
                </a:solidFill>
              </a:rPr>
              <a:t>eleifend</a:t>
            </a:r>
            <a:r>
              <a:rPr lang="en-US" sz="2500" dirty="0">
                <a:solidFill>
                  <a:schemeClr val="bg1"/>
                </a:solidFill>
              </a:rPr>
              <a:t> </a:t>
            </a:r>
            <a:r>
              <a:rPr lang="en-US" sz="2500" dirty="0" err="1">
                <a:solidFill>
                  <a:schemeClr val="bg1"/>
                </a:solidFill>
              </a:rPr>
              <a:t>nulla</a:t>
            </a:r>
            <a:r>
              <a:rPr lang="en-US" sz="2500" dirty="0">
                <a:solidFill>
                  <a:schemeClr val="bg1"/>
                </a:solidFill>
              </a:rPr>
              <a:t>. Cum sociis </a:t>
            </a:r>
            <a:r>
              <a:rPr lang="en-US" sz="2500" dirty="0" err="1">
                <a:solidFill>
                  <a:schemeClr val="bg1"/>
                </a:solidFill>
              </a:rPr>
              <a:t>natoque</a:t>
            </a:r>
            <a:r>
              <a:rPr lang="en-US" sz="2500" dirty="0">
                <a:solidFill>
                  <a:schemeClr val="bg1"/>
                </a:solidFill>
              </a:rPr>
              <a:t> </a:t>
            </a:r>
            <a:r>
              <a:rPr lang="en-US" sz="2500" dirty="0" err="1">
                <a:solidFill>
                  <a:schemeClr val="bg1"/>
                </a:solidFill>
              </a:rPr>
              <a:t>penatibus</a:t>
            </a:r>
            <a:r>
              <a:rPr lang="en-US" sz="2500" dirty="0">
                <a:solidFill>
                  <a:schemeClr val="bg1"/>
                </a:solidFill>
              </a:rPr>
              <a:t> et </a:t>
            </a:r>
            <a:r>
              <a:rPr lang="en-US" sz="2500" dirty="0" err="1">
                <a:solidFill>
                  <a:schemeClr val="bg1"/>
                </a:solidFill>
              </a:rPr>
              <a:t>magnis</a:t>
            </a:r>
            <a:r>
              <a:rPr lang="en-US" sz="2500" dirty="0">
                <a:solidFill>
                  <a:schemeClr val="bg1"/>
                </a:solidFill>
              </a:rPr>
              <a:t> dis parturient </a:t>
            </a:r>
            <a:r>
              <a:rPr lang="en-US" sz="2500" dirty="0" err="1">
                <a:solidFill>
                  <a:schemeClr val="bg1"/>
                </a:solidFill>
              </a:rPr>
              <a:t>montes</a:t>
            </a:r>
            <a:r>
              <a:rPr lang="en-US" sz="2500" dirty="0">
                <a:solidFill>
                  <a:schemeClr val="bg1"/>
                </a:solidFill>
              </a:rPr>
              <a:t>, </a:t>
            </a:r>
            <a:r>
              <a:rPr lang="en-US" sz="2500" dirty="0" err="1">
                <a:solidFill>
                  <a:schemeClr val="bg1"/>
                </a:solidFill>
              </a:rPr>
              <a:t>nascetur</a:t>
            </a:r>
            <a:r>
              <a:rPr lang="en-US" sz="2500" dirty="0">
                <a:solidFill>
                  <a:schemeClr val="bg1"/>
                </a:solidFill>
              </a:rPr>
              <a:t> </a:t>
            </a:r>
            <a:r>
              <a:rPr lang="en-US" sz="2500" dirty="0" err="1">
                <a:solidFill>
                  <a:schemeClr val="bg1"/>
                </a:solidFill>
              </a:rPr>
              <a:t>ridiculus</a:t>
            </a:r>
            <a:r>
              <a:rPr lang="en-US" sz="2500" dirty="0">
                <a:solidFill>
                  <a:schemeClr val="bg1"/>
                </a:solidFill>
              </a:rPr>
              <a:t> mus. Vestibulum et </a:t>
            </a:r>
            <a:r>
              <a:rPr lang="en-US" sz="2500" dirty="0" err="1">
                <a:solidFill>
                  <a:schemeClr val="bg1"/>
                </a:solidFill>
              </a:rPr>
              <a:t>leo</a:t>
            </a:r>
            <a:r>
              <a:rPr lang="en-US" sz="2500" dirty="0">
                <a:solidFill>
                  <a:schemeClr val="bg1"/>
                </a:solidFill>
              </a:rPr>
              <a:t> vitae </a:t>
            </a:r>
            <a:r>
              <a:rPr lang="en-US" sz="2500" dirty="0" err="1">
                <a:solidFill>
                  <a:schemeClr val="bg1"/>
                </a:solidFill>
              </a:rPr>
              <a:t>tortor</a:t>
            </a:r>
            <a:r>
              <a:rPr lang="en-US" sz="2500" dirty="0">
                <a:solidFill>
                  <a:schemeClr val="bg1"/>
                </a:solidFill>
              </a:rPr>
              <a:t> </a:t>
            </a:r>
            <a:r>
              <a:rPr lang="en-US" sz="2500" dirty="0" err="1">
                <a:solidFill>
                  <a:schemeClr val="bg1"/>
                </a:solidFill>
              </a:rPr>
              <a:t>facilisis</a:t>
            </a:r>
            <a:r>
              <a:rPr lang="en-US" sz="2500" dirty="0">
                <a:solidFill>
                  <a:schemeClr val="bg1"/>
                </a:solidFill>
              </a:rPr>
              <a:t> </a:t>
            </a:r>
            <a:r>
              <a:rPr lang="en-US" sz="2500" dirty="0" err="1">
                <a:solidFill>
                  <a:schemeClr val="bg1"/>
                </a:solidFill>
              </a:rPr>
              <a:t>aliquet</a:t>
            </a:r>
            <a:r>
              <a:rPr lang="en-US" sz="2500" dirty="0">
                <a:solidFill>
                  <a:schemeClr val="bg1"/>
                </a:solidFill>
              </a:rPr>
              <a:t>. Nam </a:t>
            </a:r>
            <a:r>
              <a:rPr lang="en-US" sz="2500" dirty="0" err="1">
                <a:solidFill>
                  <a:schemeClr val="bg1"/>
                </a:solidFill>
              </a:rPr>
              <a:t>dapibus</a:t>
            </a:r>
            <a:r>
              <a:rPr lang="en-US" sz="2500" dirty="0">
                <a:solidFill>
                  <a:schemeClr val="bg1"/>
                </a:solidFill>
              </a:rPr>
              <a:t> </a:t>
            </a:r>
            <a:r>
              <a:rPr lang="en-US" sz="2500" dirty="0" err="1">
                <a:solidFill>
                  <a:schemeClr val="bg1"/>
                </a:solidFill>
              </a:rPr>
              <a:t>hendrerit</a:t>
            </a:r>
            <a:r>
              <a:rPr lang="en-US" sz="2500" dirty="0">
                <a:solidFill>
                  <a:schemeClr val="bg1"/>
                </a:solidFill>
              </a:rPr>
              <a:t> </a:t>
            </a:r>
            <a:r>
              <a:rPr lang="en-US" sz="2500" dirty="0" err="1">
                <a:solidFill>
                  <a:schemeClr val="bg1"/>
                </a:solidFill>
              </a:rPr>
              <a:t>orci</a:t>
            </a:r>
            <a:r>
              <a:rPr lang="en-US" sz="2500" dirty="0">
                <a:solidFill>
                  <a:schemeClr val="bg1"/>
                </a:solidFill>
              </a:rPr>
              <a:t>. </a:t>
            </a:r>
            <a:r>
              <a:rPr lang="en-US" sz="2500" dirty="0" err="1">
                <a:solidFill>
                  <a:schemeClr val="bg1"/>
                </a:solidFill>
              </a:rPr>
              <a:t>Curabitur</a:t>
            </a:r>
            <a:r>
              <a:rPr lang="en-US" sz="2500" dirty="0">
                <a:solidFill>
                  <a:schemeClr val="bg1"/>
                </a:solidFill>
              </a:rPr>
              <a:t> non </a:t>
            </a:r>
            <a:r>
              <a:rPr lang="en-US" sz="2500" dirty="0" err="1">
                <a:solidFill>
                  <a:schemeClr val="bg1"/>
                </a:solidFill>
              </a:rPr>
              <a:t>metus</a:t>
            </a:r>
            <a:r>
              <a:rPr lang="en-US" sz="2500" dirty="0">
                <a:solidFill>
                  <a:schemeClr val="bg1"/>
                </a:solidFill>
              </a:rPr>
              <a:t> in </a:t>
            </a:r>
            <a:r>
              <a:rPr lang="en-US" sz="2500" dirty="0" err="1">
                <a:solidFill>
                  <a:schemeClr val="bg1"/>
                </a:solidFill>
              </a:rPr>
              <a:t>lacus</a:t>
            </a:r>
            <a:r>
              <a:rPr lang="en-US" sz="2500" dirty="0">
                <a:solidFill>
                  <a:schemeClr val="bg1"/>
                </a:solidFill>
              </a:rPr>
              <a:t> semper </a:t>
            </a:r>
            <a:r>
              <a:rPr lang="en-US" sz="2500" dirty="0" err="1">
                <a:solidFill>
                  <a:schemeClr val="bg1"/>
                </a:solidFill>
              </a:rPr>
              <a:t>suscipit</a:t>
            </a:r>
            <a:r>
              <a:rPr lang="en-US" sz="25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74390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oint mediu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8167D2C-5176-1ED3-A328-C37831632F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52165" y="3305069"/>
            <a:ext cx="8928728" cy="355293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F83037B-3C53-AD11-3C53-4E910F029F0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175" y="0"/>
            <a:ext cx="12188825" cy="68597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9D6CD3-4049-A1EF-32DF-B784EA48F43A}"/>
              </a:ext>
            </a:extLst>
          </p:cNvPr>
          <p:cNvSpPr txBox="1"/>
          <p:nvPr userDrawn="1"/>
        </p:nvSpPr>
        <p:spPr>
          <a:xfrm>
            <a:off x="870860" y="1262017"/>
            <a:ext cx="426719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>
                <a:solidFill>
                  <a:srgbClr val="0195A0"/>
                </a:solidFill>
              </a:rPr>
              <a:t>Headline</a:t>
            </a:r>
            <a:endParaRPr lang="en-US" sz="4500" b="1" dirty="0">
              <a:solidFill>
                <a:schemeClr val="bg1"/>
              </a:solidFill>
            </a:endParaRPr>
          </a:p>
          <a:p>
            <a:r>
              <a:rPr lang="en-US" sz="2500" dirty="0">
                <a:solidFill>
                  <a:schemeClr val="bg1"/>
                </a:solidFill>
              </a:rPr>
              <a:t>Lorem ipsum dolor sit </a:t>
            </a:r>
            <a:r>
              <a:rPr lang="en-US" sz="2500" dirty="0" err="1">
                <a:solidFill>
                  <a:schemeClr val="bg1"/>
                </a:solidFill>
              </a:rPr>
              <a:t>amet</a:t>
            </a:r>
            <a:r>
              <a:rPr lang="en-US" sz="2500" dirty="0">
                <a:solidFill>
                  <a:schemeClr val="bg1"/>
                </a:solidFill>
              </a:rPr>
              <a:t>, </a:t>
            </a:r>
            <a:r>
              <a:rPr lang="en-US" sz="2500" dirty="0" err="1">
                <a:solidFill>
                  <a:schemeClr val="bg1"/>
                </a:solidFill>
              </a:rPr>
              <a:t>consectetuer</a:t>
            </a:r>
            <a:r>
              <a:rPr lang="en-US" sz="2500" dirty="0">
                <a:solidFill>
                  <a:schemeClr val="bg1"/>
                </a:solidFill>
              </a:rPr>
              <a:t> </a:t>
            </a:r>
            <a:r>
              <a:rPr lang="en-US" sz="2500" dirty="0" err="1">
                <a:solidFill>
                  <a:schemeClr val="bg1"/>
                </a:solidFill>
              </a:rPr>
              <a:t>adipiscing</a:t>
            </a:r>
            <a:r>
              <a:rPr lang="en-US" sz="2500" dirty="0">
                <a:solidFill>
                  <a:schemeClr val="bg1"/>
                </a:solidFill>
              </a:rPr>
              <a:t> </a:t>
            </a:r>
            <a:r>
              <a:rPr lang="en-US" sz="2500" dirty="0" err="1">
                <a:solidFill>
                  <a:schemeClr val="bg1"/>
                </a:solidFill>
              </a:rPr>
              <a:t>elit</a:t>
            </a:r>
            <a:r>
              <a:rPr lang="en-US" sz="2500" dirty="0">
                <a:solidFill>
                  <a:schemeClr val="bg1"/>
                </a:solidFill>
              </a:rPr>
              <a:t>. </a:t>
            </a:r>
            <a:r>
              <a:rPr lang="en-US" sz="2500" dirty="0" err="1">
                <a:solidFill>
                  <a:schemeClr val="bg1"/>
                </a:solidFill>
              </a:rPr>
              <a:t>Fusce</a:t>
            </a:r>
            <a:r>
              <a:rPr lang="en-US" sz="2500" dirty="0">
                <a:solidFill>
                  <a:schemeClr val="bg1"/>
                </a:solidFill>
              </a:rPr>
              <a:t> auctor </a:t>
            </a:r>
            <a:r>
              <a:rPr lang="en-US" sz="2500" dirty="0" err="1">
                <a:solidFill>
                  <a:schemeClr val="bg1"/>
                </a:solidFill>
              </a:rPr>
              <a:t>turpis</a:t>
            </a:r>
            <a:r>
              <a:rPr lang="en-US" sz="2500" dirty="0">
                <a:solidFill>
                  <a:schemeClr val="bg1"/>
                </a:solidFill>
              </a:rPr>
              <a:t> sit </a:t>
            </a:r>
            <a:r>
              <a:rPr lang="en-US" sz="2500" dirty="0" err="1">
                <a:solidFill>
                  <a:schemeClr val="bg1"/>
                </a:solidFill>
              </a:rPr>
              <a:t>amet</a:t>
            </a:r>
            <a:r>
              <a:rPr lang="en-US" sz="2500" dirty="0">
                <a:solidFill>
                  <a:schemeClr val="bg1"/>
                </a:solidFill>
              </a:rPr>
              <a:t> </a:t>
            </a:r>
            <a:r>
              <a:rPr lang="en-US" sz="2500" dirty="0" err="1">
                <a:solidFill>
                  <a:schemeClr val="bg1"/>
                </a:solidFill>
              </a:rPr>
              <a:t>pede</a:t>
            </a:r>
            <a:r>
              <a:rPr lang="en-US" sz="2500" dirty="0">
                <a:solidFill>
                  <a:schemeClr val="bg1"/>
                </a:solidFill>
              </a:rPr>
              <a:t> </a:t>
            </a:r>
            <a:r>
              <a:rPr lang="en-US" sz="2500" dirty="0" err="1">
                <a:solidFill>
                  <a:schemeClr val="bg1"/>
                </a:solidFill>
              </a:rPr>
              <a:t>facilisis</a:t>
            </a:r>
            <a:r>
              <a:rPr lang="en-US" sz="2500" dirty="0">
                <a:solidFill>
                  <a:schemeClr val="bg1"/>
                </a:solidFill>
              </a:rPr>
              <a:t> </a:t>
            </a:r>
            <a:r>
              <a:rPr lang="en-US" sz="2500" dirty="0" err="1">
                <a:solidFill>
                  <a:schemeClr val="bg1"/>
                </a:solidFill>
              </a:rPr>
              <a:t>eleifend</a:t>
            </a:r>
            <a:r>
              <a:rPr lang="en-US" sz="2500" dirty="0">
                <a:solidFill>
                  <a:schemeClr val="bg1"/>
                </a:solidFill>
              </a:rPr>
              <a:t>. </a:t>
            </a:r>
            <a:r>
              <a:rPr lang="en-US" sz="2500" dirty="0" err="1">
                <a:solidFill>
                  <a:schemeClr val="bg1"/>
                </a:solidFill>
              </a:rPr>
              <a:t>Suspendisse</a:t>
            </a:r>
            <a:r>
              <a:rPr lang="en-US" sz="2500" dirty="0">
                <a:solidFill>
                  <a:schemeClr val="bg1"/>
                </a:solidFill>
              </a:rPr>
              <a:t> </a:t>
            </a:r>
            <a:r>
              <a:rPr lang="en-US" sz="2500" dirty="0" err="1">
                <a:solidFill>
                  <a:schemeClr val="bg1"/>
                </a:solidFill>
              </a:rPr>
              <a:t>potenti</a:t>
            </a:r>
            <a:r>
              <a:rPr lang="en-US" sz="2500" dirty="0">
                <a:solidFill>
                  <a:schemeClr val="bg1"/>
                </a:solidFill>
              </a:rPr>
              <a:t>. In </a:t>
            </a:r>
            <a:r>
              <a:rPr lang="en-US" sz="2500" dirty="0" err="1">
                <a:solidFill>
                  <a:schemeClr val="bg1"/>
                </a:solidFill>
              </a:rPr>
              <a:t>sapien</a:t>
            </a:r>
            <a:r>
              <a:rPr lang="en-US" sz="2500" dirty="0">
                <a:solidFill>
                  <a:schemeClr val="bg1"/>
                </a:solidFill>
              </a:rPr>
              <a:t> </a:t>
            </a:r>
            <a:r>
              <a:rPr lang="en-US" sz="2500" dirty="0" err="1">
                <a:solidFill>
                  <a:schemeClr val="bg1"/>
                </a:solidFill>
              </a:rPr>
              <a:t>purus</a:t>
            </a:r>
            <a:r>
              <a:rPr lang="en-US" sz="2500" dirty="0">
                <a:solidFill>
                  <a:schemeClr val="bg1"/>
                </a:solidFill>
              </a:rPr>
              <a:t>, </a:t>
            </a:r>
            <a:r>
              <a:rPr lang="en-US" sz="2500" dirty="0" err="1">
                <a:solidFill>
                  <a:schemeClr val="bg1"/>
                </a:solidFill>
              </a:rPr>
              <a:t>feugiat</a:t>
            </a:r>
            <a:r>
              <a:rPr lang="en-US" sz="2500" dirty="0">
                <a:solidFill>
                  <a:schemeClr val="bg1"/>
                </a:solidFill>
              </a:rPr>
              <a:t> sed, </a:t>
            </a:r>
            <a:r>
              <a:rPr lang="en-US" sz="2500" dirty="0" err="1">
                <a:solidFill>
                  <a:schemeClr val="bg1"/>
                </a:solidFill>
              </a:rPr>
              <a:t>tristique</a:t>
            </a:r>
            <a:r>
              <a:rPr lang="en-US" sz="2500" dirty="0">
                <a:solidFill>
                  <a:schemeClr val="bg1"/>
                </a:solidFill>
              </a:rPr>
              <a:t> non, semper sed, diam. </a:t>
            </a:r>
          </a:p>
        </p:txBody>
      </p:sp>
    </p:spTree>
    <p:extLst>
      <p:ext uri="{BB962C8B-B14F-4D97-AF65-F5344CB8AC3E}">
        <p14:creationId xmlns:p14="http://schemas.microsoft.com/office/powerpoint/2010/main" val="2466193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oint ligh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C7DCCB-0C89-D983-30F6-838DCED371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66117" y="656799"/>
            <a:ext cx="11071312" cy="62012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A480F3-BC76-00B6-24D5-C07DB00D847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176" y="0"/>
            <a:ext cx="12188821" cy="68597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DF66AB7-00EC-F435-3D9F-B63B7BA0260A}"/>
              </a:ext>
            </a:extLst>
          </p:cNvPr>
          <p:cNvSpPr txBox="1"/>
          <p:nvPr userDrawn="1"/>
        </p:nvSpPr>
        <p:spPr>
          <a:xfrm>
            <a:off x="870860" y="1262017"/>
            <a:ext cx="4267197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500" b="1" dirty="0">
                <a:solidFill>
                  <a:srgbClr val="0195A0"/>
                </a:solidFill>
              </a:rPr>
              <a:t>Headline</a:t>
            </a:r>
          </a:p>
          <a:p>
            <a:r>
              <a:rPr lang="en-US" sz="2500" dirty="0">
                <a:solidFill>
                  <a:srgbClr val="134579"/>
                </a:solidFill>
              </a:rPr>
              <a:t>Lorem ipsum dolor sit </a:t>
            </a:r>
            <a:r>
              <a:rPr lang="en-US" sz="2500" dirty="0" err="1">
                <a:solidFill>
                  <a:srgbClr val="134579"/>
                </a:solidFill>
              </a:rPr>
              <a:t>amet</a:t>
            </a:r>
            <a:r>
              <a:rPr lang="en-US" sz="2500" dirty="0">
                <a:solidFill>
                  <a:srgbClr val="134579"/>
                </a:solidFill>
              </a:rPr>
              <a:t>, </a:t>
            </a:r>
            <a:r>
              <a:rPr lang="en-US" sz="2500" dirty="0" err="1">
                <a:solidFill>
                  <a:srgbClr val="134579"/>
                </a:solidFill>
              </a:rPr>
              <a:t>consectetuer</a:t>
            </a:r>
            <a:r>
              <a:rPr lang="en-US" sz="2500" dirty="0">
                <a:solidFill>
                  <a:srgbClr val="134579"/>
                </a:solidFill>
              </a:rPr>
              <a:t> </a:t>
            </a:r>
            <a:r>
              <a:rPr lang="en-US" sz="2500" dirty="0" err="1">
                <a:solidFill>
                  <a:srgbClr val="134579"/>
                </a:solidFill>
              </a:rPr>
              <a:t>adipiscing</a:t>
            </a:r>
            <a:r>
              <a:rPr lang="en-US" sz="2500" dirty="0">
                <a:solidFill>
                  <a:srgbClr val="134579"/>
                </a:solidFill>
              </a:rPr>
              <a:t> </a:t>
            </a:r>
            <a:r>
              <a:rPr lang="en-US" sz="2500" dirty="0" err="1">
                <a:solidFill>
                  <a:srgbClr val="134579"/>
                </a:solidFill>
              </a:rPr>
              <a:t>elit</a:t>
            </a:r>
            <a:r>
              <a:rPr lang="en-US" sz="2500" dirty="0">
                <a:solidFill>
                  <a:srgbClr val="134579"/>
                </a:solidFill>
              </a:rPr>
              <a:t>. </a:t>
            </a:r>
            <a:r>
              <a:rPr lang="en-US" sz="2500" dirty="0" err="1">
                <a:solidFill>
                  <a:srgbClr val="134579"/>
                </a:solidFill>
              </a:rPr>
              <a:t>Fusce</a:t>
            </a:r>
            <a:r>
              <a:rPr lang="en-US" sz="2500" dirty="0">
                <a:solidFill>
                  <a:srgbClr val="134579"/>
                </a:solidFill>
              </a:rPr>
              <a:t> auctor </a:t>
            </a:r>
            <a:r>
              <a:rPr lang="en-US" sz="2500" dirty="0" err="1">
                <a:solidFill>
                  <a:srgbClr val="134579"/>
                </a:solidFill>
              </a:rPr>
              <a:t>turpis</a:t>
            </a:r>
            <a:r>
              <a:rPr lang="en-US" sz="2500" dirty="0">
                <a:solidFill>
                  <a:srgbClr val="134579"/>
                </a:solidFill>
              </a:rPr>
              <a:t> sit </a:t>
            </a:r>
            <a:r>
              <a:rPr lang="en-US" sz="2500" dirty="0" err="1">
                <a:solidFill>
                  <a:srgbClr val="134579"/>
                </a:solidFill>
              </a:rPr>
              <a:t>amet</a:t>
            </a:r>
            <a:r>
              <a:rPr lang="en-US" sz="2500" dirty="0">
                <a:solidFill>
                  <a:srgbClr val="134579"/>
                </a:solidFill>
              </a:rPr>
              <a:t> </a:t>
            </a:r>
            <a:r>
              <a:rPr lang="en-US" sz="2500" dirty="0" err="1">
                <a:solidFill>
                  <a:srgbClr val="134579"/>
                </a:solidFill>
              </a:rPr>
              <a:t>pede</a:t>
            </a:r>
            <a:r>
              <a:rPr lang="en-US" sz="2500" dirty="0">
                <a:solidFill>
                  <a:srgbClr val="134579"/>
                </a:solidFill>
              </a:rPr>
              <a:t> </a:t>
            </a:r>
            <a:r>
              <a:rPr lang="en-US" sz="2500" dirty="0" err="1">
                <a:solidFill>
                  <a:srgbClr val="134579"/>
                </a:solidFill>
              </a:rPr>
              <a:t>facilisis</a:t>
            </a:r>
            <a:r>
              <a:rPr lang="en-US" sz="2500" dirty="0">
                <a:solidFill>
                  <a:srgbClr val="134579"/>
                </a:solidFill>
              </a:rPr>
              <a:t> </a:t>
            </a:r>
            <a:r>
              <a:rPr lang="en-US" sz="2500" dirty="0" err="1">
                <a:solidFill>
                  <a:srgbClr val="134579"/>
                </a:solidFill>
              </a:rPr>
              <a:t>eleifend</a:t>
            </a:r>
            <a:r>
              <a:rPr lang="en-US" sz="2500" dirty="0">
                <a:solidFill>
                  <a:srgbClr val="134579"/>
                </a:solidFill>
              </a:rPr>
              <a:t>. </a:t>
            </a:r>
            <a:r>
              <a:rPr lang="en-US" sz="2500" dirty="0" err="1">
                <a:solidFill>
                  <a:srgbClr val="134579"/>
                </a:solidFill>
              </a:rPr>
              <a:t>Suspendisse</a:t>
            </a:r>
            <a:r>
              <a:rPr lang="en-US" sz="2500" dirty="0">
                <a:solidFill>
                  <a:srgbClr val="134579"/>
                </a:solidFill>
              </a:rPr>
              <a:t> </a:t>
            </a:r>
            <a:r>
              <a:rPr lang="en-US" sz="2500" dirty="0" err="1">
                <a:solidFill>
                  <a:srgbClr val="134579"/>
                </a:solidFill>
              </a:rPr>
              <a:t>potenti</a:t>
            </a:r>
            <a:r>
              <a:rPr lang="en-US" sz="2500" dirty="0">
                <a:solidFill>
                  <a:srgbClr val="134579"/>
                </a:solidFill>
              </a:rPr>
              <a:t>. In </a:t>
            </a:r>
            <a:r>
              <a:rPr lang="en-US" sz="2500" dirty="0" err="1">
                <a:solidFill>
                  <a:srgbClr val="134579"/>
                </a:solidFill>
              </a:rPr>
              <a:t>sapien</a:t>
            </a:r>
            <a:r>
              <a:rPr lang="en-US" sz="2500" dirty="0">
                <a:solidFill>
                  <a:srgbClr val="134579"/>
                </a:solidFill>
              </a:rPr>
              <a:t> </a:t>
            </a:r>
            <a:r>
              <a:rPr lang="en-US" sz="2500" dirty="0" err="1">
                <a:solidFill>
                  <a:srgbClr val="134579"/>
                </a:solidFill>
              </a:rPr>
              <a:t>purus</a:t>
            </a:r>
            <a:r>
              <a:rPr lang="en-US" sz="2500" dirty="0">
                <a:solidFill>
                  <a:srgbClr val="134579"/>
                </a:solidFill>
              </a:rPr>
              <a:t>, </a:t>
            </a:r>
            <a:r>
              <a:rPr lang="en-US" sz="2500" dirty="0" err="1">
                <a:solidFill>
                  <a:srgbClr val="134579"/>
                </a:solidFill>
              </a:rPr>
              <a:t>feugiat</a:t>
            </a:r>
            <a:r>
              <a:rPr lang="en-US" sz="2500" dirty="0">
                <a:solidFill>
                  <a:srgbClr val="134579"/>
                </a:solidFill>
              </a:rPr>
              <a:t> sed, </a:t>
            </a:r>
            <a:r>
              <a:rPr lang="en-US" sz="2500" dirty="0" err="1">
                <a:solidFill>
                  <a:srgbClr val="134579"/>
                </a:solidFill>
              </a:rPr>
              <a:t>tristique</a:t>
            </a:r>
            <a:r>
              <a:rPr lang="en-US" sz="2500" dirty="0">
                <a:solidFill>
                  <a:srgbClr val="134579"/>
                </a:solidFill>
              </a:rPr>
              <a:t> non, semper sed, diam. </a:t>
            </a:r>
          </a:p>
        </p:txBody>
      </p:sp>
    </p:spTree>
    <p:extLst>
      <p:ext uri="{BB962C8B-B14F-4D97-AF65-F5344CB8AC3E}">
        <p14:creationId xmlns:p14="http://schemas.microsoft.com/office/powerpoint/2010/main" val="27401349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oint dar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98423E0-7FF4-AD5A-A90B-2A9E4134C1A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088573" y="1468037"/>
            <a:ext cx="9622971" cy="538996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2E33A7B-C77A-0333-901F-1F517FC1279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3176" y="0"/>
            <a:ext cx="12188821" cy="68597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C77855F-4F17-6D28-EA0F-222C7008956E}"/>
              </a:ext>
            </a:extLst>
          </p:cNvPr>
          <p:cNvSpPr txBox="1"/>
          <p:nvPr userDrawn="1"/>
        </p:nvSpPr>
        <p:spPr>
          <a:xfrm>
            <a:off x="8102148" y="1262017"/>
            <a:ext cx="350202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b="1" dirty="0">
                <a:solidFill>
                  <a:schemeClr val="bg1"/>
                </a:solidFill>
              </a:rPr>
              <a:t>Lorem ipsum dolor sit </a:t>
            </a:r>
            <a:r>
              <a:rPr lang="en-US" sz="3500" b="1" dirty="0" err="1">
                <a:solidFill>
                  <a:schemeClr val="bg1"/>
                </a:solidFill>
              </a:rPr>
              <a:t>amet</a:t>
            </a:r>
            <a:r>
              <a:rPr lang="en-US" sz="3500" b="1" dirty="0">
                <a:solidFill>
                  <a:schemeClr val="bg1"/>
                </a:solidFill>
              </a:rPr>
              <a:t>, </a:t>
            </a:r>
            <a:r>
              <a:rPr lang="en-US" sz="3500" b="1" dirty="0" err="1">
                <a:solidFill>
                  <a:schemeClr val="bg1"/>
                </a:solidFill>
              </a:rPr>
              <a:t>consectetuer</a:t>
            </a:r>
            <a:r>
              <a:rPr lang="en-US" sz="3500" b="1" dirty="0">
                <a:solidFill>
                  <a:schemeClr val="bg1"/>
                </a:solidFill>
              </a:rPr>
              <a:t> </a:t>
            </a:r>
            <a:r>
              <a:rPr lang="en-US" sz="3500" b="1" dirty="0" err="1">
                <a:solidFill>
                  <a:schemeClr val="bg1"/>
                </a:solidFill>
              </a:rPr>
              <a:t>adipiscing</a:t>
            </a:r>
            <a:r>
              <a:rPr lang="en-US" sz="3500" b="1" dirty="0">
                <a:solidFill>
                  <a:schemeClr val="bg1"/>
                </a:solidFill>
              </a:rPr>
              <a:t> </a:t>
            </a:r>
            <a:r>
              <a:rPr lang="en-US" sz="3500" b="1" dirty="0" err="1">
                <a:solidFill>
                  <a:schemeClr val="bg1"/>
                </a:solidFill>
              </a:rPr>
              <a:t>elit</a:t>
            </a:r>
            <a:r>
              <a:rPr lang="en-US" sz="3500" b="1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760231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C71DA-D60D-D35A-E47B-5FA26CA66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53E2E-470E-95C5-51E2-05E3A8D2F9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CF805A-CFBD-3EDE-CEA5-D9C176AFC9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1CF596-9689-AAE0-EB02-A5FC5B45E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4839B-90DF-FA46-9D52-D10060A86ADB}" type="datetime3">
              <a:rPr lang="en-IE" smtClean="0"/>
              <a:t>23 February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0DE89B-5300-4620-2799-FDF71EF50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C4D06F-FFF5-76DE-1856-09FAF2049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58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8821-5E86-3F78-E8C1-97FE12B4F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0A6995-33E0-11A7-5C8E-30C5D37E74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D44B98-D9D5-FA61-2C88-B342496A17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681F9E-80A5-8162-4581-DEAD37387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12174-D4B7-E74D-A582-5C71C550CABE}" type="datetime3">
              <a:rPr lang="en-IE" smtClean="0"/>
              <a:t>23 February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E0CFA2-E855-56A7-2D4D-CD2F9676D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9913ED-C0DC-9C4A-9CA7-38FD1E699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3378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oint Turquios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DF105-7039-1C6D-7FC1-89C7ACEFE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0788"/>
            <a:ext cx="8348602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C9D1A-B681-480B-51E4-53A8819188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06351"/>
            <a:ext cx="8348602" cy="3668564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24794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5340C0-73B3-BCF7-0724-038E70BF78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6D448-5D41-D2C8-31F6-3E2418064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8348602" cy="4149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2D11B-86E8-4721-E4FB-781C5E6FA2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11835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B28D5F-B017-3B47-9775-DA319F6143FF}" type="datetime3">
              <a:rPr lang="en-IE" smtClean="0"/>
              <a:t>23 February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A23E6A-37C4-5F0F-726D-1ACD6A2313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118356"/>
            <a:ext cx="29759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Andrew Parnell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40BB7-8BAA-0B2D-4F0A-22069252AE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265096" y="6118356"/>
            <a:ext cx="192170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064C77-022D-3743-A04E-645624933D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144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61" r:id="rId3"/>
    <p:sldLayoutId id="2147483650" r:id="rId4"/>
    <p:sldLayoutId id="2147483651" r:id="rId5"/>
    <p:sldLayoutId id="2147483652" r:id="rId6"/>
    <p:sldLayoutId id="2147483654" r:id="rId7"/>
    <p:sldLayoutId id="2147483655" r:id="rId8"/>
    <p:sldLayoutId id="2147483662" r:id="rId9"/>
    <p:sldLayoutId id="2147483664" r:id="rId10"/>
    <p:sldLayoutId id="2147483665" r:id="rId11"/>
    <p:sldLayoutId id="2147483666" r:id="rId12"/>
    <p:sldLayoutId id="2147483656" r:id="rId13"/>
    <p:sldLayoutId id="2147483657" r:id="rId14"/>
    <p:sldLayoutId id="2147483667" r:id="rId15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959F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00427A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byhand.ai/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E127A-D7C1-984F-9005-D54B2E23A76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sz="4800" dirty="0">
                <a:solidFill>
                  <a:srgbClr val="FFFFFF"/>
                </a:solidFill>
              </a:rPr>
              <a:t>STAT41130: AI for Weather and Climate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174F5A3-057F-773E-959B-7314793A85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Andrew Parnell</a:t>
            </a:r>
          </a:p>
        </p:txBody>
      </p:sp>
    </p:spTree>
    <p:extLst>
      <p:ext uri="{BB962C8B-B14F-4D97-AF65-F5344CB8AC3E}">
        <p14:creationId xmlns:p14="http://schemas.microsoft.com/office/powerpoint/2010/main" val="743824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4BCD2E-CCE6-5C58-BD47-638FA2E45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CA97C9-B9DB-169D-4540-562B92298F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8605603" cy="414929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Quick round table (who are you, and what would you like to get out of this course?)</a:t>
            </a:r>
          </a:p>
          <a:p>
            <a:r>
              <a:rPr lang="en-US" dirty="0"/>
              <a:t>Inspiration for this course:</a:t>
            </a:r>
          </a:p>
          <a:p>
            <a:pPr lvl="1"/>
            <a:r>
              <a:rPr lang="en-US" dirty="0"/>
              <a:t>AI by Hand by Tom Yeh: </a:t>
            </a:r>
            <a:r>
              <a:rPr lang="en-US" dirty="0">
                <a:hlinkClick r:id="rId2"/>
              </a:rPr>
              <a:t>www.byhand.ai</a:t>
            </a:r>
            <a:endParaRPr lang="en-US" dirty="0"/>
          </a:p>
          <a:p>
            <a:pPr lvl="1"/>
            <a:r>
              <a:rPr lang="en-US" dirty="0" err="1"/>
              <a:t>StatQuest</a:t>
            </a:r>
            <a:r>
              <a:rPr lang="en-US" dirty="0"/>
              <a:t> ‘Clearly Explained’ Videos</a:t>
            </a:r>
          </a:p>
          <a:p>
            <a:pPr lvl="1"/>
            <a:r>
              <a:rPr lang="en-US" dirty="0"/>
              <a:t>Artificial Intelligence Forecasting System (AIFS), </a:t>
            </a:r>
          </a:p>
          <a:p>
            <a:pPr lvl="1"/>
            <a:r>
              <a:rPr lang="en-US" dirty="0"/>
              <a:t>Anemoi: 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ecmwf</a:t>
            </a:r>
            <a:r>
              <a:rPr lang="en-US" dirty="0"/>
              <a:t>/</a:t>
            </a:r>
            <a:r>
              <a:rPr lang="en-US" dirty="0" err="1"/>
              <a:t>anemoi</a:t>
            </a:r>
            <a:r>
              <a:rPr lang="en-US" dirty="0"/>
              <a:t>-core</a:t>
            </a:r>
          </a:p>
          <a:p>
            <a:r>
              <a:rPr lang="en-US" dirty="0"/>
              <a:t>This is a hands-on course, mixing manual calculation and coding</a:t>
            </a:r>
          </a:p>
          <a:p>
            <a:r>
              <a:rPr lang="en-US" dirty="0"/>
              <a:t>Weather and climate is a motivating application, but the ideas can be applied more widely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DED1C5-3E0F-6088-5498-20F37CAAD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201D-48DB-3B45-ABC2-018B1E66F34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790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A0143-3578-2EB8-D2D7-84DB83A5F3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2D60D2-C3AC-DB5C-5600-9EE7E4D8D2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A06DC-5B5D-44EA-8DFF-0749F91B7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2FB5F-D553-C945-B874-A642CC0C851F}" type="datetime3">
              <a:rPr lang="en-IE" smtClean="0"/>
              <a:pPr/>
              <a:t>23 February 2026</a:t>
            </a:fld>
            <a:endParaRPr lang="en-US" dirty="0"/>
          </a:p>
        </p:txBody>
      </p:sp>
      <p:pic>
        <p:nvPicPr>
          <p:cNvPr id="6" name="slide.url=https://www.polleverywhere.com/multiple_choice_polls/ke0F7V1qXKkGTR3kaJFc2?state=opened&amp;flow=Default&amp;onscreen=persist">
            <a:extLst>
              <a:ext uri="{FF2B5EF4-FFF2-40B4-BE49-F238E27FC236}">
                <a16:creationId xmlns:a16="http://schemas.microsoft.com/office/drawing/2014/main" id="{0BCC93E8-3DE3-87A1-CECE-4DE59FC7AA16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079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D1B87-1966-8E89-2962-DC3204622D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A3567E-FC36-7941-7351-E09189A2FDB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C2028-5178-52BF-4586-FB9231511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2FB5F-D553-C945-B874-A642CC0C851F}" type="datetime3">
              <a:rPr lang="en-IE" smtClean="0"/>
              <a:pPr/>
              <a:t>23 February 2026</a:t>
            </a:fld>
            <a:endParaRPr lang="en-US" dirty="0"/>
          </a:p>
        </p:txBody>
      </p:sp>
      <p:pic>
        <p:nvPicPr>
          <p:cNvPr id="6" name="slide.url=https://www.polleverywhere.com/multiple_choice_polls/hWsbco8TWVs02D6zeGQK2?state=opened&amp;flow=Default&amp;onscreen=persist">
            <a:extLst>
              <a:ext uri="{FF2B5EF4-FFF2-40B4-BE49-F238E27FC236}">
                <a16:creationId xmlns:a16="http://schemas.microsoft.com/office/drawing/2014/main" id="{7D73A2DC-225C-661F-920B-2DF4EFA4A38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456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69361-7BB8-50C7-0B85-81FAACF39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AD364-1EC0-916C-8601-9F056E761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Github</a:t>
            </a:r>
            <a:r>
              <a:rPr lang="en-US" dirty="0"/>
              <a:t> repo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B3572-F3A9-A8CD-B1B7-6558F6EAA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All information at: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https://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github.com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andrewcparnell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/STAT41130</a:t>
            </a:r>
          </a:p>
          <a:p>
            <a:r>
              <a:rPr lang="en-US" dirty="0"/>
              <a:t>Contains slides (PPT files), code (Python script files), and worksheets (PDFs).</a:t>
            </a:r>
          </a:p>
          <a:p>
            <a:r>
              <a:rPr lang="en-US" dirty="0"/>
              <a:t>To access the material either:</a:t>
            </a:r>
          </a:p>
          <a:p>
            <a:pPr lvl="1"/>
            <a:r>
              <a:rPr lang="en-US" dirty="0"/>
              <a:t>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en-US" dirty="0"/>
              <a:t> directly to download the materials</a:t>
            </a:r>
          </a:p>
          <a:p>
            <a:pPr lvl="1"/>
            <a:r>
              <a:rPr lang="en-US" dirty="0"/>
              <a:t>Go to the website and click: Code -&gt; Download Zip</a:t>
            </a:r>
          </a:p>
          <a:p>
            <a:r>
              <a:rPr lang="en-US" dirty="0"/>
              <a:t>If you find typos/bugs either:</a:t>
            </a:r>
          </a:p>
          <a:p>
            <a:pPr lvl="1"/>
            <a:r>
              <a:rPr lang="en-US" dirty="0"/>
              <a:t>Let me know (basic)</a:t>
            </a:r>
          </a:p>
          <a:p>
            <a:pPr lvl="1"/>
            <a:r>
              <a:rPr lang="en-US" dirty="0"/>
              <a:t>File an issue on the GitHub page (intermediate)</a:t>
            </a:r>
          </a:p>
          <a:p>
            <a:pPr lvl="1"/>
            <a:r>
              <a:rPr lang="en-US" dirty="0"/>
              <a:t>Create a Pull Request and fix it yourself (advanced, and most helpful)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AC871B-19E6-0C6F-EDB7-E160D1101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201D-48DB-3B45-ABC2-018B1E66F34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236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8370D-B05E-88BF-3746-4FDA0F6C4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DFC7B-93DA-3B68-29AE-B52AE7212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Taking for credit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B2FF9-6743-63D2-5233-5331BA148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If taking for credit the breakdown will be:</a:t>
            </a:r>
          </a:p>
          <a:p>
            <a:pPr lvl="1"/>
            <a:r>
              <a:rPr lang="en-US" dirty="0"/>
              <a:t>60% exam</a:t>
            </a:r>
          </a:p>
          <a:p>
            <a:pPr lvl="1"/>
            <a:r>
              <a:rPr lang="en-US" dirty="0"/>
              <a:t>30% daily presentations</a:t>
            </a:r>
          </a:p>
          <a:p>
            <a:pPr lvl="1"/>
            <a:r>
              <a:rPr lang="en-US" dirty="0"/>
              <a:t>10% for answering quizzes</a:t>
            </a:r>
          </a:p>
          <a:p>
            <a:pPr lvl="1"/>
            <a:endParaRPr lang="en-US" dirty="0"/>
          </a:p>
          <a:p>
            <a:r>
              <a:rPr lang="en-US" dirty="0"/>
              <a:t>Each day is structured the same: 2 lectures, some quizzes, some coding in the afternoon, presentation at the end of the day</a:t>
            </a:r>
          </a:p>
          <a:p>
            <a:r>
              <a:rPr lang="en-US" dirty="0"/>
              <a:t>You will be in different groups each day</a:t>
            </a:r>
          </a:p>
          <a:p>
            <a:r>
              <a:rPr lang="en-US" dirty="0"/>
              <a:t>Google Drive link to put all the material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AAA6F5-D0EC-CF86-A2A1-EB88F555C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201D-48DB-3B45-ABC2-018B1E66F34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232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5EC70-35CA-5E43-0581-A4B32D1CE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C1FF7-128E-37EF-3C50-57944E2D2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B7244F-9C4A-88B2-8E6B-5DB4D291C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Best if you have Ubuntu or similar Linux running on your computer</a:t>
            </a:r>
          </a:p>
          <a:p>
            <a:r>
              <a:rPr lang="en-US" dirty="0"/>
              <a:t>Look at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setup</a:t>
            </a:r>
            <a:r>
              <a:rPr lang="en-US" dirty="0"/>
              <a:t> folder in the </a:t>
            </a:r>
            <a:r>
              <a:rPr lang="en-US" dirty="0" err="1"/>
              <a:t>Github</a:t>
            </a:r>
            <a:r>
              <a:rPr lang="en-US" dirty="0"/>
              <a:t> repo</a:t>
            </a:r>
          </a:p>
          <a:p>
            <a:r>
              <a:rPr lang="en-US" dirty="0"/>
              <a:t>We can go through how to set this up</a:t>
            </a:r>
          </a:p>
          <a:p>
            <a:r>
              <a:rPr lang="en-US" dirty="0"/>
              <a:t>Use VS code for coding</a:t>
            </a:r>
          </a:p>
          <a:p>
            <a:r>
              <a:rPr lang="en-US" dirty="0"/>
              <a:t>Install the requirements in one (or more) of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requirements_*.txt</a:t>
            </a:r>
            <a:r>
              <a:rPr lang="en-US" dirty="0"/>
              <a:t> files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A6A9C1-FEAB-2021-9892-D70505971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201D-48DB-3B45-ABC2-018B1E66F34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995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06677-BC70-884E-B0A4-FE47B64D9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00427A"/>
                </a:solidFill>
              </a:rPr>
              <a:t>Aims of this course</a:t>
            </a:r>
            <a:r>
              <a:rPr lang="en-US" sz="4000" dirty="0">
                <a:solidFill>
                  <a:srgbClr val="FFFFFF"/>
                </a:solidFill>
              </a:rPr>
              <a:t> this course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0FB019-B7E9-E333-0AEF-FD51C7ABE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201D-48DB-3B45-ABC2-018B1E66F34C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0ADC098-4E80-38B9-65C0-3871B8B96963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984180004"/>
              </p:ext>
            </p:extLst>
          </p:nvPr>
        </p:nvGraphicFramePr>
        <p:xfrm>
          <a:off x="838200" y="1941286"/>
          <a:ext cx="10926762" cy="36893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04988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85F45-1F2E-A6B6-2334-A8394BA88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is this course for?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7ED20-AA55-1D9D-60FA-4BA8D6815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4996"/>
            <a:ext cx="8348602" cy="4149290"/>
          </a:xfrm>
        </p:spPr>
        <p:txBody>
          <a:bodyPr>
            <a:normAutofit/>
          </a:bodyPr>
          <a:lstStyle/>
          <a:p>
            <a:r>
              <a:rPr lang="en-US" dirty="0"/>
              <a:t>Designed for students with </a:t>
            </a:r>
            <a:r>
              <a:rPr lang="en-US" i="1" dirty="0"/>
              <a:t>either</a:t>
            </a:r>
            <a:r>
              <a:rPr lang="en-US" dirty="0"/>
              <a:t> AI or weather/climate background</a:t>
            </a:r>
          </a:p>
          <a:p>
            <a:r>
              <a:rPr lang="en-US" dirty="0"/>
              <a:t>No deep prior experience in either area required</a:t>
            </a:r>
          </a:p>
          <a:p>
            <a:r>
              <a:rPr lang="en-US" dirty="0"/>
              <a:t>Collaboration across disciplines is strongly encouraged</a:t>
            </a:r>
          </a:p>
          <a:p>
            <a:r>
              <a:rPr lang="en-US" dirty="0"/>
              <a:t>Lots of interaction and group work</a:t>
            </a:r>
          </a:p>
          <a:p>
            <a:r>
              <a:rPr lang="en-US" dirty="0"/>
              <a:t>Main expert tools you need are: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283854E-C3A8-FECA-5924-7792ED597CF9}"/>
                  </a:ext>
                </a:extLst>
              </p:cNvPr>
              <p:cNvSpPr txBox="1"/>
              <p:nvPr/>
            </p:nvSpPr>
            <p:spPr>
              <a:xfrm>
                <a:off x="1095685" y="4424340"/>
                <a:ext cx="6846372" cy="147732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sz="9600" i="1" smtClean="0">
                        <a:solidFill>
                          <a:srgbClr val="00427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IE" sz="9600" b="0" i="1" smtClean="0">
                        <a:solidFill>
                          <a:srgbClr val="00427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rgbClr val="00427A"/>
                    </a:solidFill>
                  </a:rPr>
                  <a:t>and</a:t>
                </a:r>
                <a:r>
                  <a:rPr lang="en-US" sz="9600" dirty="0">
                    <a:solidFill>
                      <a:srgbClr val="00427A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IE" sz="9600" b="0" i="1" smtClean="0">
                        <a:solidFill>
                          <a:srgbClr val="00427A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</m:oMath>
                </a14:m>
                <a:endParaRPr lang="en-US" sz="9600" dirty="0">
                  <a:solidFill>
                    <a:srgbClr val="00427A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283854E-C3A8-FECA-5924-7792ED597C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5685" y="4424340"/>
                <a:ext cx="6846372" cy="147732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1FA386-C664-7FBA-1DC1-50102DA90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201D-48DB-3B45-ABC2-018B1E66F34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79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96DEA-5DDB-67CA-BC6D-6A765E9E6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781D2-D2A4-3C25-7269-4D3329E2F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4 + 4 days:</a:t>
            </a:r>
          </a:p>
          <a:p>
            <a:pPr lvl="1"/>
            <a:r>
              <a:rPr lang="en-US" dirty="0"/>
              <a:t>2 ~1-hour lectures in the morning</a:t>
            </a:r>
          </a:p>
          <a:p>
            <a:pPr lvl="1"/>
            <a:r>
              <a:rPr lang="en-US" dirty="0"/>
              <a:t>Short introduction to coding challenges</a:t>
            </a:r>
          </a:p>
          <a:p>
            <a:pPr lvl="1"/>
            <a:r>
              <a:rPr lang="en-US" dirty="0"/>
              <a:t>2-3 hour self-guided group exercises in the afternoon</a:t>
            </a:r>
          </a:p>
          <a:p>
            <a:pPr lvl="1"/>
            <a:r>
              <a:rPr lang="en-US" dirty="0"/>
              <a:t>Presentations at the end of the day</a:t>
            </a:r>
          </a:p>
          <a:p>
            <a:r>
              <a:rPr lang="en-US" dirty="0"/>
              <a:t>Computing labs use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PyTorch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Lectures start from assuming no knowledge about NNs</a:t>
            </a:r>
          </a:p>
          <a:p>
            <a:r>
              <a:rPr lang="en-US" dirty="0"/>
              <a:t>Expect to create short presentations, coding tasks, and pen-and-paper exercises</a:t>
            </a:r>
          </a:p>
          <a:p>
            <a:r>
              <a:rPr lang="en-US" dirty="0">
                <a:solidFill>
                  <a:srgbClr val="009749"/>
                </a:solidFill>
              </a:rPr>
              <a:t>Green text</a:t>
            </a:r>
            <a:r>
              <a:rPr lang="en-US" dirty="0"/>
              <a:t> means we go to the board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2BD3BD-20B9-EB1A-F871-A3C1C60CB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201D-48DB-3B45-ABC2-018B1E66F34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6300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04B0A-99AF-1B23-9CEF-CC62D701A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Syllabus (week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DB8611-2EDA-8CDF-8AA2-9AC795A3F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Linear regression and neural networks</a:t>
            </a:r>
          </a:p>
          <a:p>
            <a:r>
              <a:rPr lang="en-US" dirty="0"/>
              <a:t>NNs and back-propagation</a:t>
            </a:r>
          </a:p>
          <a:p>
            <a:r>
              <a:rPr lang="en-US" dirty="0"/>
              <a:t>Deep learning</a:t>
            </a:r>
          </a:p>
          <a:p>
            <a:r>
              <a:rPr lang="en-US" dirty="0"/>
              <a:t>Convolutional NNs</a:t>
            </a:r>
          </a:p>
          <a:p>
            <a:r>
              <a:rPr lang="en-US" dirty="0"/>
              <a:t>Recurrent NNs</a:t>
            </a:r>
          </a:p>
          <a:p>
            <a:r>
              <a:rPr lang="en-US" dirty="0"/>
              <a:t>Transformers</a:t>
            </a:r>
          </a:p>
          <a:p>
            <a:r>
              <a:rPr lang="en-US" dirty="0"/>
              <a:t>Graph NNs</a:t>
            </a:r>
          </a:p>
          <a:p>
            <a:r>
              <a:rPr lang="en-US" dirty="0"/>
              <a:t>Probabilistic forecasting with NNs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B5E9C3-1976-DACA-3AE2-28F5B2DD6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201D-48DB-3B45-ABC2-018B1E66F34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6622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11DA0-E8E2-7F7E-C1FA-DA29DD79B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B629C-5A78-79DC-8BF5-FA033BE05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Syllabus (week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1B038-32D6-BA06-2580-C5C6C714D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Graph Convolutional Neural Networks</a:t>
            </a:r>
          </a:p>
          <a:p>
            <a:r>
              <a:rPr lang="en-US" dirty="0"/>
              <a:t>SERT</a:t>
            </a:r>
          </a:p>
          <a:p>
            <a:r>
              <a:rPr lang="en-US" dirty="0"/>
              <a:t>Overview – data-driven weather forecasting</a:t>
            </a:r>
          </a:p>
          <a:p>
            <a:r>
              <a:rPr lang="en-US" dirty="0"/>
              <a:t>AIFS / Anemoi</a:t>
            </a:r>
          </a:p>
          <a:p>
            <a:r>
              <a:rPr lang="en-US" dirty="0"/>
              <a:t>Other topics (if time):</a:t>
            </a:r>
          </a:p>
          <a:p>
            <a:pPr lvl="1"/>
            <a:r>
              <a:rPr lang="en-US" dirty="0"/>
              <a:t>Bayesian inference</a:t>
            </a:r>
          </a:p>
          <a:p>
            <a:pPr lvl="1"/>
            <a:r>
              <a:rPr lang="en-US" dirty="0" err="1"/>
              <a:t>Github</a:t>
            </a:r>
            <a:endParaRPr lang="en-US" dirty="0"/>
          </a:p>
          <a:p>
            <a:pPr lvl="1"/>
            <a:r>
              <a:rPr lang="en-US" dirty="0"/>
              <a:t>Overleaf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9814A-DE5D-C67D-CB2E-AC4F29717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201D-48DB-3B45-ABC2-018B1E66F34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195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A94C2-B4AA-9A48-F920-5D2A76C250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Class 1: Linear regression to neural networks</a:t>
            </a:r>
          </a:p>
        </p:txBody>
      </p:sp>
    </p:spTree>
    <p:extLst>
      <p:ext uri="{BB962C8B-B14F-4D97-AF65-F5344CB8AC3E}">
        <p14:creationId xmlns:p14="http://schemas.microsoft.com/office/powerpoint/2010/main" val="420091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CA120-1202-8AE5-DFAC-25DDCF55E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F5A62-DC06-E7D8-81AF-73D612FA83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Reminder of linear regression (LR)</a:t>
            </a:r>
          </a:p>
          <a:p>
            <a:r>
              <a:rPr lang="en-US" dirty="0"/>
              <a:t>How to fit linear regression models</a:t>
            </a:r>
          </a:p>
          <a:p>
            <a:r>
              <a:rPr lang="en-US" dirty="0"/>
              <a:t>Thinking about LR as a neural network</a:t>
            </a:r>
          </a:p>
          <a:p>
            <a:r>
              <a:rPr lang="en-US" dirty="0"/>
              <a:t>Fitting LR like a neural network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972336-29DC-7DA0-B5E0-2014BFDB5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201D-48DB-3B45-ABC2-018B1E66F34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3812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270D7-83C7-0E25-FD69-9C6AA84C5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78923-5F17-ED8D-A8EE-21E4EFB87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0787"/>
          </a:xfrm>
        </p:spPr>
        <p:txBody>
          <a:bodyPr anchor="b">
            <a:normAutofit/>
          </a:bodyPr>
          <a:lstStyle/>
          <a:p>
            <a:r>
              <a:rPr lang="en-US" sz="3800" dirty="0"/>
              <a:t>Drawing straight lines of best fit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84034F-DE23-570D-08AB-66BCC7D1ED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0141" y="1497489"/>
                <a:ext cx="5127702" cy="4149290"/>
              </a:xfrm>
            </p:spPr>
            <p:txBody>
              <a:bodyPr anchor="t">
                <a:normAutofit/>
              </a:bodyPr>
              <a:lstStyle/>
              <a:p>
                <a:r>
                  <a:rPr lang="en-US" sz="2200" dirty="0"/>
                  <a:t>Super simple data set: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200" dirty="0"/>
                  <a:t> = [15.54 15.28 15.42 15.84 15.00]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200" dirty="0"/>
                  <a:t> = [15.58 15.48 15.67 15.89 15.18]</a:t>
                </a:r>
              </a:p>
              <a:p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200" dirty="0"/>
                  <a:t> = temperature now</a:t>
                </a:r>
              </a:p>
              <a:p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200" dirty="0"/>
                  <a:t> = temperature in 6h</a:t>
                </a:r>
              </a:p>
              <a:p>
                <a:r>
                  <a:rPr lang="en-US" sz="2200" dirty="0"/>
                  <a:t>Want a simple straight line of best fit through the data to predict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200" dirty="0"/>
                  <a:t> from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84034F-DE23-570D-08AB-66BCC7D1ED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0141" y="1497489"/>
                <a:ext cx="5127702" cy="4149290"/>
              </a:xfrm>
              <a:blipFill>
                <a:blip r:embed="rId2"/>
                <a:stretch>
                  <a:fillRect l="-1485" t="-21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5E063B-173D-7821-35E2-C74F79D84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E65201D-48DB-3B45-ABC2-018B1E66F34C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1C5587-D56C-AF4C-FAB8-82EC2D273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8300" y="1134682"/>
            <a:ext cx="6184900" cy="4874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5125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4FCEB-82A8-B970-517B-7C71684A8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Foundations of linear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028F32-5FC2-5FDE-9662-5F224BBE26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The linear regression model can be written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IE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E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IE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E" b="0" i="1" smtClean="0">
                          <a:solidFill>
                            <a:srgbClr val="00959F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IE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E" b="0" i="1" smtClean="0">
                          <a:solidFill>
                            <a:srgbClr val="00959F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IE" b="0" i="1" smtClean="0">
                          <a:latin typeface="Cambria Math" panose="02040503050406030204" pitchFamily="18" charset="0"/>
                        </a:rPr>
                        <m:t> × </m:t>
                      </m:r>
                      <m:r>
                        <a:rPr lang="en-IE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…where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is our inputs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E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IE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our (predicted) outputs.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959F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is a weight (or a regression coefficient), 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959F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is a bias (or intercept),</a:t>
                </a:r>
              </a:p>
              <a:p>
                <a:r>
                  <a:rPr lang="en-IE" b="0" dirty="0"/>
                  <a:t>Let </a:t>
                </a:r>
                <a14:m>
                  <m:oMath xmlns:m="http://schemas.openxmlformats.org/officeDocument/2006/math">
                    <m:r>
                      <a:rPr lang="en-IE" b="0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be a residual (or error) leftover term </a:t>
                </a:r>
                <a14:m>
                  <m:oMath xmlns:m="http://schemas.openxmlformats.org/officeDocument/2006/math">
                    <m:r>
                      <a:rPr lang="en-IE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E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E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E" b="0" i="1" dirty="0" smtClean="0">
                        <a:latin typeface="Cambria Math" panose="02040503050406030204" pitchFamily="18" charset="0"/>
                      </a:rPr>
                      <m:t> − </m:t>
                    </m:r>
                    <m:acc>
                      <m:accPr>
                        <m:chr m:val="̂"/>
                        <m:ctrlPr>
                          <a:rPr lang="en-I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endParaRPr lang="en-US" dirty="0"/>
              </a:p>
              <a:p>
                <a:r>
                  <a:rPr lang="en-US" dirty="0"/>
                  <a:t>Idea: optimize the values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by </a:t>
                </a:r>
                <a:r>
                  <a:rPr lang="en-US" dirty="0" err="1"/>
                  <a:t>minimising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E" b="0" i="1" dirty="0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>
                    <a:solidFill>
                      <a:srgbClr val="009749"/>
                    </a:solidFill>
                  </a:rPr>
                  <a:t>(Calculation on board of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i="1" dirty="0" smtClean="0">
                            <a:solidFill>
                              <a:srgbClr val="009749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i="1" dirty="0" smtClean="0">
                                <a:solidFill>
                                  <a:srgbClr val="00974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E" b="0" i="1" dirty="0" smtClean="0">
                                <a:solidFill>
                                  <a:srgbClr val="009749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US" i="1" dirty="0">
                                <a:solidFill>
                                  <a:srgbClr val="009749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dirty="0">
                    <a:solidFill>
                      <a:srgbClr val="009749"/>
                    </a:solidFill>
                  </a:rPr>
                  <a:t>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9749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 dirty="0" smtClean="0">
                        <a:solidFill>
                          <a:srgbClr val="009749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solidFill>
                      <a:srgbClr val="009749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9749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 dirty="0" smtClean="0">
                        <a:solidFill>
                          <a:srgbClr val="009749"/>
                        </a:solidFill>
                        <a:latin typeface="Cambria Math" panose="02040503050406030204" pitchFamily="18" charset="0"/>
                      </a:rPr>
                      <m:t> = 0.5</m:t>
                    </m:r>
                  </m:oMath>
                </a14:m>
                <a:r>
                  <a:rPr lang="en-US" dirty="0">
                    <a:solidFill>
                      <a:srgbClr val="009749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D028F32-5FC2-5FDE-9662-5F224BBE26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6" t="-2134" b="-134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806D1-A9D5-7985-54B4-53E5BB211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201D-48DB-3B45-ABC2-018B1E66F34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3239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5AC593-BB66-DD39-7ACA-9F541CE80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37E33-D1E2-49B9-78F8-87A48C5EE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60E96-A1BC-E110-FA04-5E0F90C617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287000" cy="41492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b = 1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w = 1</a:t>
            </a:r>
          </a:p>
          <a:p>
            <a:pPr marL="0" indent="0">
              <a:buNone/>
            </a:pP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sum_of_squares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np.sum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((y - (b + w * X)) ** 2)</a:t>
            </a:r>
          </a:p>
          <a:p>
            <a:pPr marL="0" indent="0"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# Residual sum of squares for b=1, w=1: 3.74</a:t>
            </a:r>
          </a:p>
          <a:p>
            <a:pPr marL="0" indent="0">
              <a:buNone/>
            </a:pPr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b = 5</a:t>
            </a:r>
          </a:p>
          <a:p>
            <a:pPr marL="0" indent="0">
              <a:buNone/>
            </a:pP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w = 0.5</a:t>
            </a:r>
          </a:p>
          <a:p>
            <a:pPr marL="0" indent="0">
              <a:buNone/>
            </a:pP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sum_of_squares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np.sum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((y - (b + w * X)) ** 2)</a:t>
            </a:r>
          </a:p>
          <a:p>
            <a:pPr marL="0" indent="0">
              <a:buNone/>
            </a:pP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Residual sum of squares for b=5, w=0.5: 40.65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1B6CF4-1942-8F12-56B3-CE1E0BB35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201D-48DB-3B45-ABC2-018B1E66F34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9894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1777E-AE3A-3C05-9614-100477AC2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89E3D-B35E-32F7-BE3E-796B79C72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intuition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B96D90-E3BB-CDC8-36C0-395CDC0B14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(weight) controls the slope of the line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(bias) shifts the line up or down</a:t>
                </a:r>
              </a:p>
              <a:p>
                <a:r>
                  <a:rPr lang="en-US" dirty="0"/>
                  <a:t>This model predicts </a:t>
                </a:r>
                <a:r>
                  <a:rPr lang="en-US" i="1" dirty="0"/>
                  <a:t>continuous</a:t>
                </a:r>
                <a:r>
                  <a:rPr lang="en-US" dirty="0"/>
                  <a:t> target values (like temperature)</a:t>
                </a:r>
              </a:p>
              <a:p>
                <a:r>
                  <a:rPr lang="en-US" dirty="0"/>
                  <a:t>Assumes linearity between input and output</a:t>
                </a:r>
              </a:p>
              <a:p>
                <a:r>
                  <a:rPr lang="en-US" dirty="0"/>
                  <a:t>Can fit this model exactly using calculus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3B96D90-E3BB-CDC8-36C0-395CDC0B14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68" t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5F025A-8867-9E76-E927-62BF3CC1C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201D-48DB-3B45-ABC2-018B1E66F34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619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3280B-16F1-3BB7-C35F-F7B34FBFE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A75D2-9757-92D7-24E7-90080F61D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loss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FAF7864-B7D8-FC74-E94F-1BBBCA2D3E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The ‘best’ values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will be found when we minimize the residual sum of squares</a:t>
                </a:r>
              </a:p>
              <a:p>
                <a:r>
                  <a:rPr lang="en-IE" dirty="0"/>
                  <a:t>T</a:t>
                </a:r>
                <a:r>
                  <a:rPr lang="en-US" dirty="0"/>
                  <a:t>he residual sum of squares is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IE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E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IE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IE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IE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E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IE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IE" i="1"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en-IE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en-IE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E" i="1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IE" b="0" i="1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IE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e>
                    </m:nary>
                  </m:oMath>
                </a14:m>
                <a:r>
                  <a:rPr lang="en-US" dirty="0"/>
                  <a:t>This is like the root mean square error: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E" i="1">
                          <a:latin typeface="Cambria Math" panose="02040503050406030204" pitchFamily="18" charset="0"/>
                        </a:rPr>
                        <m:t>𝑅𝑀𝑆𝐸</m:t>
                      </m:r>
                      <m:r>
                        <a:rPr lang="en-IE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E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IE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E" i="1">
                                  <a:latin typeface="Cambria Math" panose="02040503050406030204" pitchFamily="18" charset="0"/>
                                </a:rPr>
                                <m:t>∑</m:t>
                              </m:r>
                              <m:sSup>
                                <m:sSupPr>
                                  <m:ctrlPr>
                                    <a:rPr lang="en-IE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E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d>
                                    <m:dPr>
                                      <m:ctrlPr>
                                        <a:rPr lang="en-IE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IE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IE" b="0" i="1" smtClean="0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IE" b="0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IE" i="1">
                                          <a:latin typeface="Cambria Math" panose="02040503050406030204" pitchFamily="18" charset="0"/>
                                        </a:rPr>
                                        <m:t> −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I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sSub>
                                            <m:sSubPr>
                                              <m:ctrlPr>
                                                <a:rPr lang="en-IE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IE" i="1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IE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IE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IE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RMSE is nice because it’s in the same units as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(temperature)</a:t>
                </a:r>
              </a:p>
              <a:p>
                <a:r>
                  <a:rPr lang="en-US" dirty="0"/>
                  <a:t>Can also find the values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 that minimize the values of RMSE (they’ll be the same)</a:t>
                </a:r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FAF7864-B7D8-FC74-E94F-1BBBCA2D3E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6" t="-2744" r="-760" b="-21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176B5-1578-320A-74B7-741F231DE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201D-48DB-3B45-ABC2-018B1E66F34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0855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E933F-D985-536E-8B37-3F41A54F6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via gradient descent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B04B95-B004-E5D8-DEE0-A67DADEEFC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190500" indent="-190500">
                  <a:buSzPct val="100000"/>
                  <a:buChar char="•"/>
                </a:pPr>
                <a:r>
                  <a:rPr lang="en-US" sz="2800" dirty="0">
                    <a:solidFill>
                      <a:srgbClr val="00427A"/>
                    </a:solidFill>
                  </a:rPr>
                  <a:t>Iterative algorithm to minimize the loss function</a:t>
                </a:r>
              </a:p>
              <a:p>
                <a:pPr marL="190500" indent="-190500">
                  <a:buSzPct val="100000"/>
                  <a:buChar char="•"/>
                </a:pPr>
                <a:r>
                  <a:rPr lang="en-US" sz="2800" dirty="0">
                    <a:solidFill>
                      <a:srgbClr val="00427A"/>
                    </a:solidFill>
                  </a:rPr>
                  <a:t>Computes the gradient of the loss function (i.e. partial derivatives) with respect to parameters</a:t>
                </a:r>
              </a:p>
              <a:p>
                <a:pPr marL="190500" indent="-190500">
                  <a:buSzPct val="100000"/>
                  <a:buChar char="•"/>
                </a:pPr>
                <a:r>
                  <a:rPr lang="en-US" dirty="0">
                    <a:solidFill>
                      <a:srgbClr val="00427A"/>
                    </a:solidFill>
                  </a:rPr>
                  <a:t>Pick a learning rate value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427A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>
                    <a:solidFill>
                      <a:srgbClr val="00427A"/>
                    </a:solidFill>
                  </a:rPr>
                  <a:t> </a:t>
                </a:r>
                <a:endParaRPr lang="en-US" sz="2800" dirty="0">
                  <a:solidFill>
                    <a:srgbClr val="00427A"/>
                  </a:solidFill>
                </a:endParaRPr>
              </a:p>
              <a:p>
                <a:pPr marL="190500" indent="-190500">
                  <a:buSzPct val="100000"/>
                  <a:buChar char="•"/>
                </a:pPr>
                <a:r>
                  <a:rPr lang="en-US" sz="2800" dirty="0">
                    <a:solidFill>
                      <a:srgbClr val="00427A"/>
                    </a:solidFill>
                  </a:rPr>
                  <a:t>Update rule: </a:t>
                </a:r>
              </a:p>
              <a:p>
                <a:pPr marL="0" indent="0" algn="ctr">
                  <a:buSzPct val="10000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dirty="0" smtClean="0">
                          <a:solidFill>
                            <a:srgbClr val="00427A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800" i="1" dirty="0" smtClean="0">
                          <a:solidFill>
                            <a:srgbClr val="00427A"/>
                          </a:solidFill>
                          <a:latin typeface="Cambria Math" panose="02040503050406030204" pitchFamily="18" charset="0"/>
                        </a:rPr>
                        <m:t> ← </m:t>
                      </m:r>
                      <m:r>
                        <a:rPr lang="en-US" sz="2800" i="1" dirty="0" smtClean="0">
                          <a:solidFill>
                            <a:srgbClr val="00427A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800" i="1" dirty="0" smtClean="0">
                          <a:solidFill>
                            <a:srgbClr val="00427A"/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US" sz="2800" i="1" dirty="0" smtClean="0">
                          <a:solidFill>
                            <a:srgbClr val="00427A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800" i="1" dirty="0" smtClean="0">
                          <a:solidFill>
                            <a:srgbClr val="00427A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800" i="1" dirty="0" smtClean="0">
                              <a:solidFill>
                                <a:srgbClr val="00427A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E" sz="2800" b="0" i="1" dirty="0" smtClean="0">
                              <a:solidFill>
                                <a:srgbClr val="00427A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IE" sz="2800" b="0" i="1" dirty="0" smtClean="0">
                              <a:solidFill>
                                <a:srgbClr val="00427A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i="1" dirty="0">
                              <a:solidFill>
                                <a:srgbClr val="00427A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>
                              <a:solidFill>
                                <a:srgbClr val="00427A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den>
                      </m:f>
                      <m:r>
                        <a:rPr lang="en-US" sz="2800" i="1" dirty="0" smtClean="0">
                          <a:solidFill>
                            <a:srgbClr val="00427A"/>
                          </a:solidFill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sz="2800" i="1" dirty="0" smtClean="0">
                          <a:solidFill>
                            <a:srgbClr val="00427A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800" i="1" dirty="0" smtClean="0">
                          <a:solidFill>
                            <a:srgbClr val="00427A"/>
                          </a:solidFill>
                          <a:latin typeface="Cambria Math" panose="02040503050406030204" pitchFamily="18" charset="0"/>
                        </a:rPr>
                        <m:t> ← </m:t>
                      </m:r>
                      <m:r>
                        <a:rPr lang="en-US" sz="2800" i="1" dirty="0" smtClean="0">
                          <a:solidFill>
                            <a:srgbClr val="00427A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800" i="1" dirty="0" smtClean="0">
                          <a:solidFill>
                            <a:srgbClr val="00427A"/>
                          </a:solidFill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US" sz="2800" i="1" dirty="0" smtClean="0">
                          <a:solidFill>
                            <a:srgbClr val="00427A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800" i="1" dirty="0" smtClean="0">
                          <a:solidFill>
                            <a:srgbClr val="00427A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US" sz="2800" i="1" dirty="0" smtClean="0">
                              <a:solidFill>
                                <a:srgbClr val="00427A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 dirty="0">
                              <a:solidFill>
                                <a:srgbClr val="00427A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>
                              <a:solidFill>
                                <a:srgbClr val="00427A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en-US" i="1" dirty="0">
                              <a:solidFill>
                                <a:srgbClr val="00427A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i="1" dirty="0">
                              <a:solidFill>
                                <a:srgbClr val="00427A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00427A"/>
                  </a:solidFill>
                </a:endParaRPr>
              </a:p>
              <a:p>
                <a:pPr marL="190500" indent="-190500">
                  <a:buSzPct val="100000"/>
                  <a:buChar char="•"/>
                </a:pPr>
                <a:r>
                  <a:rPr lang="en-US" sz="2800" dirty="0">
                    <a:solidFill>
                      <a:srgbClr val="00427A"/>
                    </a:solidFill>
                  </a:rPr>
                  <a:t>Repeat until convergence (i.e. a very small change in loss function value)</a:t>
                </a:r>
              </a:p>
              <a:p>
                <a:pPr marL="190500" indent="-190500">
                  <a:buSzPct val="100000"/>
                  <a:buChar char="•"/>
                </a:pPr>
                <a:r>
                  <a:rPr lang="en-US" dirty="0">
                    <a:solidFill>
                      <a:srgbClr val="009749"/>
                    </a:solidFill>
                  </a:rPr>
                  <a:t>(Calculation: derivatives of the loss function)</a:t>
                </a:r>
                <a:endParaRPr lang="en-US" sz="2800" dirty="0">
                  <a:solidFill>
                    <a:srgbClr val="009749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B04B95-B004-E5D8-DEE0-A67DADEEFC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6" t="-2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3E6FF0-C686-5068-42A7-945A7C09B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201D-48DB-3B45-ABC2-018B1E66F34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8468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F358B-9FDE-8CD1-BCB1-B9D0647BE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057F8-789E-DFFD-436E-60DAA9AD3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89E7C8-A0DF-7833-3225-D2451C762EF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Step 0: Provide initial values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, and learning rate </a:t>
                </a:r>
                <a14:m>
                  <m:oMath xmlns:m="http://schemas.openxmlformats.org/officeDocument/2006/math">
                    <m:r>
                      <a:rPr lang="en-IE" b="0" i="1" dirty="0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Step 1: Compute the loss (RMSE) with current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Step 2: Calculate gradients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𝜕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(numerically or algebraically)</a:t>
                </a:r>
              </a:p>
              <a:p>
                <a:pPr marL="0" indent="0">
                  <a:buNone/>
                </a:pPr>
                <a:r>
                  <a:rPr lang="en-US" dirty="0"/>
                  <a:t>Step 3: Update parameters</a:t>
                </a:r>
                <a:r>
                  <a:rPr lang="en-IE" dirty="0"/>
                  <a:t> via the update rule</a:t>
                </a:r>
                <a:endParaRPr lang="en-US" dirty="0"/>
              </a:p>
              <a:p>
                <a:r>
                  <a:rPr lang="en-US" dirty="0"/>
                  <a:t>Repeat until convergence</a:t>
                </a:r>
              </a:p>
              <a:p>
                <a:r>
                  <a:rPr lang="en-US" dirty="0"/>
                  <a:t>Each iteration is called an </a:t>
                </a:r>
                <a:r>
                  <a:rPr lang="en-US" i="1" dirty="0"/>
                  <a:t>epoch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89E7C8-A0DF-7833-3225-D2451C762EF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34" t="-2349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8895A-96CE-B062-C0FD-BBABAE7CB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201D-48DB-3B45-ABC2-018B1E66F34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343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DC664-7579-A09D-17BF-71E33554B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00A9D-3BB1-6484-2F9C-3777D5902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BDFE7-80B5-37C7-325D-667F9302A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9258701" cy="414929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w, b = 0.0, 0.0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alpha = 0.01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epochs = 100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losses = []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for epoch in range(epochs):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compute_gradients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(X, y, w, b)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w -=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dw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b -=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db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loss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rmse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(y, predict(X, w, b))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if epoch % 10 == 0: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  print(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f'Epoch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{epoch}, Loss: {loss:.4f}, w: {w:.4f}, b: {b:.4f}')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losses.append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(loss)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96421-2D07-4D31-3101-0FD138D41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201D-48DB-3B45-ABC2-018B1E66F34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5402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71F57-7D65-BE4A-186D-F34F1697D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AB422-FC18-E3A5-2FD7-5038AC00D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BDEED-65DC-2713-6DAE-DE11852A8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Epoch 0, Loss: 9.0256, w: 1.4669, b: 1.9654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Epoch 1, Loss: 4.7143, w: 1.1885, b: 1.9474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Epoch 2, Loss: 2.4623, w: 1.0431, b: 1.9380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Epoch 3, Loss: 1.2860, w: 0.9671, b: 1.9330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Epoch 4, Loss: 0.6715, w: 0.9274, b: 1.9305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Epoch 5, Loss: 0.3506, w: 0.9067, b: 1.9291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Epoch 6, Loss: 0.1829, w: 0.8959, b: 1.9284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Epoch 7, Loss: 0.1006, w: 0.8902, b: 1.9281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Epoch 8, Loss: 0.0732, w: 0.8873, b: 1.9279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Epoch 9, Loss: 0.0667, w: 0.8857, b: 1.9278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286FCC-E5EC-AF71-0532-4221806A4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201D-48DB-3B45-ABC2-018B1E66F34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1375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1F1A9-3EDA-14B1-7B20-AFF1B5C20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96F5F-8287-A9E7-F83C-966520884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/>
              <a:t>Plotting the fit</a:t>
            </a:r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948C05F8-119F-B58E-4E28-1923526B0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E65201D-48DB-3B45-ABC2-018B1E66F34C}" type="slidenum">
              <a:rPr lang="en-US">
                <a:solidFill>
                  <a:schemeClr val="tx1">
                    <a:alpha val="80000"/>
                  </a:schemeClr>
                </a:solidFill>
              </a:rPr>
              <a:pPr>
                <a:spcAft>
                  <a:spcPts val="600"/>
                </a:spcAft>
              </a:pPr>
              <a:t>24</a:t>
            </a:fld>
            <a:endParaRPr lang="en-US">
              <a:solidFill>
                <a:schemeClr val="tx1">
                  <a:alpha val="80000"/>
                </a:schemeClr>
              </a:solidFill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11A9BD6-D00F-742B-6324-D05E741DBD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81136"/>
            <a:ext cx="6108700" cy="481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91544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5EA65-A1B3-0883-D42C-CF114A6CF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rate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AA6AF5-3673-BB08-ED36-081204366B2D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pPr marL="190500" indent="-190500">
                  <a:buSzPct val="100000"/>
                  <a:buChar char="•"/>
                </a:pPr>
                <a14:m>
                  <m:oMath xmlns:m="http://schemas.openxmlformats.org/officeDocument/2006/math">
                    <m:r>
                      <a:rPr lang="en-US" sz="2800" i="1" dirty="0" smtClean="0">
                        <a:solidFill>
                          <a:srgbClr val="00427A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800" dirty="0">
                    <a:solidFill>
                      <a:srgbClr val="00427A"/>
                    </a:solidFill>
                  </a:rPr>
                  <a:t> controls the step size in gradient descent</a:t>
                </a:r>
              </a:p>
              <a:p>
                <a:pPr marL="190500" indent="-190500">
                  <a:buSzPct val="100000"/>
                  <a:buChar char="•"/>
                </a:pPr>
                <a:r>
                  <a:rPr lang="en-US" sz="2800" dirty="0">
                    <a:solidFill>
                      <a:srgbClr val="00427A"/>
                    </a:solidFill>
                  </a:rPr>
                  <a:t>Too small: slow convergence; too large: divergence</a:t>
                </a:r>
              </a:p>
              <a:p>
                <a:pPr marL="190500" indent="-190500">
                  <a:buSzPct val="100000"/>
                  <a:buChar char="•"/>
                </a:pPr>
                <a:r>
                  <a:rPr lang="en-US" sz="2800" dirty="0">
                    <a:solidFill>
                      <a:srgbClr val="00427A"/>
                    </a:solidFill>
                  </a:rPr>
                  <a:t>Often chosen empirically or via learning rate schedules</a:t>
                </a:r>
              </a:p>
              <a:p>
                <a:pPr marL="190500" indent="-190500">
                  <a:buSzPct val="100000"/>
                  <a:buChar char="•"/>
                </a:pPr>
                <a:r>
                  <a:rPr lang="en-US" sz="2800" dirty="0">
                    <a:solidFill>
                      <a:srgbClr val="00427A"/>
                    </a:solidFill>
                  </a:rPr>
                  <a:t>Adaptive optimizers (e.g. Adam, </a:t>
                </a:r>
                <a:r>
                  <a:rPr lang="en-US" sz="2800" dirty="0" err="1">
                    <a:solidFill>
                      <a:srgbClr val="00427A"/>
                    </a:solidFill>
                  </a:rPr>
                  <a:t>RMSProp</a:t>
                </a:r>
                <a:r>
                  <a:rPr lang="en-US" sz="2800" dirty="0">
                    <a:solidFill>
                      <a:srgbClr val="00427A"/>
                    </a:solidFill>
                  </a:rPr>
                  <a:t>) adjust the rate automatically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BAA6AF5-3673-BB08-ED36-081204366B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200" t="-2326" r="-29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7A055-DEA0-A8C2-C97B-9840310E5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201D-48DB-3B45-ABC2-018B1E66F34C}" type="slidenum">
              <a:rPr lang="en-US" smtClean="0"/>
              <a:t>25</a:t>
            </a:fld>
            <a:endParaRPr lang="en-US"/>
          </a:p>
        </p:txBody>
      </p:sp>
      <p:graphicFrame>
        <p:nvGraphicFramePr>
          <p:cNvPr id="6" name="Chart 0">
            <a:extLst>
              <a:ext uri="{FF2B5EF4-FFF2-40B4-BE49-F238E27FC236}">
                <a16:creationId xmlns:a16="http://schemas.microsoft.com/office/drawing/2014/main" id="{F9467F58-BE77-21BC-5FB3-72A370E1E6F0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6172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543520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B1C68-E4C9-D712-C1FE-91A3DE23F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547815"/>
            <a:ext cx="5167185" cy="16805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Parameter trajectories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76B39D-B898-FABF-12ED-EE676E536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E65201D-48DB-3B45-ABC2-018B1E66F34C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26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9412C57-0140-DC49-6555-3CC6A8F02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49" y="1746767"/>
            <a:ext cx="5167185" cy="42344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81392AA-DE41-8855-0DE8-29DDE33C2E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5383" y="1426174"/>
            <a:ext cx="5181600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197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E39C-D5F6-C77D-18D4-38402697D3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EA4A61-CE6D-44D8-27E8-4536E4268A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E6E257-E59D-F782-9848-DE19C5472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2FB5F-D553-C945-B874-A642CC0C851F}" type="datetime3">
              <a:rPr lang="en-IE" smtClean="0"/>
              <a:pPr/>
              <a:t>23 February 2026</a:t>
            </a:fld>
            <a:endParaRPr lang="en-US" dirty="0"/>
          </a:p>
        </p:txBody>
      </p:sp>
      <p:pic>
        <p:nvPicPr>
          <p:cNvPr id="6" name="slide.url=https://www.polleverywhere.com/multiple_choice_polls/Nl64SB8F6W7j9Limp1MDf?state=opened&amp;flow=Default&amp;onscreen=persist">
            <a:extLst>
              <a:ext uri="{FF2B5EF4-FFF2-40B4-BE49-F238E27FC236}">
                <a16:creationId xmlns:a16="http://schemas.microsoft.com/office/drawing/2014/main" id="{B4F5BFCF-BB8A-978B-0020-717E2E775D8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5401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5B126-7CFA-3A88-2EE6-CEA5619E05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7A2352-2040-A403-BE1A-19C828EEAE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F3ACE-AADC-CBE1-4FEF-E50BDF36D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2FB5F-D553-C945-B874-A642CC0C851F}" type="datetime3">
              <a:rPr lang="en-IE" smtClean="0"/>
              <a:pPr/>
              <a:t>23 February 2026</a:t>
            </a:fld>
            <a:endParaRPr lang="en-US" dirty="0"/>
          </a:p>
        </p:txBody>
      </p:sp>
      <p:pic>
        <p:nvPicPr>
          <p:cNvPr id="6" name="slide.url=https://www.polleverywhere.com/multiple_choice_polls/OrixocTkLIB9GXI5DFJxH?state=opened&amp;flow=Default&amp;onscreen=persist">
            <a:extLst>
              <a:ext uri="{FF2B5EF4-FFF2-40B4-BE49-F238E27FC236}">
                <a16:creationId xmlns:a16="http://schemas.microsoft.com/office/drawing/2014/main" id="{F1EF27CE-E014-4EA8-22E6-3B76572C87B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" y="63500"/>
            <a:ext cx="12065000" cy="673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505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838C6-8316-5133-7678-1D1A23CD1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Batch vs stochastic gradient descent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850DBD-0539-09D1-5A65-48E9411C77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Batch GD: uses entire dataset each iteration; smooth but computationally heavy</a:t>
            </a:r>
          </a:p>
          <a:p>
            <a:r>
              <a:rPr lang="en-US" dirty="0"/>
              <a:t>Stochastic GD: updates using fewer (or just one) samples; faster but noisy</a:t>
            </a:r>
          </a:p>
          <a:p>
            <a:r>
              <a:rPr lang="en-US" dirty="0"/>
              <a:t>Mini‑batch GD: compromise between the two</a:t>
            </a:r>
          </a:p>
          <a:p>
            <a:r>
              <a:rPr lang="en-US" dirty="0"/>
              <a:t>Noise in SGD can help escape shallow minima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494D14-2C67-4C28-E6C6-1BBDA46B6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201D-48DB-3B45-ABC2-018B1E66F34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49439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BD276-83B2-8395-7288-99E0EB29B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Training and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B6C58C-C334-D846-6B98-DB2735C9C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E" dirty="0"/>
              <a:t>Common to divide up the data set into:</a:t>
            </a:r>
          </a:p>
          <a:p>
            <a:pPr lvl="1"/>
            <a:r>
              <a:rPr lang="en-IE" dirty="0"/>
              <a:t>Training set: used to learn the parameters of the model</a:t>
            </a:r>
          </a:p>
          <a:p>
            <a:pPr lvl="1"/>
            <a:r>
              <a:rPr lang="en-IE" dirty="0"/>
              <a:t>Test set: used to evaluate model performance on data the model hasn’t seen</a:t>
            </a:r>
          </a:p>
          <a:p>
            <a:pPr lvl="1"/>
            <a:r>
              <a:rPr lang="en-IE" dirty="0"/>
              <a:t>Validation set: used to compare different models</a:t>
            </a:r>
          </a:p>
          <a:p>
            <a:r>
              <a:rPr lang="en-IE" dirty="0"/>
              <a:t>The majority of the data (e.g. 75%) is used for the training set with the remainder used for validation or testing</a:t>
            </a:r>
          </a:p>
          <a:p>
            <a:r>
              <a:rPr lang="en-IE" dirty="0"/>
              <a:t>Before deployment, you might want to re-fit your model on all of the data</a:t>
            </a:r>
          </a:p>
        </p:txBody>
      </p:sp>
    </p:spTree>
    <p:extLst>
      <p:ext uri="{BB962C8B-B14F-4D97-AF65-F5344CB8AC3E}">
        <p14:creationId xmlns:p14="http://schemas.microsoft.com/office/powerpoint/2010/main" val="32909492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5C3F1-05B4-AAD4-8584-BD4DE4C17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latin typeface="Arial" pitchFamily="34" charset="0"/>
                <a:ea typeface="Arial" pitchFamily="34" charset="-122"/>
                <a:cs typeface="Arial" pitchFamily="34" charset="-120"/>
              </a:rPr>
              <a:t>Feature Scaling &amp; </a:t>
            </a:r>
            <a:r>
              <a:rPr lang="en-US" sz="4400" dirty="0" err="1">
                <a:latin typeface="Arial" pitchFamily="34" charset="0"/>
                <a:ea typeface="Arial" pitchFamily="34" charset="-122"/>
                <a:cs typeface="Arial" pitchFamily="34" charset="-120"/>
              </a:rPr>
              <a:t>Normalisation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85883-F31D-BC7D-E103-A90737D043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90500" indent="-190500">
              <a:buSzPct val="100000"/>
              <a:buChar char="•"/>
            </a:pPr>
            <a:r>
              <a:rPr lang="en-US" sz="2800" dirty="0"/>
              <a:t>Inputs on different scales slow down </a:t>
            </a:r>
            <a:r>
              <a:rPr lang="en-US" sz="2800" dirty="0" err="1"/>
              <a:t>optimi</a:t>
            </a:r>
            <a:r>
              <a:rPr lang="en-US" dirty="0" err="1"/>
              <a:t>s</a:t>
            </a:r>
            <a:r>
              <a:rPr lang="en-US" sz="2800" dirty="0" err="1"/>
              <a:t>ation</a:t>
            </a:r>
            <a:endParaRPr lang="en-US" sz="2800" dirty="0"/>
          </a:p>
          <a:p>
            <a:pPr marL="190500" indent="-190500">
              <a:buSzPct val="100000"/>
              <a:buChar char="•"/>
            </a:pPr>
            <a:r>
              <a:rPr lang="en-US" sz="2800" dirty="0" err="1"/>
              <a:t>Standardise</a:t>
            </a:r>
            <a:r>
              <a:rPr lang="en-US" sz="2800" dirty="0"/>
              <a:t> by removing the mean and scaling to unit variance</a:t>
            </a:r>
          </a:p>
          <a:p>
            <a:pPr marL="190500" indent="-190500">
              <a:buSzPct val="100000"/>
              <a:buChar char="•"/>
            </a:pPr>
            <a:r>
              <a:rPr lang="en-US" sz="2800" dirty="0"/>
              <a:t>Alternatively scale to [0,1] range (min–max scaling)</a:t>
            </a:r>
          </a:p>
          <a:p>
            <a:pPr marL="190500" indent="-190500">
              <a:buSzPct val="100000"/>
              <a:buChar char="•"/>
            </a:pPr>
            <a:r>
              <a:rPr lang="en-US" sz="2800" dirty="0"/>
              <a:t>Either technique usually improves numerical stability and convergence</a:t>
            </a:r>
          </a:p>
          <a:p>
            <a:pPr marL="190500" indent="-190500">
              <a:buSzPct val="100000"/>
              <a:buChar char="•"/>
            </a:pPr>
            <a:r>
              <a:rPr lang="en-US" dirty="0"/>
              <a:t>Remember to re-scale back to original units when producing predictions</a:t>
            </a:r>
            <a:endParaRPr lang="en-US" sz="28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242344-B622-9FA5-5450-6993E2F8A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201D-48DB-3B45-ABC2-018B1E66F34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830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65DC1-D0D4-8770-DEDE-A39DD10EC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practical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4EB48-5307-580E-B7B7-D8ACB3400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Monitor the loss on training and validation sets</a:t>
            </a:r>
          </a:p>
          <a:p>
            <a:r>
              <a:rPr lang="en-US" dirty="0"/>
              <a:t>Stop model training when validation loss stops improving (early stopping)</a:t>
            </a:r>
          </a:p>
          <a:p>
            <a:r>
              <a:rPr lang="en-US" dirty="0"/>
              <a:t>Try different learning rates and schedules</a:t>
            </a:r>
          </a:p>
          <a:p>
            <a:r>
              <a:rPr lang="en-US" dirty="0"/>
              <a:t>Shuffle the data when using stochastic or mini‑batch GD</a:t>
            </a:r>
          </a:p>
          <a:p>
            <a:r>
              <a:rPr lang="en-US" dirty="0"/>
              <a:t>Can use </a:t>
            </a:r>
            <a:r>
              <a:rPr lang="en-US" i="1" dirty="0"/>
              <a:t>cross‑validation </a:t>
            </a:r>
            <a:r>
              <a:rPr lang="en-US" dirty="0"/>
              <a:t>to select hyperparameters (e.g. learning rate)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2137A5-D76E-541E-FA2A-C2EF15410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201D-48DB-3B45-ABC2-018B1E66F34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2782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2C581-630C-9C65-7D75-18A427AB2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Next: some extensions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EF0EA9-20BA-7C0D-BFD9-14097F937E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More than one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(feature) variable</a:t>
                </a:r>
              </a:p>
              <a:p>
                <a:r>
                  <a:rPr lang="en-US" dirty="0"/>
                  <a:t>Move from regression (continuous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) to classification (binary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)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EF0EA9-20BA-7C0D-BFD9-14097F937E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68" t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E4B11-083E-B023-5F27-3BA4DF93B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201D-48DB-3B45-ABC2-018B1E66F34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51040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2BE2E-C420-5D3C-7483-F2CA132FB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783DE-E69A-76DE-4BC4-92E041CA5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/>
              <a:t>Extension 1: multiple features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EF92DE-9EE6-6682-167A-B27235D001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37033" y="2198362"/>
                <a:ext cx="5119387" cy="3917773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Example: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/>
                  <a:t> is temperature,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 is rainfall</a:t>
                </a:r>
              </a:p>
              <a:p>
                <a:r>
                  <a:rPr lang="en-US" sz="2000" dirty="0"/>
                  <a:t>New predict function:</a:t>
                </a:r>
              </a:p>
              <a:p>
                <a:pPr marL="0" indent="0">
                  <a:buNone/>
                </a:pP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def predict(X1, X2, w1, w2, b):</a:t>
                </a:r>
              </a:p>
              <a:p>
                <a:pPr marL="0" indent="0">
                  <a:buNone/>
                </a:pPr>
                <a:r>
                  <a:rPr lang="en-US" sz="2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return w1 * X1 + w2 * X2 + b</a:t>
                </a:r>
              </a:p>
              <a:p>
                <a:r>
                  <a:rPr lang="en-US" sz="2000" dirty="0"/>
                  <a:t>New gradients </a:t>
                </a:r>
                <a:r>
                  <a:rPr lang="en-US" sz="2000" dirty="0">
                    <a:solidFill>
                      <a:srgbClr val="009749"/>
                    </a:solidFill>
                  </a:rPr>
                  <a:t>(calculation)</a:t>
                </a:r>
              </a:p>
              <a:p>
                <a:r>
                  <a:rPr lang="en-US" sz="2000" dirty="0"/>
                  <a:t>New updates for b, w1, and w2 based on these new derivatives</a:t>
                </a:r>
              </a:p>
              <a:p>
                <a:r>
                  <a:rPr lang="en-US" sz="2000" dirty="0"/>
                  <a:t>Otherwise identical</a:t>
                </a:r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9EF92DE-9EE6-6682-167A-B27235D001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37033" y="2198362"/>
                <a:ext cx="5119387" cy="3917773"/>
              </a:xfrm>
              <a:blipFill>
                <a:blip r:embed="rId2"/>
                <a:stretch>
                  <a:fillRect l="-1238" t="-19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151EB03E-914F-7F3A-3F9C-F636BE17F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6458" y="2184914"/>
            <a:ext cx="4754323" cy="375591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DE17D1-E2D1-6B6E-2EB3-FA4D0606A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8E65201D-48DB-3B45-ABC2-018B1E66F34C}" type="slidenum">
              <a:rPr lang="en-US" sz="1000"/>
              <a:pPr>
                <a:spcAft>
                  <a:spcPts val="600"/>
                </a:spcAft>
              </a:pPr>
              <a:t>34</a:t>
            </a:fld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8157137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3B0AF-22E0-0852-AB3B-DFEB3A0D6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Extension 2: classification	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7A7021-7BA6-3D8B-0E08-F9E37C027A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Suppose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was instead defined as either hot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1</m:t>
                    </m:r>
                  </m:oMath>
                </a14:m>
                <a:r>
                  <a:rPr lang="en-US" dirty="0"/>
                  <a:t>) or cold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0</m:t>
                    </m:r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dirty="0"/>
                  <a:t>When we make a prediction, we need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E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E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dirty="0"/>
                  <a:t> to be between 0 and 1 (or exactly 0 and 1)</a:t>
                </a:r>
              </a:p>
              <a:p>
                <a:r>
                  <a:rPr lang="en-US" dirty="0"/>
                  <a:t>Use an </a:t>
                </a:r>
                <a:r>
                  <a:rPr lang="en-US" i="1" dirty="0"/>
                  <a:t>activation function </a:t>
                </a:r>
                <a:r>
                  <a:rPr lang="en-US" dirty="0"/>
                  <a:t>to make predictions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def sigmoid(z):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   return 1 / (1 + 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np.exp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(-z))</a:t>
                </a:r>
              </a:p>
              <a:p>
                <a:pPr marL="0" indent="0">
                  <a:buNone/>
                </a:pP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y_pred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= sigmoid(w1 * X + w2 * X2 + b)</a:t>
                </a:r>
              </a:p>
              <a:p>
                <a:r>
                  <a:rPr lang="en-US" dirty="0">
                    <a:solidFill>
                      <a:srgbClr val="009749"/>
                    </a:solidFill>
                  </a:rPr>
                  <a:t>(show calculations)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B7A7021-7BA6-3D8B-0E08-F9E37C027A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34" t="-3231" r="-2264"/>
                </a:stretch>
              </a:blipFill>
            </p:spPr>
            <p:txBody>
              <a:bodyPr/>
              <a:lstStyle/>
              <a:p>
                <a:r>
                  <a:rPr lang="en-I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2F472D-B371-DD0A-BEF8-EACB3EB44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201D-48DB-3B45-ABC2-018B1E66F34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27435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47796-C9DF-1946-71C4-223521E51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New loss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45CDAE-C064-FD95-26D3-D050A5F7F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8585579" cy="414929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def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binary_cross_entropy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y_true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y_pred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epsilon = 1e-15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y_pred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np.clip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y_pred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epsilon, 1 - epsilon)</a:t>
            </a:r>
          </a:p>
          <a:p>
            <a:pPr marL="0" indent="0">
              <a:buNone/>
            </a:pP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-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np.mean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y_true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*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np.log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y_pred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+ (1 -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y_true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*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np.log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(1 -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y_pred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r>
              <a:rPr lang="en-US" dirty="0"/>
              <a:t>The clipping and the epsilon avoid us from creating log(0)</a:t>
            </a:r>
          </a:p>
          <a:p>
            <a:r>
              <a:rPr lang="en-US" dirty="0"/>
              <a:t>When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y_true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1 </a:t>
            </a:r>
            <a:r>
              <a:rPr lang="en-US" dirty="0"/>
              <a:t>it’s just the log of the prediction, and when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y_true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0 </a:t>
            </a:r>
            <a:r>
              <a:rPr lang="en-US" dirty="0"/>
              <a:t>it’s the log of 1 minus the prediction</a:t>
            </a:r>
          </a:p>
          <a:p>
            <a:r>
              <a:rPr lang="en-US" dirty="0"/>
              <a:t>Averaged over all the data points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447A1A-AF71-AAE3-3969-502F7EE34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65201D-48DB-3B45-ABC2-018B1E66F34C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62898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C27A5-0DD0-9B7F-5763-0EBF07776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Results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BBB26E9-1588-C9E1-ABE4-7A52DB1513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8247" y="2184914"/>
            <a:ext cx="5825897" cy="3917773"/>
          </a:xfrm>
        </p:spPr>
        <p:txBody>
          <a:bodyPr vert="horz" lIns="91440" tIns="45720" rIns="91440" bIns="45720" rtlCol="0">
            <a:normAutofit fontScale="92500"/>
          </a:bodyPr>
          <a:lstStyle/>
          <a:p>
            <a:pPr marL="0" indent="0"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Epoch 0, Loss: 0.6931, w1: 0.0013, w2: -0.0127, b: -0.0001</a:t>
            </a:r>
          </a:p>
          <a:p>
            <a:pPr marL="0" indent="0"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Epoch 10, Loss: 0.6091, w1: 0.0146, w2: -0.1398, b: -0.0014</a:t>
            </a:r>
          </a:p>
          <a:p>
            <a:pPr marL="0" indent="0"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Epoch 20, Loss: 0.5366, w1: 0.0279, w2: -0.2670, b: -0.0026</a:t>
            </a:r>
          </a:p>
          <a:p>
            <a:pPr marL="0" indent="0"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Epoch 30, Loss: 0.4747, w1: 0.0412, w2: -0.3941, b: -0.0038</a:t>
            </a:r>
          </a:p>
          <a:p>
            <a:pPr marL="0" indent="0"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Epoch 40, Loss: 0.4223, w1: 0.0545, w2: -0.5212, b: -0.0051</a:t>
            </a:r>
          </a:p>
          <a:p>
            <a:pPr marL="0" indent="0"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Epoch 50, Loss: 0.3782, w1: 0.0678, w2: -0.6483, b: -0.0063</a:t>
            </a:r>
          </a:p>
          <a:p>
            <a:pPr marL="0" indent="0"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Epoch 60, Loss: 0.3409, w1: 0.0810, w2: -0.7755, b: -0.0075</a:t>
            </a:r>
          </a:p>
          <a:p>
            <a:pPr marL="0" indent="0"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Epoch 70, Loss: 0.3094, w1: 0.0943, w2: -0.9026, b: -0.0088</a:t>
            </a:r>
          </a:p>
          <a:p>
            <a:pPr marL="0" indent="0"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Epoch 80, Loss: 0.2826, w1: 0.1076, w2: -1.0297, b: -0.0100</a:t>
            </a:r>
          </a:p>
          <a:p>
            <a:pPr marL="0" indent="0">
              <a:buNone/>
            </a:pPr>
            <a:r>
              <a:rPr lang="en-US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Epoch 90, Loss: 0.2597, w1: 0.1209, w2: -1.1568, b: -0.0112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40A3D39-9CC1-3901-AF1F-41A056F1930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73485" y="2184914"/>
            <a:ext cx="4680268" cy="375591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2620EF-1F61-9E47-4B18-6686DB976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8E65201D-48DB-3B45-ABC2-018B1E66F34C}" type="slidenum">
              <a:rPr lang="en-US" sz="100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37</a:t>
            </a:fld>
            <a:endParaRPr lang="en-US" sz="1000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150334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2E3C7-E02A-F443-93FF-99B0D1284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B1495C-38DD-F9F0-478E-D16C6E4C61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Key ingredients: loss function, prediction function, gradients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Loop through using gradient descent to </a:t>
            </a:r>
            <a:r>
              <a:rPr lang="en-US" dirty="0" err="1"/>
              <a:t>optimise</a:t>
            </a:r>
            <a:r>
              <a:rPr lang="en-US" dirty="0"/>
              <a:t> the weights and the biases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Run over epochs until the parameters converge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Use the final values as your final model to predict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All code available to re-create these plots in the </a:t>
            </a:r>
            <a:r>
              <a:rPr lang="en-US" dirty="0" err="1"/>
              <a:t>Github</a:t>
            </a:r>
            <a:r>
              <a:rPr lang="en-US" dirty="0"/>
              <a:t> repository</a:t>
            </a:r>
          </a:p>
        </p:txBody>
      </p:sp>
    </p:spTree>
    <p:extLst>
      <p:ext uri="{BB962C8B-B14F-4D97-AF65-F5344CB8AC3E}">
        <p14:creationId xmlns:p14="http://schemas.microsoft.com/office/powerpoint/2010/main" val="29023752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imsir_template_2" id="{02A83C7B-F822-7944-866C-9B03C97E46BB}" vid="{1B355044-B3D2-4447-9C50-160089DCAD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2038</TotalTime>
  <Words>2594</Words>
  <Application>Microsoft Macintosh PowerPoint</Application>
  <PresentationFormat>Widescreen</PresentationFormat>
  <Paragraphs>291</Paragraphs>
  <Slides>38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Aptos</vt:lpstr>
      <vt:lpstr>Arial</vt:lpstr>
      <vt:lpstr>Calibri</vt:lpstr>
      <vt:lpstr>Cambria Math</vt:lpstr>
      <vt:lpstr>Courier New</vt:lpstr>
      <vt:lpstr>Office Theme</vt:lpstr>
      <vt:lpstr>STAT41130: AI for Weather and Climate</vt:lpstr>
      <vt:lpstr>Course Introduction</vt:lpstr>
      <vt:lpstr>PowerPoint Presentation</vt:lpstr>
      <vt:lpstr>PowerPoint Presentation</vt:lpstr>
      <vt:lpstr>Github repo</vt:lpstr>
      <vt:lpstr>Taking for credit</vt:lpstr>
      <vt:lpstr>Setup</vt:lpstr>
      <vt:lpstr>Aims of this course this course</vt:lpstr>
      <vt:lpstr>Who is this course for?</vt:lpstr>
      <vt:lpstr>Structure of course</vt:lpstr>
      <vt:lpstr>Syllabus (week 1)</vt:lpstr>
      <vt:lpstr>Syllabus (week 2)</vt:lpstr>
      <vt:lpstr>Class 1: Linear regression to neural networks</vt:lpstr>
      <vt:lpstr>Learning outcomes</vt:lpstr>
      <vt:lpstr>Drawing straight lines of best fit</vt:lpstr>
      <vt:lpstr>Foundations of linear regression</vt:lpstr>
      <vt:lpstr>Python example</vt:lpstr>
      <vt:lpstr>More intuition</vt:lpstr>
      <vt:lpstr>The loss function</vt:lpstr>
      <vt:lpstr>Solution via gradient descent</vt:lpstr>
      <vt:lpstr>Algorithm</vt:lpstr>
      <vt:lpstr>In action</vt:lpstr>
      <vt:lpstr>In action</vt:lpstr>
      <vt:lpstr>Plotting the fit</vt:lpstr>
      <vt:lpstr>Learning rate</vt:lpstr>
      <vt:lpstr>Parameter trajectories</vt:lpstr>
      <vt:lpstr>PowerPoint Presentation</vt:lpstr>
      <vt:lpstr>PowerPoint Presentation</vt:lpstr>
      <vt:lpstr>Batch vs stochastic gradient descent</vt:lpstr>
      <vt:lpstr>Training and testing</vt:lpstr>
      <vt:lpstr>Feature Scaling &amp; Normalisation</vt:lpstr>
      <vt:lpstr>Other practical tips</vt:lpstr>
      <vt:lpstr>Next: some extensions</vt:lpstr>
      <vt:lpstr>Extension 1: multiple features</vt:lpstr>
      <vt:lpstr>Extension 2: classification </vt:lpstr>
      <vt:lpstr>New loss function</vt:lpstr>
      <vt:lpstr>Results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Parnell</dc:creator>
  <cp:lastModifiedBy>Andrew Parnell</cp:lastModifiedBy>
  <cp:revision>44</cp:revision>
  <dcterms:created xsi:type="dcterms:W3CDTF">2025-09-24T09:34:21Z</dcterms:created>
  <dcterms:modified xsi:type="dcterms:W3CDTF">2026-02-23T09:10:52Z</dcterms:modified>
</cp:coreProperties>
</file>