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61" r:id="rId3"/>
    <p:sldId id="262" r:id="rId4"/>
    <p:sldId id="263" r:id="rId5"/>
    <p:sldId id="264" r:id="rId6"/>
    <p:sldId id="265" r:id="rId7"/>
    <p:sldId id="267" r:id="rId8"/>
    <p:sldId id="269" r:id="rId9"/>
    <p:sldId id="270" r:id="rId10"/>
    <p:sldId id="271" r:id="rId11"/>
    <p:sldId id="291" r:id="rId12"/>
    <p:sldId id="293" r:id="rId13"/>
    <p:sldId id="294" r:id="rId14"/>
    <p:sldId id="295" r:id="rId15"/>
    <p:sldId id="296" r:id="rId16"/>
    <p:sldId id="273" r:id="rId17"/>
    <p:sldId id="274" r:id="rId18"/>
    <p:sldId id="275" r:id="rId19"/>
    <p:sldId id="277" r:id="rId20"/>
    <p:sldId id="299" r:id="rId21"/>
    <p:sldId id="301" r:id="rId22"/>
    <p:sldId id="300" r:id="rId23"/>
    <p:sldId id="284" r:id="rId24"/>
    <p:sldId id="282" r:id="rId25"/>
    <p:sldId id="285" r:id="rId26"/>
    <p:sldId id="286" r:id="rId27"/>
    <p:sldId id="297" r:id="rId28"/>
    <p:sldId id="298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749"/>
    <a:srgbClr val="00959F"/>
    <a:srgbClr val="0042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418"/>
    <p:restoredTop sz="94699"/>
  </p:normalViewPr>
  <p:slideViewPr>
    <p:cSldViewPr snapToGrid="0">
      <p:cViewPr varScale="1">
        <p:scale>
          <a:sx n="115" d="100"/>
          <a:sy n="115" d="100"/>
        </p:scale>
        <p:origin x="984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5685EE-3D40-0A4E-BB88-46887330FC0A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752F2A-FA59-1746-ABA5-28C394E5ED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25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3171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7586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983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0440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8154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332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6171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978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428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8567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5545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1674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8950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2142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4607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63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9467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9426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6142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modify the notes in this section to avoid tampering with the Poll Everywhere activity.
More info at </a:t>
            </a:r>
            <a:r>
              <a:rPr lang="en-US" dirty="0" err="1"/>
              <a:t>polleverywhere.com</a:t>
            </a:r>
            <a:r>
              <a:rPr lang="en-US" dirty="0"/>
              <a:t>/support
A neuron has input x = 10, weight w = 0.5, and bias b = -2. If we use a </a:t>
            </a:r>
            <a:r>
              <a:rPr lang="en-US" dirty="0" err="1"/>
              <a:t>ReLU</a:t>
            </a:r>
            <a:r>
              <a:rPr lang="en-US" dirty="0"/>
              <a:t> activation function, f(z) = max(0, z), what is the final output of this neuron?</a:t>
            </a:r>
          </a:p>
          <a:p>
            <a:r>
              <a:rPr lang="en-US" dirty="0"/>
              <a:t>https://</a:t>
            </a:r>
            <a:r>
              <a:rPr lang="en-US" dirty="0" err="1"/>
              <a:t>www.polleverywhere.com</a:t>
            </a:r>
            <a:r>
              <a:rPr lang="en-US" dirty="0"/>
              <a:t>/</a:t>
            </a:r>
            <a:r>
              <a:rPr lang="en-US" dirty="0" err="1"/>
              <a:t>multiple_choice_polls</a:t>
            </a:r>
            <a:r>
              <a:rPr lang="en-US" dirty="0"/>
              <a:t>/DtWfO6CJas0gbQY20TiPY?state=</a:t>
            </a:r>
            <a:r>
              <a:rPr lang="en-US" dirty="0" err="1"/>
              <a:t>opened&amp;flow</a:t>
            </a:r>
            <a:r>
              <a:rPr lang="en-US" dirty="0"/>
              <a:t>=</a:t>
            </a:r>
            <a:r>
              <a:rPr lang="en-US" dirty="0" err="1"/>
              <a:t>Default&amp;onscreen</a:t>
            </a:r>
            <a:r>
              <a:rPr lang="en-US" dirty="0"/>
              <a:t>=persist</a:t>
            </a:r>
          </a:p>
          <a:p>
            <a:endParaRPr lang="en-US" dirty="0"/>
          </a:p>
          <a:p>
            <a:r>
              <a:rPr lang="en-I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(10 \times 0.5) + (-2) =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7581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How many weights in a neural net with 4 inputs, 1 output and 3 hidden neurons across each of 2 hidden layers?</a:t>
            </a:r>
          </a:p>
          <a:p>
            <a:r>
              <a:rPr lang="en-US"/>
              <a:t>https://www.polleverywhere.com/multiple_choice_polls/jiILwRZI4f4Fp2NGhvLKg?state=opened&amp;flow=Default&amp;onscreen=persist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35747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If we build a neural network with 10 hidden layers but do not use any activation functions (like ReLU or Sigmoid) between them, what is the mathematical result of the entire network?</a:t>
            </a:r>
          </a:p>
          <a:p>
            <a:r>
              <a:rPr lang="en-US"/>
              <a:t>https://www.polleverywhere.com/multiple_choice_polls/0DiaqtZCrsQQdBoL8wxjR?state=opened&amp;flow=Default&amp;onscreen=persist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1762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16211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0057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7115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8551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56745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7346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Colou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2FBF90-A221-6D5D-A217-46B8FEF4EBA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75570" y="5137738"/>
            <a:ext cx="9144000" cy="661812"/>
          </a:xfrm>
        </p:spPr>
        <p:txBody>
          <a:bodyPr>
            <a:normAutofit/>
          </a:bodyPr>
          <a:lstStyle>
            <a:lvl1pPr marL="0" indent="0" algn="l">
              <a:buNone/>
              <a:defRPr sz="35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Andrew Parnell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16F2FB5F-D553-C945-B874-A642CC0C851F}" type="datetime3">
              <a:rPr lang="en-IE" smtClean="0"/>
              <a:pPr/>
              <a:t>23 February 2026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48403D-CA02-EE11-96CC-8E09913F64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2410"/>
            <a:ext cx="4921049" cy="3023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987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2FBF90-A221-6D5D-A217-46B8FEF4EBA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75570" y="5137738"/>
            <a:ext cx="9144000" cy="661812"/>
          </a:xfrm>
        </p:spPr>
        <p:txBody>
          <a:bodyPr>
            <a:normAutofit/>
          </a:bodyPr>
          <a:lstStyle>
            <a:lvl1pPr marL="0" indent="0" algn="l">
              <a:buNone/>
              <a:defRPr sz="35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Andrew Parnell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95EAAC-03A2-8D88-C693-5373EC4D99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1140"/>
            <a:ext cx="4921049" cy="3023526"/>
          </a:xfrm>
          <a:prstGeom prst="rect">
            <a:avLst/>
          </a:prstGeom>
        </p:spPr>
      </p:pic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16F2FB5F-D553-C945-B874-A642CC0C851F}" type="datetime3">
              <a:rPr lang="en-IE" smtClean="0"/>
              <a:pPr/>
              <a:t>23 February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2839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rgbClr val="00959F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2FBF90-A221-6D5D-A217-46B8FEF4EBA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75570" y="5137738"/>
            <a:ext cx="9144000" cy="661812"/>
          </a:xfrm>
        </p:spPr>
        <p:txBody>
          <a:bodyPr>
            <a:normAutofit/>
          </a:bodyPr>
          <a:lstStyle>
            <a:lvl1pPr marL="0" indent="0" algn="l">
              <a:buNone/>
              <a:defRPr sz="3500">
                <a:solidFill>
                  <a:srgbClr val="00427A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Andrew Parnell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</p:spPr>
        <p:txBody>
          <a:bodyPr/>
          <a:lstStyle>
            <a:lvl1pPr>
              <a:defRPr sz="2000">
                <a:solidFill>
                  <a:srgbClr val="00427A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16F2FB5F-D553-C945-B874-A642CC0C851F}" type="datetime3">
              <a:rPr lang="en-IE" smtClean="0"/>
              <a:pPr/>
              <a:t>23 February 2026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E57DE2-DEBB-B17B-3186-6B7F239D4C1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70858" y="764010"/>
            <a:ext cx="4921049" cy="302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366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36AE-C30A-53BD-4925-C496BE6C4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265C0-0ACE-3E63-95B9-D176766F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7919C1-44F1-12A8-FEF4-FAD54BCBD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F41344-4D35-F145-B477-F6239A2130EE}" type="datetime3">
              <a:rPr lang="en-IE" smtClean="0"/>
              <a:t>23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1563B-497A-31DF-3662-C17ACF7D3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70AD6-AAEF-8A4F-2919-ED9A3F9B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690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2AFB-F4C4-719F-41DE-8454632EB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835495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AA946-8443-8B80-0497-6EB6FAAD0F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8A09E1-70FE-9852-483A-38FAC966D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196900-CA2A-2D43-9641-C5C0DD2D22D3}" type="datetime3">
              <a:rPr lang="en-IE" smtClean="0"/>
              <a:t>23 February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71E3E-2DD5-AE03-E092-6934E2C4A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3E6B2A-3B08-3B49-5EC6-5F1CF60C6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0CB63-89BA-5DA1-ABAC-95F644463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EC219-68C6-906B-6B38-F56C88CEA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55E0A4-A8B0-2CA7-E857-19478981F7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FCDAEB-ECE1-93D0-4968-B0F78E228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1A910-F8E0-D541-83F2-2CFD6E718762}" type="datetime3">
              <a:rPr lang="en-IE" smtClean="0"/>
              <a:t>23 February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34EDF8-107F-48D4-9168-408544498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D97297-368B-D76D-B573-F2EA9B4F5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90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E21E6-E145-FB62-1B42-F05F62D34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EC9051-66F9-6E83-2AFF-2DEEFE390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45B59-D3F3-5B43-BDD1-6C7B7CFD2AA6}" type="datetime3">
              <a:rPr lang="en-IE" smtClean="0"/>
              <a:t>23 February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FA92D5-85D4-798F-6073-C1BBC39E8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41B856-F9DF-6501-6837-20D15C2F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00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92D247-1B5B-5B1D-21E6-0237F292C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7DDCF-3644-8C44-AE36-2C59F897E125}" type="datetime3">
              <a:rPr lang="en-IE" smtClean="0"/>
              <a:t>23 February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6B62E2-EFD1-BADE-5ADC-CDA692DD3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CE0D8-9D28-4B5B-E0D8-6FD104DED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4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Turquios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105-7039-1C6D-7FC1-89C7ACEFE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8348602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C9D1A-B681-480B-51E4-53A881918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74390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mediu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8167D2C-5176-1ED3-A328-C37831632F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952165" y="3305069"/>
            <a:ext cx="8928728" cy="35529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83037B-3C53-AD11-3C53-4E910F029F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175" y="0"/>
            <a:ext cx="12188825" cy="685978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433CFB9-3CD0-7249-3875-4CDCC3265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604C136-FB56-3E5C-714E-C7C451450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66193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C7DCCB-0C89-D983-30F6-838DCED371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66117" y="656799"/>
            <a:ext cx="11071312" cy="6201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A480F3-BC76-00B6-24D5-C07DB00D847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9" y="251012"/>
            <a:ext cx="12188821" cy="68597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57DC5C-07B9-1D3E-E60F-4C4449E40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138B3-4A13-4988-0617-30422C752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rgbClr val="00959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01349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8423E0-7FF4-AD5A-A90B-2A9E4134C1A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088573" y="1468037"/>
            <a:ext cx="9622971" cy="53899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E33A7B-C77A-0333-901F-1F517FC1279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6" y="0"/>
            <a:ext cx="12188821" cy="685978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BAE34A2-289C-9C29-7331-CFD9F1AE7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5389" y="1060256"/>
            <a:ext cx="6336026" cy="3668564"/>
          </a:xfrm>
        </p:spPr>
        <p:txBody>
          <a:bodyPr>
            <a:normAutofit/>
          </a:bodyPr>
          <a:lstStyle>
            <a:lvl1pPr marL="0" indent="0" algn="r">
              <a:buNone/>
              <a:defRPr sz="36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76023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340C0-73B3-BCF7-0724-038E70BF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C6D448-5D41-D2C8-31F6-3E2418064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8348602" cy="4149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62D11B-86E8-4721-E4FB-781C5E6FA2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1835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B28D5F-B017-3B47-9775-DA319F6143FF}" type="datetime3">
              <a:rPr lang="en-IE" smtClean="0"/>
              <a:t>23 February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23E6A-37C4-5F0F-726D-1ACD6A231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18356"/>
            <a:ext cx="29759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Andrew Parnell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40BB7-8BAA-0B2D-4F0A-22069252AE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5096" y="6118356"/>
            <a:ext cx="19217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4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62" r:id="rId9"/>
    <p:sldLayoutId id="2147483664" r:id="rId10"/>
    <p:sldLayoutId id="2147483665" r:id="rId11"/>
    <p:sldLayoutId id="2147483666" r:id="rId12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959F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427A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427A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427A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5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Activation_function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12.12794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arxiv.org/abs/2406.01465" TargetMode="External"/><Relationship Id="rId4" Type="http://schemas.openxmlformats.org/officeDocument/2006/relationships/hyperlink" Target="https://arxiv.org/abs/2404.00411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E127A-D7C1-984F-9005-D54B2E23A7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>
                <a:solidFill>
                  <a:srgbClr val="FFFFFF"/>
                </a:solidFill>
              </a:rPr>
              <a:t>Class 2: Neural Network Basics</a:t>
            </a:r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174F5A3-057F-773E-959B-7314793A85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Andrew Parnell</a:t>
            </a:r>
          </a:p>
        </p:txBody>
      </p:sp>
    </p:spTree>
    <p:extLst>
      <p:ext uri="{BB962C8B-B14F-4D97-AF65-F5344CB8AC3E}">
        <p14:creationId xmlns:p14="http://schemas.microsoft.com/office/powerpoint/2010/main" val="743824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CA120-1202-8AE5-DFAC-25DDCF55E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F5A62-DC06-E7D8-81AF-73D612FA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Understand what neural networks are and how they create predictions</a:t>
            </a:r>
          </a:p>
          <a:p>
            <a:r>
              <a:rPr lang="en-US" dirty="0"/>
              <a:t>Build a small neural network step by step</a:t>
            </a:r>
          </a:p>
          <a:p>
            <a:r>
              <a:rPr lang="en-US" dirty="0"/>
              <a:t>Practice dot products, linear transforms, and activations by hand</a:t>
            </a:r>
          </a:p>
          <a:p>
            <a:r>
              <a:rPr lang="en-US" dirty="0"/>
              <a:t>Prepare for coding NNs in the next session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72336-29DC-7DA0-B5E0-2014BFDB5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381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4FCEB-82A8-B970-517B-7C71684A8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Foundations of Neural Networks (NNs)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028F32-5FC2-5FDE-9662-5F224BBE26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 neural network </a:t>
                </a:r>
                <a:r>
                  <a:rPr lang="en-US" dirty="0" err="1"/>
                  <a:t>generalises</a:t>
                </a:r>
                <a:r>
                  <a:rPr lang="en-US" dirty="0"/>
                  <a:t> the linear regression model we met in the previous class: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 × 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Layers of weights and activations let us model complex patterns</a:t>
                </a:r>
              </a:p>
              <a:p>
                <a:r>
                  <a:rPr lang="en-US" dirty="0"/>
                  <a:t>Core idea: stacking simple transformations on top of each other</a:t>
                </a:r>
              </a:p>
              <a:p>
                <a:r>
                  <a:rPr lang="en-US" dirty="0"/>
                  <a:t>Still just basic mathematics: matrix operations and functions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028F32-5FC2-5FDE-9662-5F224BBE26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68" t="-2439" r="-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C806D1-A9D5-7985-54B4-53E5BB211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323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D9E1B-3248-D556-6AE9-E16F7E388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FDCA52-9855-7DA9-8774-9EC1CB81FF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E" dirty="0"/>
                  <a:t>A neuron receives inputs, multiplies it by a weight, and adds bias</a:t>
                </a:r>
              </a:p>
              <a:p>
                <a:r>
                  <a:rPr lang="en-IE" dirty="0"/>
                  <a:t>Then it applies an </a:t>
                </a:r>
                <a:r>
                  <a:rPr lang="en-IE" i="1" dirty="0"/>
                  <a:t>activation function</a:t>
                </a:r>
                <a:endParaRPr lang="en-IE" dirty="0"/>
              </a:p>
              <a:p>
                <a:r>
                  <a:rPr lang="en-IE" dirty="0"/>
                  <a:t>Basic formula:</a:t>
                </a:r>
                <a14:m>
                  <m:oMath xmlns:m="http://schemas.openxmlformats.org/officeDocument/2006/math">
                    <m:r>
                      <a:rPr lang="en-IE" b="0" i="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I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IE" dirty="0"/>
              </a:p>
              <a:p>
                <a:r>
                  <a:rPr lang="en-IE" dirty="0"/>
                  <a:t>We take the input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IE" dirty="0"/>
                  <a:t>, multiply it by weight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IE" dirty="0"/>
                  <a:t>, and add bias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IE" dirty="0"/>
              </a:p>
              <a:p>
                <a:r>
                  <a:rPr lang="en-IE" dirty="0"/>
                  <a:t>Then we transform it with activation function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en-IE" dirty="0"/>
              </a:p>
              <a:p>
                <a:r>
                  <a:rPr lang="en-IE" dirty="0"/>
                  <a:t>That produces a prediction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endParaRPr lang="en-I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FDCA52-9855-7DA9-8774-9EC1CB81FF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68" t="-2439" r="-1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C59BA7-8D6B-D61C-11D3-3A54C61C9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115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E395E-77A4-BF96-ADB5-FA1706D30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Networks as compositions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EBF9EA-F638-F80F-CE8D-F281AD219F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Neural networks = many neurons in layers</a:t>
                </a:r>
              </a:p>
              <a:p>
                <a:r>
                  <a:rPr lang="en-US" dirty="0"/>
                  <a:t>Each layer transforms the data into a new space</a:t>
                </a:r>
              </a:p>
              <a:p>
                <a:r>
                  <a:rPr lang="en-US" dirty="0"/>
                  <a:t>We start to create multiple layers: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sequential application of these layers is called a </a:t>
                </a:r>
                <a:r>
                  <a:rPr lang="en-US" i="1" dirty="0"/>
                  <a:t>forward pass</a:t>
                </a:r>
              </a:p>
              <a:p>
                <a:r>
                  <a:rPr lang="en-US" dirty="0"/>
                  <a:t>In most standard NNs we have multiple inputs so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a vector…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FEBF9EA-F638-F80F-CE8D-F281AD219F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86" t="-2326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8E038-16D4-F2B7-3B75-760FC1D07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21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966A8-8C82-420D-FB15-8B5EE066F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Dot Products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E2CDCC-FD7D-E468-E09B-BE94ED6037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E" dirty="0"/>
                  <a:t>Suppose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now a vector, e.g.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1, 2, 3</m:t>
                        </m:r>
                      </m:e>
                    </m:d>
                  </m:oMath>
                </a14:m>
                <a:endParaRPr lang="en-IE" b="0" dirty="0"/>
              </a:p>
              <a:p>
                <a:r>
                  <a:rPr lang="en-IE" dirty="0"/>
                  <a:t>The dot product is defined as: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I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I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I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I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IE" dirty="0"/>
              </a:p>
              <a:p>
                <a:r>
                  <a:rPr lang="en-IE" dirty="0"/>
                  <a:t>It measures similarity: it’s large if vectors point in the same direction (they’re big at the same points together)</a:t>
                </a:r>
              </a:p>
              <a:p>
                <a:r>
                  <a:rPr lang="en-IE" dirty="0"/>
                  <a:t>It always gives a scalar (single number) output</a:t>
                </a:r>
              </a:p>
              <a:p>
                <a:r>
                  <a:rPr lang="en-IE" dirty="0"/>
                  <a:t>It’s the foundation for weighted sums in neural networks</a:t>
                </a:r>
                <a:br>
                  <a:rPr lang="en-IE" dirty="0"/>
                </a:b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E2CDCC-FD7D-E468-E09B-BE94ED6037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68" t="-51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5494B0-04FE-7DA0-C8AB-CBC9E6CB9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9129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4109A-BDDF-08AE-EE51-E44FE6598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Dot products 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E364EB-D757-DB4C-B48B-6190B546AA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1, 2, 3</m:t>
                        </m:r>
                      </m:e>
                    </m:d>
                  </m:oMath>
                </a14:m>
                <a:r>
                  <a:rPr lang="en-US" dirty="0"/>
                  <a:t> and</a:t>
                </a:r>
                <a14:m>
                  <m:oMath xmlns:m="http://schemas.openxmlformats.org/officeDocument/2006/math">
                    <m:r>
                      <a:rPr lang="en-IE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2, 0, 1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What is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IE" b="0" dirty="0"/>
                  <a:t>?</a:t>
                </a:r>
              </a:p>
              <a:p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1, 1, 2</m:t>
                        </m:r>
                      </m:e>
                    </m:d>
                    <m:r>
                      <a:rPr lang="en-I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=[−2, −0.5, 0]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What is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IE" b="0" dirty="0"/>
                  <a:t>?</a:t>
                </a:r>
                <a:endParaRPr lang="en-IE" dirty="0"/>
              </a:p>
              <a:p>
                <a:r>
                  <a:rPr lang="en-IE" b="0" dirty="0">
                    <a:solidFill>
                      <a:srgbClr val="009749"/>
                    </a:solidFill>
                  </a:rPr>
                  <a:t>(Calculation on board)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E364EB-D757-DB4C-B48B-6190B546AA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15" t="-2496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4DDF1D-303E-DF1E-25CA-7B1759B44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2049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A7671-C465-F753-75D4-F600A1B37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outputs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B62E8D-A385-1A73-2135-B12E02DC72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IE" dirty="0"/>
                  <a:t>Often we have multiple outputs </a:t>
                </a:r>
                <a14:m>
                  <m:oMath xmlns:m="http://schemas.openxmlformats.org/officeDocument/2006/math">
                    <m:r>
                      <a:rPr lang="en-IE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IE" dirty="0"/>
                  <a:t> (temperature, rainfall, humidity, etc)</a:t>
                </a:r>
              </a:p>
              <a:p>
                <a:r>
                  <a:rPr lang="en-IE" dirty="0"/>
                  <a:t>Change so that the weights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IE" dirty="0"/>
                  <a:t> are now a matrix multiplied by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I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𝑊𝑥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IE" dirty="0"/>
              </a:p>
              <a:p>
                <a:r>
                  <a:rPr lang="en-IE" dirty="0">
                    <a:solidFill>
                      <a:srgbClr val="009749"/>
                    </a:solidFill>
                  </a:rPr>
                  <a:t>(Revision on matrices and vectors, and multiplication of matrices)</a:t>
                </a:r>
              </a:p>
              <a:p>
                <a:r>
                  <a:rPr lang="en-IE" dirty="0"/>
                  <a:t>This multiplication enables us to produce multiple outputs from multiple inputs</a:t>
                </a:r>
              </a:p>
              <a:p>
                <a:r>
                  <a:rPr lang="en-IE" dirty="0"/>
                  <a:t>The inputs and the outputs can be differing dimensions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B62E8D-A385-1A73-2135-B12E02DC72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6" t="-2744" r="-15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124242-7E4D-EDF0-BB85-EA4051464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879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B4BF3-80A8-476A-684B-8FBC6C700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Matrix Shapes and Rules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662F0E-A74C-F616-0984-C17E9E1DA5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IE" dirty="0"/>
                  <a:t>Must match dimensions:</a:t>
                </a:r>
              </a:p>
              <a:p>
                <a:pPr lvl="1"/>
                <a:r>
                  <a:rPr lang="en-IE" dirty="0"/>
                  <a:t>If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IE" dirty="0"/>
                  <a:t>has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IE" dirty="0"/>
                  <a:t> rows and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IE" dirty="0"/>
                  <a:t> columns, then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IE" dirty="0"/>
                  <a:t> must have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IE" dirty="0"/>
                  <a:t> elements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IE" dirty="0"/>
                  <a:t> will then have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IE" dirty="0"/>
                  <a:t> elements</a:t>
                </a:r>
              </a:p>
              <a:p>
                <a:pPr lvl="1"/>
                <a:r>
                  <a:rPr lang="en-IE" dirty="0"/>
                  <a:t>So bias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IE" dirty="0"/>
                  <a:t> must have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IE" dirty="0"/>
                  <a:t> elements </a:t>
                </a:r>
              </a:p>
              <a:p>
                <a:pPr lvl="1"/>
                <a:r>
                  <a:rPr lang="en-IE" dirty="0"/>
                  <a:t>And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IE" dirty="0"/>
                  <a:t> (the output) will have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IE" dirty="0"/>
                  <a:t> elements</a:t>
                </a:r>
              </a:p>
              <a:p>
                <a:r>
                  <a:rPr lang="en-IE" dirty="0"/>
                  <a:t>Remember the bias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IE" dirty="0"/>
                  <a:t> is added after the dot product</a:t>
                </a:r>
              </a:p>
              <a:p>
                <a:r>
                  <a:rPr lang="en-IE" dirty="0"/>
                  <a:t>People often write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IE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I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I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I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I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IE" dirty="0"/>
                  <a:t> to say that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IE" dirty="0"/>
                  <a:t> is a matrix, unrestricted in range, with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IE" dirty="0"/>
                  <a:t> rows and </a:t>
                </a:r>
                <a14:m>
                  <m:oMath xmlns:m="http://schemas.openxmlformats.org/officeDocument/2006/math">
                    <m:r>
                      <a:rPr lang="en-IE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IE" dirty="0"/>
                  <a:t> columns</a:t>
                </a:r>
              </a:p>
              <a:p>
                <a:r>
                  <a:rPr lang="en-IE" b="1" dirty="0"/>
                  <a:t>Always check shapes to avoid bugs</a:t>
                </a:r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662F0E-A74C-F616-0984-C17E9E1DA5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69" t="-2203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E302E-26C8-FFBF-CB33-5AFC44F9E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1261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A573C-8378-4099-A970-F3339FA79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Hands-On: Linear Layer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BB65F2-1C66-B35E-F7AB-2E0F58D1D6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Remember element-wise steps: multiply → sum up → add bias</a:t>
                </a:r>
              </a:p>
              <a:p>
                <a:r>
                  <a:rPr lang="en-US" sz="2400" dirty="0"/>
                  <a:t>Check shape before and after to see if it makes sense</a:t>
                </a:r>
              </a:p>
              <a:p>
                <a:r>
                  <a:rPr lang="en-IE" sz="2400" dirty="0"/>
                  <a:t>Suppose that:</a:t>
                </a:r>
              </a:p>
              <a:p>
                <a14:m>
                  <m:oMath xmlns:m="http://schemas.openxmlformats.org/officeDocument/2006/math">
                    <m:r>
                      <a:rPr lang="en-IE" sz="2400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IE" sz="2400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["/>
                        <m:endChr m:val="]"/>
                        <m:ctrlPr>
                          <a:rPr lang="en-I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IE" sz="24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IE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IE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eqArr>
                            </m:e>
                            <m:e>
                              <m:eqArr>
                                <m:eqArrPr>
                                  <m:ctrlP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eqArr>
                            </m:e>
                          </m:mr>
                        </m:m>
                      </m:e>
                    </m:d>
                    <m:r>
                      <a:rPr lang="en-IE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IE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IE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I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E" sz="24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IE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IE" sz="24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eqArr>
                            </m:e>
                          </m:mr>
                        </m:m>
                      </m:e>
                    </m:d>
                    <m:r>
                      <a:rPr lang="en-IE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IE" sz="2400" b="0" i="0" smtClean="0">
                        <a:latin typeface="Cambria Math" panose="02040503050406030204" pitchFamily="18" charset="0"/>
                      </a:rPr>
                      <m:t>and</m:t>
                    </m:r>
                    <m:r>
                      <a:rPr lang="en-IE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IE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IE" sz="2400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["/>
                        <m:endChr m:val="]"/>
                        <m:ctrlPr>
                          <a:rPr lang="en-I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IE" sz="24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IE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IE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2400" dirty="0"/>
              </a:p>
              <a:p>
                <a:r>
                  <a:rPr lang="en-US" sz="2400" dirty="0">
                    <a:solidFill>
                      <a:srgbClr val="009749"/>
                    </a:solidFill>
                  </a:rPr>
                  <a:t>What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IE" sz="2400" i="1" dirty="0" smtClean="0">
                            <a:solidFill>
                              <a:srgbClr val="009749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E" sz="2400" b="0" i="1" dirty="0" smtClean="0">
                            <a:solidFill>
                              <a:srgbClr val="009749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IE" sz="2400" b="0" i="1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IE" sz="2400" b="0" i="1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IE" sz="2400" b="0" i="1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IE" sz="2400" b="0" i="1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IE" sz="2400" b="0" i="1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IE" sz="2400" b="0" i="1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solidFill>
                          <a:srgbClr val="009749"/>
                        </a:solidFill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(Also: can you guess the dimensions of y before you compute it?)</a:t>
                </a:r>
              </a:p>
              <a:p>
                <a:pPr marL="0" indent="0"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BB65F2-1C66-B35E-F7AB-2E0F58D1D6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64" t="-21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2AF966-CB9E-8C11-156C-76030BCD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8E65201D-48DB-3B45-ABC2-018B1E66F34C}" type="slidenum">
              <a:rPr lang="en-US" sz="1000"/>
              <a:pPr>
                <a:spcAft>
                  <a:spcPts val="600"/>
                </a:spcAft>
              </a:pPr>
              <a:t>10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41121560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5A6CE-0212-C7B3-F8B2-D6EE99EA5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0F71A-2851-DD0C-039F-CC87EFCCC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this link to weather and climate?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8EED20-3818-A86F-8F58-0715031002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We are going to call our inputs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our outputs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r>
                  <a:rPr lang="en-US" dirty="0"/>
                  <a:t>(Other common names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are: features, covariates, explanatory variables, predictors, …)</a:t>
                </a:r>
              </a:p>
              <a:p>
                <a:r>
                  <a:rPr lang="en-US" dirty="0"/>
                  <a:t>(Other common names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are: target, response, dependent variable, …)</a:t>
                </a:r>
              </a:p>
              <a:p>
                <a:r>
                  <a:rPr lang="en-US" dirty="0"/>
                  <a:t>In weather forecasting our inputs are likely to be today’s temperature, wind speed, humidity, rainfall, </a:t>
                </a:r>
                <a:r>
                  <a:rPr lang="en-US" dirty="0" err="1"/>
                  <a:t>etc</a:t>
                </a:r>
                <a:r>
                  <a:rPr lang="en-US" dirty="0"/>
                  <a:t>, and our outputs are value of these variables in e.g. 6 hours’ time</a:t>
                </a:r>
              </a:p>
              <a:p>
                <a:r>
                  <a:rPr lang="en-US" dirty="0"/>
                  <a:t>We want the NN to gives us weights and biases that enable us to predict the outputs from the inputs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8EED20-3818-A86F-8F58-0715031002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6" t="-2744" r="-19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8F123B-ADAF-914E-0D08-929756663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9666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05497-AB4A-152F-7FF3-89DA28A26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0506B-498D-33A9-F5E9-F045EE0B5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Drawing the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F12226-7D16-EA17-BF70-EFF800A94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5843"/>
            <a:ext cx="8348602" cy="4149290"/>
          </a:xfrm>
        </p:spPr>
        <p:txBody>
          <a:bodyPr/>
          <a:lstStyle/>
          <a:p>
            <a:r>
              <a:rPr lang="en-US" dirty="0"/>
              <a:t>NNs often represented in a picture that shows how the layers link together</a:t>
            </a:r>
          </a:p>
          <a:p>
            <a:r>
              <a:rPr lang="en-US" dirty="0"/>
              <a:t>Here’s one for the linear regression we fitted in the last class: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DA39B-08DA-F71B-DF7F-9CB5B1261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293DD79F-188B-7437-97AE-5C0ED3F4E803}"/>
                  </a:ext>
                </a:extLst>
              </p:cNvPr>
              <p:cNvSpPr/>
              <p:nvPr/>
            </p:nvSpPr>
            <p:spPr>
              <a:xfrm>
                <a:off x="3268981" y="3323787"/>
                <a:ext cx="914400" cy="914400"/>
              </a:xfrm>
              <a:prstGeom prst="ellipse">
                <a:avLst/>
              </a:prstGeom>
              <a:solidFill>
                <a:srgbClr val="00427A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IE" i="1" dirty="0" smtClean="0">
                          <a:latin typeface="Cambria Math" panose="02040503050406030204" pitchFamily="18" charset="0"/>
                        </a:rPr>
                        <m:t>₁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293DD79F-188B-7437-97AE-5C0ED3F4E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8981" y="3323787"/>
                <a:ext cx="914400" cy="91440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48E5ED81-35CC-5B75-02A7-7E1C24DAF9BB}"/>
                  </a:ext>
                </a:extLst>
              </p:cNvPr>
              <p:cNvSpPr/>
              <p:nvPr/>
            </p:nvSpPr>
            <p:spPr>
              <a:xfrm>
                <a:off x="3268981" y="4465378"/>
                <a:ext cx="914400" cy="914400"/>
              </a:xfrm>
              <a:prstGeom prst="ellipse">
                <a:avLst/>
              </a:prstGeom>
              <a:solidFill>
                <a:srgbClr val="00427A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IE" i="1" dirty="0" smtClean="0">
                          <a:latin typeface="Cambria Math" panose="02040503050406030204" pitchFamily="18" charset="0"/>
                        </a:rPr>
                        <m:t>₂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48E5ED81-35CC-5B75-02A7-7E1C24DAF9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8981" y="4465378"/>
                <a:ext cx="914400" cy="914400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14E8716-3644-EDD2-291F-5615BF76C122}"/>
                  </a:ext>
                </a:extLst>
              </p:cNvPr>
              <p:cNvSpPr/>
              <p:nvPr/>
            </p:nvSpPr>
            <p:spPr>
              <a:xfrm>
                <a:off x="6671310" y="4373938"/>
                <a:ext cx="1097280" cy="1097280"/>
              </a:xfrm>
              <a:prstGeom prst="ellipse">
                <a:avLst/>
              </a:prstGeom>
              <a:solidFill>
                <a:srgbClr val="00427A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14E8716-3644-EDD2-291F-5615BF76C1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1310" y="4373938"/>
                <a:ext cx="1097280" cy="1097280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val 13">
            <a:extLst>
              <a:ext uri="{FF2B5EF4-FFF2-40B4-BE49-F238E27FC236}">
                <a16:creationId xmlns:a16="http://schemas.microsoft.com/office/drawing/2014/main" id="{CFFD8B19-C3D3-757B-D5A3-DBA548AF5878}"/>
              </a:ext>
            </a:extLst>
          </p:cNvPr>
          <p:cNvSpPr/>
          <p:nvPr/>
        </p:nvSpPr>
        <p:spPr>
          <a:xfrm>
            <a:off x="3268981" y="5693197"/>
            <a:ext cx="914400" cy="914400"/>
          </a:xfrm>
          <a:prstGeom prst="ellipse">
            <a:avLst/>
          </a:prstGeom>
          <a:solidFill>
            <a:srgbClr val="00427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  <a:endParaRPr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D2E7E7-94A1-E774-6628-0A0A570A2D5D}"/>
              </a:ext>
            </a:extLst>
          </p:cNvPr>
          <p:cNvCxnSpPr>
            <a:cxnSpLocks/>
            <a:stCxn id="7" idx="6"/>
            <a:endCxn id="10" idx="1"/>
          </p:cNvCxnSpPr>
          <p:nvPr/>
        </p:nvCxnSpPr>
        <p:spPr>
          <a:xfrm>
            <a:off x="4183381" y="3780987"/>
            <a:ext cx="2648622" cy="75364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9E054E2-2C19-7607-8419-1E2C5E794F19}"/>
              </a:ext>
            </a:extLst>
          </p:cNvPr>
          <p:cNvCxnSpPr>
            <a:cxnSpLocks/>
            <a:stCxn id="8" idx="6"/>
            <a:endCxn id="10" idx="2"/>
          </p:cNvCxnSpPr>
          <p:nvPr/>
        </p:nvCxnSpPr>
        <p:spPr>
          <a:xfrm>
            <a:off x="4183381" y="4922578"/>
            <a:ext cx="2487929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E8291AD-03D2-3C19-D0BB-3EFCA6AF4502}"/>
              </a:ext>
            </a:extLst>
          </p:cNvPr>
          <p:cNvCxnSpPr>
            <a:cxnSpLocks/>
            <a:stCxn id="14" idx="6"/>
            <a:endCxn id="10" idx="3"/>
          </p:cNvCxnSpPr>
          <p:nvPr/>
        </p:nvCxnSpPr>
        <p:spPr>
          <a:xfrm flipV="1">
            <a:off x="4183381" y="5310525"/>
            <a:ext cx="2648622" cy="83987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D4AD4CA-5C49-5890-9E96-7DEF80D7193D}"/>
                  </a:ext>
                </a:extLst>
              </p:cNvPr>
              <p:cNvSpPr txBox="1"/>
              <p:nvPr/>
            </p:nvSpPr>
            <p:spPr>
              <a:xfrm>
                <a:off x="5507692" y="3834775"/>
                <a:ext cx="8393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D4AD4CA-5C49-5890-9E96-7DEF80D719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7692" y="3834775"/>
                <a:ext cx="83932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0E7FC71-7D82-100E-17AB-CB2D864FFF29}"/>
                  </a:ext>
                </a:extLst>
              </p:cNvPr>
              <p:cNvSpPr txBox="1"/>
              <p:nvPr/>
            </p:nvSpPr>
            <p:spPr>
              <a:xfrm>
                <a:off x="5491893" y="4550479"/>
                <a:ext cx="8393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0E7FC71-7D82-100E-17AB-CB2D864FFF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1893" y="4550479"/>
                <a:ext cx="83932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1612104-7049-7D14-A9E1-E7A3679395F4}"/>
                  </a:ext>
                </a:extLst>
              </p:cNvPr>
              <p:cNvSpPr txBox="1"/>
              <p:nvPr/>
            </p:nvSpPr>
            <p:spPr>
              <a:xfrm>
                <a:off x="5491893" y="5274554"/>
                <a:ext cx="8393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1612104-7049-7D14-A9E1-E7A3679395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1893" y="5274554"/>
                <a:ext cx="83932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4633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BDE11-2F9B-D38B-C30C-EFF8B3A72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1E0EE-FE83-9E83-6C20-D22DF3BD9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Increasing the number of outputs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3C859-8F27-9C30-3871-7B6A5D29E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Now suppose we had multiple outputs: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Each line has a weight associated with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26F4AA-7DA9-3071-94E7-CC3DE45A5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0688EE3-BC35-81BE-A414-B7CDAA3344B7}"/>
                  </a:ext>
                </a:extLst>
              </p:cNvPr>
              <p:cNvSpPr/>
              <p:nvPr/>
            </p:nvSpPr>
            <p:spPr>
              <a:xfrm>
                <a:off x="3322769" y="2369372"/>
                <a:ext cx="914400" cy="914400"/>
              </a:xfrm>
              <a:prstGeom prst="ellipse">
                <a:avLst/>
              </a:prstGeom>
              <a:solidFill>
                <a:srgbClr val="00427A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IE" i="1" dirty="0" smtClean="0">
                          <a:latin typeface="Cambria Math" panose="02040503050406030204" pitchFamily="18" charset="0"/>
                        </a:rPr>
                        <m:t>₁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0688EE3-BC35-81BE-A414-B7CDAA3344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2769" y="2369372"/>
                <a:ext cx="914400" cy="91440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8C18F84-CD90-B561-8E2D-1FF5ED5764F6}"/>
                  </a:ext>
                </a:extLst>
              </p:cNvPr>
              <p:cNvSpPr/>
              <p:nvPr/>
            </p:nvSpPr>
            <p:spPr>
              <a:xfrm>
                <a:off x="3322769" y="3510963"/>
                <a:ext cx="914400" cy="914400"/>
              </a:xfrm>
              <a:prstGeom prst="ellipse">
                <a:avLst/>
              </a:prstGeom>
              <a:solidFill>
                <a:srgbClr val="00427A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IE" i="1" dirty="0" smtClean="0">
                          <a:latin typeface="Cambria Math" panose="02040503050406030204" pitchFamily="18" charset="0"/>
                        </a:rPr>
                        <m:t>₂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28C18F84-CD90-B561-8E2D-1FF5ED5764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2769" y="3510963"/>
                <a:ext cx="914400" cy="914400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9E6A1E0-A8F6-5C31-4829-099E263BA3DC}"/>
                  </a:ext>
                </a:extLst>
              </p:cNvPr>
              <p:cNvSpPr/>
              <p:nvPr/>
            </p:nvSpPr>
            <p:spPr>
              <a:xfrm>
                <a:off x="6725098" y="2880360"/>
                <a:ext cx="1097280" cy="1097280"/>
              </a:xfrm>
              <a:prstGeom prst="ellipse">
                <a:avLst/>
              </a:prstGeom>
              <a:solidFill>
                <a:srgbClr val="00427A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I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E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IE" b="0" i="0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9E6A1E0-A8F6-5C31-4829-099E263BA3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5098" y="2880360"/>
                <a:ext cx="1097280" cy="1097280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val 13">
            <a:extLst>
              <a:ext uri="{FF2B5EF4-FFF2-40B4-BE49-F238E27FC236}">
                <a16:creationId xmlns:a16="http://schemas.microsoft.com/office/drawing/2014/main" id="{E619CA3E-CFEB-F5FA-8F67-9ECC363BC964}"/>
              </a:ext>
            </a:extLst>
          </p:cNvPr>
          <p:cNvSpPr/>
          <p:nvPr/>
        </p:nvSpPr>
        <p:spPr>
          <a:xfrm>
            <a:off x="3322769" y="4738782"/>
            <a:ext cx="914400" cy="914400"/>
          </a:xfrm>
          <a:prstGeom prst="ellipse">
            <a:avLst/>
          </a:prstGeom>
          <a:solidFill>
            <a:srgbClr val="00427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  <a:endParaRPr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7EC225C-F3A9-8393-B8F7-3D1B2B218FEA}"/>
              </a:ext>
            </a:extLst>
          </p:cNvPr>
          <p:cNvCxnSpPr>
            <a:cxnSpLocks/>
            <a:stCxn id="7" idx="6"/>
            <a:endCxn id="10" idx="1"/>
          </p:cNvCxnSpPr>
          <p:nvPr/>
        </p:nvCxnSpPr>
        <p:spPr>
          <a:xfrm>
            <a:off x="4237169" y="2826572"/>
            <a:ext cx="2648622" cy="21448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EF3EE1F-8D5F-EC6A-CC6C-954CC24DBCC4}"/>
              </a:ext>
            </a:extLst>
          </p:cNvPr>
          <p:cNvCxnSpPr>
            <a:cxnSpLocks/>
            <a:stCxn id="8" idx="6"/>
            <a:endCxn id="10" idx="2"/>
          </p:cNvCxnSpPr>
          <p:nvPr/>
        </p:nvCxnSpPr>
        <p:spPr>
          <a:xfrm flipV="1">
            <a:off x="4237169" y="3429000"/>
            <a:ext cx="2487929" cy="53916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ABC1937-A050-DB0C-6A58-5BBDA91B9236}"/>
              </a:ext>
            </a:extLst>
          </p:cNvPr>
          <p:cNvCxnSpPr>
            <a:cxnSpLocks/>
            <a:stCxn id="14" idx="6"/>
            <a:endCxn id="10" idx="3"/>
          </p:cNvCxnSpPr>
          <p:nvPr/>
        </p:nvCxnSpPr>
        <p:spPr>
          <a:xfrm flipV="1">
            <a:off x="4237169" y="3816947"/>
            <a:ext cx="2648622" cy="137903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34D88906-CCE5-D63F-8566-83BAA33F9114}"/>
                  </a:ext>
                </a:extLst>
              </p:cNvPr>
              <p:cNvSpPr/>
              <p:nvPr/>
            </p:nvSpPr>
            <p:spPr>
              <a:xfrm>
                <a:off x="6702911" y="4246628"/>
                <a:ext cx="1097280" cy="1097280"/>
              </a:xfrm>
              <a:prstGeom prst="ellipse">
                <a:avLst/>
              </a:prstGeom>
              <a:solidFill>
                <a:srgbClr val="00427A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I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E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I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34D88906-CCE5-D63F-8566-83BAA33F91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2911" y="4246628"/>
                <a:ext cx="1097280" cy="109728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C585053-27CD-6C60-F0B3-08174BCA2921}"/>
              </a:ext>
            </a:extLst>
          </p:cNvPr>
          <p:cNvCxnSpPr>
            <a:cxnSpLocks/>
            <a:stCxn id="7" idx="6"/>
            <a:endCxn id="5" idx="1"/>
          </p:cNvCxnSpPr>
          <p:nvPr/>
        </p:nvCxnSpPr>
        <p:spPr>
          <a:xfrm>
            <a:off x="4237169" y="2826572"/>
            <a:ext cx="2626435" cy="158074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695139B-2141-BB7F-04D7-75D5C3749206}"/>
              </a:ext>
            </a:extLst>
          </p:cNvPr>
          <p:cNvCxnSpPr>
            <a:cxnSpLocks/>
            <a:stCxn id="8" idx="6"/>
            <a:endCxn id="5" idx="2"/>
          </p:cNvCxnSpPr>
          <p:nvPr/>
        </p:nvCxnSpPr>
        <p:spPr>
          <a:xfrm>
            <a:off x="4237169" y="3968163"/>
            <a:ext cx="2465742" cy="82710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EF4A0C1-6236-E05D-4ED3-3916AAEF7922}"/>
              </a:ext>
            </a:extLst>
          </p:cNvPr>
          <p:cNvCxnSpPr>
            <a:cxnSpLocks/>
            <a:stCxn id="14" idx="6"/>
            <a:endCxn id="5" idx="3"/>
          </p:cNvCxnSpPr>
          <p:nvPr/>
        </p:nvCxnSpPr>
        <p:spPr>
          <a:xfrm flipV="1">
            <a:off x="4237169" y="5183215"/>
            <a:ext cx="2626435" cy="1276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96263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5CC7F-3DFB-80F8-487A-BE6232609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A2DCF-507D-A569-C16D-067A3B55D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Increasing the number of hidden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DC63D0-666B-F359-36B3-0FC94AD23B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And now suppose we created some extra layers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most graphs ignore the biases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150D36-19C4-AB51-B0B3-4C1064F54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3BCAD59-32E9-2308-C5C8-0AB611BBB83B}"/>
                  </a:ext>
                </a:extLst>
              </p:cNvPr>
              <p:cNvSpPr/>
              <p:nvPr/>
            </p:nvSpPr>
            <p:spPr>
              <a:xfrm>
                <a:off x="3322769" y="2369372"/>
                <a:ext cx="914400" cy="914400"/>
              </a:xfrm>
              <a:prstGeom prst="ellipse">
                <a:avLst/>
              </a:prstGeom>
              <a:solidFill>
                <a:srgbClr val="00427A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IE" i="1" dirty="0" smtClean="0">
                          <a:latin typeface="Cambria Math" panose="02040503050406030204" pitchFamily="18" charset="0"/>
                        </a:rPr>
                        <m:t>₁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3BCAD59-32E9-2308-C5C8-0AB611BBB8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2769" y="2369372"/>
                <a:ext cx="914400" cy="914400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1255D59-D52A-6B94-83F7-5881DE2024BF}"/>
                  </a:ext>
                </a:extLst>
              </p:cNvPr>
              <p:cNvSpPr/>
              <p:nvPr/>
            </p:nvSpPr>
            <p:spPr>
              <a:xfrm>
                <a:off x="3322769" y="3510963"/>
                <a:ext cx="914400" cy="914400"/>
              </a:xfrm>
              <a:prstGeom prst="ellipse">
                <a:avLst/>
              </a:prstGeom>
              <a:solidFill>
                <a:srgbClr val="00427A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IE" i="1" dirty="0" smtClean="0">
                          <a:latin typeface="Cambria Math" panose="02040503050406030204" pitchFamily="18" charset="0"/>
                        </a:rPr>
                        <m:t>₂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1255D59-D52A-6B94-83F7-5881DE2024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2769" y="3510963"/>
                <a:ext cx="914400" cy="914400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26A154A-0791-7C8D-2B37-B395A9ED846A}"/>
                  </a:ext>
                </a:extLst>
              </p:cNvPr>
              <p:cNvSpPr/>
              <p:nvPr/>
            </p:nvSpPr>
            <p:spPr>
              <a:xfrm>
                <a:off x="6725098" y="2880360"/>
                <a:ext cx="914400" cy="914400"/>
              </a:xfrm>
              <a:prstGeom prst="ellipse">
                <a:avLst/>
              </a:prstGeom>
              <a:solidFill>
                <a:srgbClr val="00427A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I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E" b="0" i="1" dirty="0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acc>
                        </m:e>
                        <m:sub>
                          <m:r>
                            <a:rPr lang="en-IE" b="0" i="0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26A154A-0791-7C8D-2B37-B395A9ED84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5098" y="2880360"/>
                <a:ext cx="914400" cy="914400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val 13">
            <a:extLst>
              <a:ext uri="{FF2B5EF4-FFF2-40B4-BE49-F238E27FC236}">
                <a16:creationId xmlns:a16="http://schemas.microsoft.com/office/drawing/2014/main" id="{B34DD9BE-78F4-83D0-97A5-37883CDA31AD}"/>
              </a:ext>
            </a:extLst>
          </p:cNvPr>
          <p:cNvSpPr/>
          <p:nvPr/>
        </p:nvSpPr>
        <p:spPr>
          <a:xfrm>
            <a:off x="3322769" y="4738782"/>
            <a:ext cx="914400" cy="914400"/>
          </a:xfrm>
          <a:prstGeom prst="ellipse">
            <a:avLst/>
          </a:prstGeom>
          <a:solidFill>
            <a:srgbClr val="00427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  <a:endParaRPr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6143A32-4140-8A1A-64A7-0BDEB92B75B7}"/>
              </a:ext>
            </a:extLst>
          </p:cNvPr>
          <p:cNvCxnSpPr>
            <a:cxnSpLocks/>
            <a:stCxn id="7" idx="6"/>
            <a:endCxn id="10" idx="1"/>
          </p:cNvCxnSpPr>
          <p:nvPr/>
        </p:nvCxnSpPr>
        <p:spPr>
          <a:xfrm>
            <a:off x="4237169" y="2826572"/>
            <a:ext cx="2621840" cy="18769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413AB03-FE81-7032-CDBB-00F028D1F172}"/>
              </a:ext>
            </a:extLst>
          </p:cNvPr>
          <p:cNvCxnSpPr>
            <a:cxnSpLocks/>
            <a:stCxn id="8" idx="6"/>
            <a:endCxn id="10" idx="2"/>
          </p:cNvCxnSpPr>
          <p:nvPr/>
        </p:nvCxnSpPr>
        <p:spPr>
          <a:xfrm flipV="1">
            <a:off x="4237169" y="3337560"/>
            <a:ext cx="2487929" cy="63060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B758CDE-A5C9-E333-E8EA-A03342CA34CC}"/>
              </a:ext>
            </a:extLst>
          </p:cNvPr>
          <p:cNvCxnSpPr>
            <a:cxnSpLocks/>
            <a:stCxn id="14" idx="6"/>
            <a:endCxn id="10" idx="3"/>
          </p:cNvCxnSpPr>
          <p:nvPr/>
        </p:nvCxnSpPr>
        <p:spPr>
          <a:xfrm flipV="1">
            <a:off x="4237169" y="3660849"/>
            <a:ext cx="2621840" cy="153513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BB63311B-395E-C078-676A-5D583F2569D2}"/>
                  </a:ext>
                </a:extLst>
              </p:cNvPr>
              <p:cNvSpPr/>
              <p:nvPr/>
            </p:nvSpPr>
            <p:spPr>
              <a:xfrm>
                <a:off x="6702911" y="4246628"/>
                <a:ext cx="914400" cy="914400"/>
              </a:xfrm>
              <a:prstGeom prst="ellipse">
                <a:avLst/>
              </a:prstGeom>
              <a:solidFill>
                <a:srgbClr val="00427A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I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E" b="0" i="1" dirty="0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</m:acc>
                        </m:e>
                        <m:sub>
                          <m:r>
                            <a:rPr lang="en-I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BB63311B-395E-C078-676A-5D583F2569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2911" y="4246628"/>
                <a:ext cx="914400" cy="91440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00163D2-A9E1-EF39-BD27-1E1C744F44FE}"/>
              </a:ext>
            </a:extLst>
          </p:cNvPr>
          <p:cNvCxnSpPr>
            <a:cxnSpLocks/>
            <a:stCxn id="7" idx="6"/>
            <a:endCxn id="5" idx="1"/>
          </p:cNvCxnSpPr>
          <p:nvPr/>
        </p:nvCxnSpPr>
        <p:spPr>
          <a:xfrm>
            <a:off x="4237169" y="2826572"/>
            <a:ext cx="2599653" cy="155396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DDAE6DE-8046-09C7-8773-70CCB3FE6683}"/>
              </a:ext>
            </a:extLst>
          </p:cNvPr>
          <p:cNvCxnSpPr>
            <a:cxnSpLocks/>
            <a:stCxn id="8" idx="6"/>
            <a:endCxn id="5" idx="2"/>
          </p:cNvCxnSpPr>
          <p:nvPr/>
        </p:nvCxnSpPr>
        <p:spPr>
          <a:xfrm>
            <a:off x="4237169" y="3968163"/>
            <a:ext cx="2465742" cy="7356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4C43BE0-21DA-3D0A-F8A8-E8C47B2D8DD5}"/>
              </a:ext>
            </a:extLst>
          </p:cNvPr>
          <p:cNvCxnSpPr>
            <a:cxnSpLocks/>
            <a:stCxn id="14" idx="6"/>
            <a:endCxn id="5" idx="3"/>
          </p:cNvCxnSpPr>
          <p:nvPr/>
        </p:nvCxnSpPr>
        <p:spPr>
          <a:xfrm flipV="1">
            <a:off x="4237169" y="5027117"/>
            <a:ext cx="2599653" cy="16886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1B54BAD4-2F2D-FDBF-BBE3-D8C40D65039A}"/>
                  </a:ext>
                </a:extLst>
              </p:cNvPr>
              <p:cNvSpPr/>
              <p:nvPr/>
            </p:nvSpPr>
            <p:spPr>
              <a:xfrm>
                <a:off x="9148931" y="4246628"/>
                <a:ext cx="914400" cy="914400"/>
              </a:xfrm>
              <a:prstGeom prst="ellipse">
                <a:avLst/>
              </a:prstGeom>
              <a:solidFill>
                <a:srgbClr val="00427A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IE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E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1B54BAD4-2F2D-FDBF-BBE3-D8C40D6503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8931" y="4246628"/>
                <a:ext cx="914400" cy="914400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D75AF37-F997-D537-485C-1EAD6DC2CB11}"/>
                  </a:ext>
                </a:extLst>
              </p:cNvPr>
              <p:cNvSpPr/>
              <p:nvPr/>
            </p:nvSpPr>
            <p:spPr>
              <a:xfrm>
                <a:off x="9202159" y="2908255"/>
                <a:ext cx="914400" cy="914400"/>
              </a:xfrm>
              <a:prstGeom prst="ellipse">
                <a:avLst/>
              </a:prstGeom>
              <a:solidFill>
                <a:srgbClr val="00427A"/>
              </a:solidFill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D75AF37-F997-D537-485C-1EAD6DC2CB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02159" y="2908255"/>
                <a:ext cx="914400" cy="914400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1595406-3219-DCBD-4F95-F6BAA107513B}"/>
              </a:ext>
            </a:extLst>
          </p:cNvPr>
          <p:cNvCxnSpPr>
            <a:cxnSpLocks/>
            <a:stCxn id="10" idx="6"/>
            <a:endCxn id="9" idx="1"/>
          </p:cNvCxnSpPr>
          <p:nvPr/>
        </p:nvCxnSpPr>
        <p:spPr>
          <a:xfrm flipV="1">
            <a:off x="7639498" y="3042166"/>
            <a:ext cx="1696572" cy="29539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E49C110-14A8-F38C-21EB-22B732D61CB2}"/>
              </a:ext>
            </a:extLst>
          </p:cNvPr>
          <p:cNvCxnSpPr>
            <a:cxnSpLocks/>
            <a:stCxn id="10" idx="6"/>
            <a:endCxn id="6" idx="1"/>
          </p:cNvCxnSpPr>
          <p:nvPr/>
        </p:nvCxnSpPr>
        <p:spPr>
          <a:xfrm>
            <a:off x="7639498" y="3337560"/>
            <a:ext cx="1643344" cy="104297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11190A3-A90B-F295-1C07-152FFCDC855D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7617311" y="4703828"/>
            <a:ext cx="1531620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A600884-B517-A673-2407-05F18270F8DB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 flipV="1">
            <a:off x="7617311" y="3365455"/>
            <a:ext cx="1584848" cy="13383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2A10002F-ECC6-2AC8-D0C4-B3AA6D7C95D7}"/>
              </a:ext>
            </a:extLst>
          </p:cNvPr>
          <p:cNvSpPr/>
          <p:nvPr/>
        </p:nvSpPr>
        <p:spPr>
          <a:xfrm>
            <a:off x="6702911" y="5484317"/>
            <a:ext cx="914400" cy="914400"/>
          </a:xfrm>
          <a:prstGeom prst="ellipse">
            <a:avLst/>
          </a:prstGeom>
          <a:solidFill>
            <a:srgbClr val="00427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/>
              <a:t>1</a:t>
            </a:r>
            <a:endParaRPr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1D14B6E-D3E5-BD87-B397-74EED85033B3}"/>
              </a:ext>
            </a:extLst>
          </p:cNvPr>
          <p:cNvCxnSpPr>
            <a:cxnSpLocks/>
            <a:stCxn id="27" idx="6"/>
            <a:endCxn id="9" idx="3"/>
          </p:cNvCxnSpPr>
          <p:nvPr/>
        </p:nvCxnSpPr>
        <p:spPr>
          <a:xfrm flipV="1">
            <a:off x="7617311" y="3688744"/>
            <a:ext cx="1718759" cy="22527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740928B-C165-5785-7897-1D402B31E62A}"/>
              </a:ext>
            </a:extLst>
          </p:cNvPr>
          <p:cNvCxnSpPr>
            <a:cxnSpLocks/>
            <a:stCxn id="27" idx="6"/>
            <a:endCxn id="6" idx="3"/>
          </p:cNvCxnSpPr>
          <p:nvPr/>
        </p:nvCxnSpPr>
        <p:spPr>
          <a:xfrm flipV="1">
            <a:off x="7617311" y="5027117"/>
            <a:ext cx="1665531" cy="91440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24942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D001C-22FE-69DD-6D27-5760633C9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forward pass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0E8B81-DC8C-9FB7-E15F-2A17EFFE77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2 inputs → 2 hidden neurons (i.e. 1 hidden layer) → 1 output (identity activations)</a:t>
                </a:r>
              </a:p>
              <a:p>
                <a:r>
                  <a:rPr lang="en-US" dirty="0"/>
                  <a:t>Given an input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weights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, biases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r>
                  <a:rPr lang="en-US" dirty="0"/>
                  <a:t>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I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endParaRPr lang="en-US" dirty="0"/>
              </a:p>
              <a:p>
                <a:r>
                  <a:rPr lang="en-US" dirty="0">
                    <a:solidFill>
                      <a:srgbClr val="009749"/>
                    </a:solidFill>
                  </a:rPr>
                  <a:t>Example 1: go through on the board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0E8B81-DC8C-9FB7-E15F-2A17EFFE77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15" t="-2496" r="-146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7CA1CA-EA0E-E65A-9484-D402EE216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1791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7F130-DBF5-4816-F88E-6CD88A788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Activation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79FD1D-D2F6-9BC4-174E-63B49FF6DE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Without them: just one big matrix multiplication (linear function) </a:t>
                </a:r>
              </a:p>
              <a:p>
                <a:r>
                  <a:rPr lang="en-US" dirty="0"/>
                  <a:t>Recall: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is the activation function</a:t>
                </a:r>
              </a:p>
              <a:p>
                <a:r>
                  <a:rPr lang="en-US" dirty="0"/>
                  <a:t>Activations introduce non-linearity and so allow us to model complex data, especially in the hidden layers</a:t>
                </a:r>
              </a:p>
              <a:p>
                <a:r>
                  <a:rPr lang="en-US" dirty="0"/>
                  <a:t>Must be differentiable (more on this later)</a:t>
                </a:r>
              </a:p>
              <a:p>
                <a:r>
                  <a:rPr lang="en-US" dirty="0"/>
                  <a:t>There are hundreds, but we will discuss: ReLU, </a:t>
                </a:r>
                <a:r>
                  <a:rPr lang="en-US" dirty="0" err="1"/>
                  <a:t>GeLU</a:t>
                </a:r>
                <a:r>
                  <a:rPr lang="en-US" dirty="0"/>
                  <a:t>, Sigmoid, tanh</a:t>
                </a:r>
              </a:p>
              <a:p>
                <a:r>
                  <a:rPr lang="en-US" dirty="0"/>
                  <a:t>See </a:t>
                </a:r>
                <a:r>
                  <a:rPr lang="en-US" dirty="0">
                    <a:hlinkClick r:id="rId3"/>
                  </a:rPr>
                  <a:t>https://en.wikipedia.org/wiki/Activation_function</a:t>
                </a:r>
                <a:r>
                  <a:rPr lang="en-US" dirty="0"/>
                  <a:t> for more common ones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79FD1D-D2F6-9BC4-174E-63B49FF6DE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064" t="-3354" r="-608" b="-6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C02931-466B-AB0A-D053-23184B45F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5714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5FDB3-D677-F5C6-2385-B2B7EF932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600"/>
            <a:ext cx="4784796" cy="1330840"/>
          </a:xfrm>
        </p:spPr>
        <p:txBody>
          <a:bodyPr>
            <a:normAutofit/>
          </a:bodyPr>
          <a:lstStyle/>
          <a:p>
            <a:r>
              <a:rPr lang="en-US" dirty="0"/>
              <a:t>ReLU – Rectified Linear Unit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8F4E33-7017-2728-1294-0A075BBF61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37033" y="2194102"/>
                <a:ext cx="5523073" cy="390858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𝑅𝑒𝐿𝑈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lang="en-US" sz="2000" i="1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⁡(0,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r>
                  <a:rPr lang="en-US" sz="2000" dirty="0"/>
                  <a:t>Take the value of x and if it’s positive leave it as is</a:t>
                </a:r>
              </a:p>
              <a:p>
                <a:r>
                  <a:rPr lang="en-US" sz="2000" dirty="0"/>
                  <a:t>If it’s negative then set to 0</a:t>
                </a:r>
              </a:p>
              <a:p>
                <a:r>
                  <a:rPr lang="en-US" sz="2000" dirty="0"/>
                  <a:t>Very fast to compute, works well in practice</a:t>
                </a:r>
              </a:p>
              <a:p>
                <a:r>
                  <a:rPr lang="en-US" sz="2000" dirty="0"/>
                  <a:t>Promotes </a:t>
                </a:r>
                <a:r>
                  <a:rPr lang="en-US" sz="2000" b="1" dirty="0"/>
                  <a:t>sparsity</a:t>
                </a:r>
                <a:r>
                  <a:rPr lang="en-US" sz="2000" dirty="0"/>
                  <a:t>: many zeros in output</a:t>
                </a:r>
              </a:p>
              <a:p>
                <a:r>
                  <a:rPr lang="en-US" sz="2000" dirty="0"/>
                  <a:t>Multiplying by 0 is super fast for computers</a:t>
                </a:r>
              </a:p>
              <a:p>
                <a:r>
                  <a:rPr lang="en-US" sz="2000" dirty="0"/>
                  <a:t>Used in almost all modern networks</a:t>
                </a:r>
              </a:p>
              <a:p>
                <a14:m>
                  <m:oMath xmlns:m="http://schemas.openxmlformats.org/officeDocument/2006/math">
                    <m:r>
                      <a:rPr lang="en-IE" sz="20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𝑒𝐿𝑈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IE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sty m:val="p"/>
                      </m:rPr>
                      <a:rPr lang="en-IE" sz="2000" b="0" i="0" smtClean="0">
                        <a:latin typeface="Cambria Math" panose="02040503050406030204" pitchFamily="18" charset="0"/>
                      </a:rPr>
                      <m:t>Φ</m:t>
                    </m:r>
                    <m:r>
                      <a:rPr lang="en-IE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IE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IE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= Gaussian Error Linear Unit</a:t>
                </a:r>
              </a:p>
              <a:p>
                <a:r>
                  <a:rPr lang="en-US" sz="2000" dirty="0"/>
                  <a:t>Avoids the kink and often better for deeper models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8F4E33-7017-2728-1294-0A075BBF61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37033" y="2194102"/>
                <a:ext cx="5523073" cy="3908585"/>
              </a:xfrm>
              <a:blipFill>
                <a:blip r:embed="rId3"/>
                <a:stretch>
                  <a:fillRect l="-993" t="-1404" r="-993" b="-936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3AAA00F0-A720-98B9-8879-E21F2B9BD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880610" y="1468061"/>
            <a:ext cx="4737650" cy="3944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F68801-74A3-6D3C-5CC8-5EE70FD06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8E65201D-48DB-3B45-ABC2-018B1E66F34C}" type="slidenum">
              <a:rPr lang="en-US" sz="1000"/>
              <a:pPr>
                <a:spcAft>
                  <a:spcPts val="600"/>
                </a:spcAft>
              </a:pPr>
              <a:t>17</a:t>
            </a:fld>
            <a:endParaRPr lang="en-US" sz="10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62CC25-0DC5-17A9-48AA-96E4594C8725}"/>
              </a:ext>
            </a:extLst>
          </p:cNvPr>
          <p:cNvSpPr txBox="1"/>
          <p:nvPr/>
        </p:nvSpPr>
        <p:spPr>
          <a:xfrm>
            <a:off x="0" y="6582975"/>
            <a:ext cx="50813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From https://</a:t>
            </a:r>
            <a:r>
              <a:rPr lang="en-US" sz="1200" dirty="0" err="1"/>
              <a:t>en.wikipedia.org</a:t>
            </a:r>
            <a:r>
              <a:rPr lang="en-US" sz="1200" dirty="0"/>
              <a:t>/wiki/Rectifier_(</a:t>
            </a:r>
            <a:r>
              <a:rPr lang="en-US" sz="1200" dirty="0" err="1"/>
              <a:t>neural_networks</a:t>
            </a:r>
            <a:r>
              <a:rPr lang="en-US" sz="1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783644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49608-F292-0EFB-3986-EC4EF6069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600"/>
            <a:ext cx="4784796" cy="1330840"/>
          </a:xfrm>
        </p:spPr>
        <p:txBody>
          <a:bodyPr>
            <a:normAutofit/>
          </a:bodyPr>
          <a:lstStyle/>
          <a:p>
            <a:r>
              <a:rPr lang="en-US" dirty="0"/>
              <a:t>Sigmoid and tanh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7D420D-3925-30AC-FCB1-1DA062F0B5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37034" y="2194102"/>
                <a:ext cx="5809676" cy="390858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sz="2400" dirty="0"/>
                  <a:t>Sigmoid squashes to [0,1]: good for producing probabilities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) = </m:t>
                      </m:r>
                      <m:f>
                        <m:f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IE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1 +</m:t>
                          </m:r>
                          <m:sSup>
                            <m:sSupPr>
                              <m:ctrlPr>
                                <a:rPr lang="en-IE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IE" sz="2400" b="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IE" sz="24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IE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Tanh squashes to [-1,1]: centered at 0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) = </m:t>
                      </m:r>
                      <m:f>
                        <m:f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IE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IE" sz="2400" b="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IE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  <m:r>
                            <a:rPr lang="en-IE" sz="2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IE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IE" sz="2400" b="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IE" sz="24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IE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IE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IE" sz="2400" b="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IE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IE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IE" sz="2400" b="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IE" sz="24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IE" sz="2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Both flatten at extremes which causes a </a:t>
                </a:r>
                <a:r>
                  <a:rPr lang="en-US" sz="2400" b="1" dirty="0"/>
                  <a:t>vanishing gradient</a:t>
                </a:r>
                <a:r>
                  <a:rPr lang="en-US" sz="2400" dirty="0"/>
                  <a:t> issue (more on this later)</a:t>
                </a:r>
              </a:p>
              <a:p>
                <a:r>
                  <a:rPr lang="en-US" sz="2400" dirty="0"/>
                  <a:t>Still useful for output layers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7D420D-3925-30AC-FCB1-1DA062F0B5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37034" y="2194102"/>
                <a:ext cx="5809676" cy="3908585"/>
              </a:xfrm>
              <a:blipFill>
                <a:blip r:embed="rId3"/>
                <a:stretch>
                  <a:fillRect l="-1469" t="-2808" b="-780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A graph of a function&#10;&#10;AI-generated content may be incorrect.">
            <a:extLst>
              <a:ext uri="{FF2B5EF4-FFF2-40B4-BE49-F238E27FC236}">
                <a16:creationId xmlns:a16="http://schemas.microsoft.com/office/drawing/2014/main" id="{71DFEC35-AE1B-956A-4C2E-711ED56A78A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94" r="14543"/>
          <a:stretch>
            <a:fillRect/>
          </a:stretch>
        </p:blipFill>
        <p:spPr bwMode="auto">
          <a:xfrm>
            <a:off x="6880610" y="1472772"/>
            <a:ext cx="4737650" cy="3934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C0269D-A9C9-2A85-BA08-BC585E87D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8E65201D-48DB-3B45-ABC2-018B1E66F34C}" type="slidenum">
              <a:rPr lang="en-US" sz="1000"/>
              <a:pPr>
                <a:spcAft>
                  <a:spcPts val="600"/>
                </a:spcAft>
              </a:pPr>
              <a:t>18</a:t>
            </a:fld>
            <a:endParaRPr lang="en-US" sz="10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FEDEAD-866F-58BA-6C64-EF50165036F7}"/>
              </a:ext>
            </a:extLst>
          </p:cNvPr>
          <p:cNvSpPr txBox="1"/>
          <p:nvPr/>
        </p:nvSpPr>
        <p:spPr>
          <a:xfrm>
            <a:off x="308052" y="6558516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From https://</a:t>
            </a:r>
            <a:r>
              <a:rPr lang="en-US" sz="1200" dirty="0" err="1"/>
              <a:t>miro.medium.com</a:t>
            </a:r>
            <a:r>
              <a:rPr lang="en-US" sz="1200" dirty="0"/>
              <a:t>/v2/resize:fit:1280/1*R2e5_A-hD3VB3B1wv3qaQA.png</a:t>
            </a:r>
          </a:p>
        </p:txBody>
      </p:sp>
    </p:spTree>
    <p:extLst>
      <p:ext uri="{BB962C8B-B14F-4D97-AF65-F5344CB8AC3E}">
        <p14:creationId xmlns:p14="http://schemas.microsoft.com/office/powerpoint/2010/main" val="5681196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1A763-A1F0-3F95-58E1-347275D12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Activation Practice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C74B14-07D7-CF39-C539-6AC959CD70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>
                <a:solidFill>
                  <a:srgbClr val="009749"/>
                </a:solidFill>
              </a:rPr>
              <a:t>(Example 2 on board)</a:t>
            </a:r>
          </a:p>
          <a:p>
            <a:r>
              <a:rPr lang="en-US" sz="2800" dirty="0"/>
              <a:t>2 inputs → 2 hidden layers with </a:t>
            </a:r>
            <a:r>
              <a:rPr lang="en-US" sz="2800" dirty="0" err="1"/>
              <a:t>ReLU</a:t>
            </a:r>
            <a:r>
              <a:rPr lang="en-US" sz="2800" dirty="0"/>
              <a:t> → 2 outputs</a:t>
            </a:r>
          </a:p>
          <a:p>
            <a:r>
              <a:rPr lang="en-US" sz="2800" dirty="0"/>
              <a:t>Same process, one extra step: input, weight, bias → compute pre-activation → apply function</a:t>
            </a:r>
          </a:p>
          <a:p>
            <a:r>
              <a:rPr lang="en-US" sz="2800" dirty="0"/>
              <a:t>Could also apply sigmoid or tanh activation functions</a:t>
            </a:r>
          </a:p>
          <a:p>
            <a:r>
              <a:rPr lang="en-US" sz="2800" dirty="0"/>
              <a:t>What differences do you observe?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D505C4-348B-2D42-D9A8-B5C8A979E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8E65201D-48DB-3B45-ABC2-018B1E66F34C}" type="slidenum">
              <a:rPr lang="en-US" sz="1000"/>
              <a:pPr>
                <a:spcAft>
                  <a:spcPts val="600"/>
                </a:spcAft>
              </a:pPr>
              <a:t>19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32888227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7FDB7-9DC8-6B40-10D3-9575192F76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AA89DE-AE97-4CA4-C39B-91D79C4A088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01138B-4C36-1C9A-A4F5-4E4F0C813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2FB5F-D553-C945-B874-A642CC0C851F}" type="datetime3">
              <a:rPr lang="en-IE" smtClean="0"/>
              <a:pPr/>
              <a:t>23 February 2026</a:t>
            </a:fld>
            <a:endParaRPr lang="en-US" dirty="0"/>
          </a:p>
        </p:txBody>
      </p:sp>
      <p:pic>
        <p:nvPicPr>
          <p:cNvPr id="6" name="slide.url=https://www.polleverywhere.com/multiple_choice_polls/DtWfO6CJas0gbQY20TiPY?state=opened&amp;flow=Default&amp;onscreen=persist">
            <a:extLst>
              <a:ext uri="{FF2B5EF4-FFF2-40B4-BE49-F238E27FC236}">
                <a16:creationId xmlns:a16="http://schemas.microsoft.com/office/drawing/2014/main" id="{96B75039-9FBE-7F19-980B-89C7697003F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7452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841-B1BB-618E-599A-DEF23D0AD9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974194-CB9F-5E59-FA4F-20EB1113EF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A2B70-B521-07BA-D32A-B84897702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2FB5F-D553-C945-B874-A642CC0C851F}" type="datetime3">
              <a:rPr lang="en-IE" smtClean="0"/>
              <a:pPr/>
              <a:t>23 February 2026</a:t>
            </a:fld>
            <a:endParaRPr lang="en-US" dirty="0"/>
          </a:p>
        </p:txBody>
      </p:sp>
      <p:pic>
        <p:nvPicPr>
          <p:cNvPr id="6" name="slide.url=https://www.polleverywhere.com/multiple_choice_polls/jiILwRZI4f4Fp2NGhvLKg?state=opened&amp;flow=Default&amp;onscreen=persist">
            <a:extLst>
              <a:ext uri="{FF2B5EF4-FFF2-40B4-BE49-F238E27FC236}">
                <a16:creationId xmlns:a16="http://schemas.microsoft.com/office/drawing/2014/main" id="{D61599CA-25F4-FDA0-DD6B-0C249357D896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7879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E2C95-7A9E-1651-5A0E-7DA473F917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C770F7-B2C1-C990-B4D4-E36BAC2FFC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CBB7F3-D3D9-C1A4-9B26-447320D45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2FB5F-D553-C945-B874-A642CC0C851F}" type="datetime3">
              <a:rPr lang="en-IE" smtClean="0"/>
              <a:pPr/>
              <a:t>23 February 2026</a:t>
            </a:fld>
            <a:endParaRPr lang="en-US" dirty="0"/>
          </a:p>
        </p:txBody>
      </p:sp>
      <p:pic>
        <p:nvPicPr>
          <p:cNvPr id="6" name="slide.url=https://www.polleverywhere.com/multiple_choice_polls/0DiaqtZCrsQQdBoL8wxjR?state=opened&amp;flow=Default&amp;onscreen=persist">
            <a:extLst>
              <a:ext uri="{FF2B5EF4-FFF2-40B4-BE49-F238E27FC236}">
                <a16:creationId xmlns:a16="http://schemas.microsoft.com/office/drawing/2014/main" id="{A13C32CE-E891-714A-B30D-01D1EBBE22C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9963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99AFC-C4A5-6623-D6A1-C3D2BF4B2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pitfalls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44770E-3C97-6C94-66DF-E608F35777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Forgetting bias</a:t>
            </a:r>
          </a:p>
          <a:p>
            <a:r>
              <a:rPr lang="en-US" dirty="0"/>
              <a:t>Confusing dimensions</a:t>
            </a:r>
          </a:p>
          <a:p>
            <a:r>
              <a:rPr lang="en-US" dirty="0"/>
              <a:t>Applying wrong (or inappropriate) activation function</a:t>
            </a:r>
          </a:p>
          <a:p>
            <a:r>
              <a:rPr lang="en-US" dirty="0"/>
              <a:t>Bad learning rates</a:t>
            </a:r>
          </a:p>
          <a:p>
            <a:r>
              <a:rPr lang="en-US" dirty="0"/>
              <a:t>Check, check, and check again (and use LLMs to help)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A88B77-ED9D-ABB9-39DC-483248935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795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3F17F-746B-E667-3B63-9BDAFFC59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neural network for weather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283CA-66FE-1EA0-67BE-FCA3BAEE5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Inputs = today’s temperature, humidity, wind speed...</a:t>
            </a:r>
          </a:p>
          <a:p>
            <a:r>
              <a:rPr lang="en-US" dirty="0"/>
              <a:t>Outputs = temperature, humidity, wind speed in 6h</a:t>
            </a:r>
          </a:p>
          <a:p>
            <a:r>
              <a:rPr lang="en-US" dirty="0"/>
              <a:t>NNs can learn the spatial and temporal patterns</a:t>
            </a:r>
          </a:p>
          <a:p>
            <a:r>
              <a:rPr lang="en-US" dirty="0"/>
              <a:t>Next lecture: discover how NNs learn the weights and the biases from data</a:t>
            </a:r>
          </a:p>
          <a:p>
            <a:r>
              <a:rPr lang="en-IE" dirty="0"/>
              <a:t>In real-world NNs there are many neurons at different layers of the architecture. Each has its own </a:t>
            </a:r>
            <a:r>
              <a:rPr lang="en-US" dirty="0"/>
              <a:t>weights and biases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8AFC83-215F-7FA4-27C2-4A899B65E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6111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518CF-589F-36E6-7720-D982CED5B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class: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1E2CA-EDCA-E515-16D1-FF9E2DA8C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So far: forward pass only. i.e. taking weights and biases, and getting to the outputs</a:t>
            </a:r>
          </a:p>
          <a:p>
            <a:r>
              <a:rPr lang="en-US" dirty="0"/>
              <a:t>Next: how do we learn weights?</a:t>
            </a:r>
          </a:p>
          <a:p>
            <a:r>
              <a:rPr lang="en-US" dirty="0"/>
              <a:t>Concepts of loss, gradients, updates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832799-2A24-F49A-CEB4-96F76E35E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3150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2F52A-9D3D-9F47-5EE5-8C0B23884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DCF8C-8F21-6B68-1EFF-48ED27F0AD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neural network is just a fancy linear regression with extra hidden nodes</a:t>
            </a:r>
          </a:p>
          <a:p>
            <a:r>
              <a:rPr lang="en-US" dirty="0"/>
              <a:t>These hidden nodes can capture much more flexible </a:t>
            </a:r>
            <a:r>
              <a:rPr lang="en-US" dirty="0" err="1"/>
              <a:t>behaviour</a:t>
            </a:r>
            <a:r>
              <a:rPr lang="en-US" dirty="0"/>
              <a:t> than the basic LR</a:t>
            </a:r>
          </a:p>
          <a:p>
            <a:r>
              <a:rPr lang="en-US" dirty="0"/>
              <a:t>Most of the (forward) calculations are just matrix multiplication of weights and biases</a:t>
            </a:r>
          </a:p>
          <a:p>
            <a:r>
              <a:rPr lang="en-US" dirty="0"/>
              <a:t>We use activation functions to allow more flexibility (and especially sparsity) in the way the values are modelled</a:t>
            </a:r>
          </a:p>
          <a:p>
            <a:r>
              <a:rPr lang="en-US" dirty="0"/>
              <a:t>Tomorrow: how do we estimate the weights?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77BFB-75BB-82D2-9ACA-EE3C00E6E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201D-48DB-3B45-ABC2-018B1E66F34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116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2E10E-525F-42F7-F943-C6C1FF1B7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class (if time)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CE5A4-43C6-FD2C-8481-C5B76C0905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through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D1C3_code.ipynb</a:t>
            </a:r>
          </a:p>
        </p:txBody>
      </p:sp>
    </p:spTree>
    <p:extLst>
      <p:ext uri="{BB962C8B-B14F-4D97-AF65-F5344CB8AC3E}">
        <p14:creationId xmlns:p14="http://schemas.microsoft.com/office/powerpoint/2010/main" val="3061413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D8B16-F77C-4502-E883-947833A5B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D12BE41-29B7-DB52-F8D4-2A9E21327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Afternoon session instructions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C75756-92C0-C376-0050-04C81344C3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0"/>
            <a:ext cx="4682067" cy="4073347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Go and read in detail one of the following three papers*:</a:t>
            </a:r>
          </a:p>
          <a:p>
            <a:pPr marL="1200150" lvl="1" indent="-514350">
              <a:buFont typeface="+mj-lt"/>
              <a:buAutoNum type="arabicPeriod"/>
            </a:pPr>
            <a:r>
              <a:rPr lang="en-US" dirty="0">
                <a:solidFill>
                  <a:srgbClr val="00959F"/>
                </a:solidFill>
                <a:hlinkClick r:id="rId3"/>
              </a:rPr>
              <a:t>Graphcast</a:t>
            </a:r>
            <a:endParaRPr lang="en-US" dirty="0">
              <a:solidFill>
                <a:srgbClr val="00959F"/>
              </a:solidFill>
            </a:endParaRPr>
          </a:p>
          <a:p>
            <a:pPr marL="1200150" lvl="1" indent="-514350">
              <a:buFont typeface="+mj-lt"/>
              <a:buAutoNum type="arabicPeriod"/>
            </a:pPr>
            <a:r>
              <a:rPr lang="en-US" dirty="0">
                <a:solidFill>
                  <a:srgbClr val="00959F"/>
                </a:solidFill>
                <a:hlinkClick r:id="rId4"/>
              </a:rPr>
              <a:t>Aardvark</a:t>
            </a:r>
            <a:endParaRPr lang="en-US" dirty="0">
              <a:solidFill>
                <a:srgbClr val="00959F"/>
              </a:solidFill>
            </a:endParaRPr>
          </a:p>
          <a:p>
            <a:pPr marL="1200150" lvl="1" indent="-514350">
              <a:buFont typeface="+mj-lt"/>
              <a:buAutoNum type="arabicPeriod"/>
            </a:pPr>
            <a:r>
              <a:rPr lang="en-US" dirty="0">
                <a:solidFill>
                  <a:srgbClr val="00959F"/>
                </a:solidFill>
                <a:hlinkClick r:id="rId5"/>
              </a:rPr>
              <a:t>AIFS</a:t>
            </a:r>
            <a:endParaRPr lang="en-US" dirty="0">
              <a:solidFill>
                <a:srgbClr val="00959F"/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Prepare a short (5 minute) and simple group presentation that </a:t>
            </a:r>
            <a:r>
              <a:rPr lang="en-US" dirty="0" err="1"/>
              <a:t>summarises</a:t>
            </a:r>
            <a:r>
              <a:rPr lang="en-US" dirty="0"/>
              <a:t> the paper. All members of group must present.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rgbClr val="00959F"/>
                </a:solidFill>
              </a:rPr>
              <a:t>Make sure your computer is set up to run Linux (Ubuntu) and </a:t>
            </a:r>
            <a:r>
              <a:rPr lang="en-US" dirty="0" err="1">
                <a:solidFill>
                  <a:srgbClr val="00959F"/>
                </a:solidFill>
              </a:rPr>
              <a:t>PyTorch</a:t>
            </a:r>
            <a:endParaRPr lang="en-US" dirty="0">
              <a:solidFill>
                <a:srgbClr val="00959F"/>
              </a:solidFill>
            </a:endParaRPr>
          </a:p>
          <a:p>
            <a:r>
              <a:rPr lang="en-US" dirty="0"/>
              <a:t>(Or look here: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https://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github.com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jaychempan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/Awesome-LWMs</a:t>
            </a:r>
            <a:r>
              <a:rPr lang="en-US" dirty="0"/>
              <a:t>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4619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msir_template_2" id="{885FC850-5704-7C40-B0D5-B2BE1CAB90DE}" vid="{17F42F5C-6F7C-FD4F-918A-67665F080F4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4345</TotalTime>
  <Words>1776</Words>
  <Application>Microsoft Macintosh PowerPoint</Application>
  <PresentationFormat>Widescreen</PresentationFormat>
  <Paragraphs>247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Aptos</vt:lpstr>
      <vt:lpstr>Arial</vt:lpstr>
      <vt:lpstr>Calibri</vt:lpstr>
      <vt:lpstr>Cambria Math</vt:lpstr>
      <vt:lpstr>Courier New</vt:lpstr>
      <vt:lpstr>Office Theme</vt:lpstr>
      <vt:lpstr>Class 2: Neural Network Basics</vt:lpstr>
      <vt:lpstr>Learning outcomes</vt:lpstr>
      <vt:lpstr>Foundations of Neural Networks (NNs)</vt:lpstr>
      <vt:lpstr>Neurons</vt:lpstr>
      <vt:lpstr>Networks as compositions</vt:lpstr>
      <vt:lpstr>Dot Products</vt:lpstr>
      <vt:lpstr>Dot products examples</vt:lpstr>
      <vt:lpstr>Multiple outputs</vt:lpstr>
      <vt:lpstr>Matrix Shapes and Rules</vt:lpstr>
      <vt:lpstr>Hands-On: Linear Layer Example</vt:lpstr>
      <vt:lpstr>How does this link to weather and climate?</vt:lpstr>
      <vt:lpstr>Drawing the network</vt:lpstr>
      <vt:lpstr>Increasing the number of outputs</vt:lpstr>
      <vt:lpstr>Increasing the number of hidden layers</vt:lpstr>
      <vt:lpstr>Example forward pass</vt:lpstr>
      <vt:lpstr>Activation functions</vt:lpstr>
      <vt:lpstr>ReLU – Rectified Linear Unit</vt:lpstr>
      <vt:lpstr>Sigmoid and tanh</vt:lpstr>
      <vt:lpstr>Activation Practice</vt:lpstr>
      <vt:lpstr>PowerPoint Presentation</vt:lpstr>
      <vt:lpstr>PowerPoint Presentation</vt:lpstr>
      <vt:lpstr>PowerPoint Presentation</vt:lpstr>
      <vt:lpstr>Common pitfalls</vt:lpstr>
      <vt:lpstr>A neural network for weather data</vt:lpstr>
      <vt:lpstr>Next class: training</vt:lpstr>
      <vt:lpstr>Summary</vt:lpstr>
      <vt:lpstr>Next class (if time)</vt:lpstr>
      <vt:lpstr>Afternoon session instructions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Parnell</dc:creator>
  <cp:lastModifiedBy>Andrew Parnell</cp:lastModifiedBy>
  <cp:revision>39</cp:revision>
  <dcterms:created xsi:type="dcterms:W3CDTF">2025-09-24T09:34:21Z</dcterms:created>
  <dcterms:modified xsi:type="dcterms:W3CDTF">2026-02-24T09:53:03Z</dcterms:modified>
</cp:coreProperties>
</file>