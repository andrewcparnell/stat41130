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346" r:id="rId3"/>
    <p:sldId id="369" r:id="rId4"/>
    <p:sldId id="370" r:id="rId5"/>
    <p:sldId id="371" r:id="rId6"/>
    <p:sldId id="372" r:id="rId7"/>
    <p:sldId id="399" r:id="rId8"/>
    <p:sldId id="373" r:id="rId9"/>
    <p:sldId id="392" r:id="rId10"/>
    <p:sldId id="376" r:id="rId11"/>
    <p:sldId id="395" r:id="rId12"/>
    <p:sldId id="400" r:id="rId13"/>
    <p:sldId id="410" r:id="rId14"/>
    <p:sldId id="408" r:id="rId15"/>
    <p:sldId id="401" r:id="rId16"/>
    <p:sldId id="402" r:id="rId17"/>
    <p:sldId id="406" r:id="rId18"/>
    <p:sldId id="404" r:id="rId19"/>
    <p:sldId id="403" r:id="rId20"/>
    <p:sldId id="405" r:id="rId21"/>
    <p:sldId id="407" r:id="rId22"/>
    <p:sldId id="409" r:id="rId23"/>
    <p:sldId id="285" r:id="rId24"/>
    <p:sldId id="321" r:id="rId25"/>
    <p:sldId id="3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959F"/>
    <a:srgbClr val="0042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3"/>
    <p:restoredTop sz="94699"/>
  </p:normalViewPr>
  <p:slideViewPr>
    <p:cSldViewPr snapToGrid="0">
      <p:cViewPr varScale="1">
        <p:scale>
          <a:sx n="115" d="100"/>
          <a:sy n="11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26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40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59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6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07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9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11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02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93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2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19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15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59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In the SERT architecture, how is a raw weather observation fundamentally represented before the embedding process?</a:t>
            </a:r>
          </a:p>
          <a:p>
            <a:r>
              <a:rPr lang="en-US"/>
              <a:t>https://www.polleverywhere.com/multiple_choice_polls/JdsPEwhx0fnjgqyktqp36?state=opened&amp;flow=Default&amp;onscreen=persist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84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56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15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07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6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15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97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76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Once the components (e.g. t, f, and v) are embedded and summed into a single latent vector for each observation, they form the sequence matrix $$X_{seq}$$. When this matrix is processed by the self-attention mechanism, what exactly is the model learning?</a:t>
            </a:r>
          </a:p>
          <a:p>
            <a:r>
              <a:rPr lang="en-US"/>
              <a:t>https://www.polleverywhere.com/multiple_choice_polls/Zk8lBVm5EnEXxM7yXpRHw?state=opened&amp;flow=Default&amp;onscreen=persist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745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68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10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4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F66696-21B2-D649-92A2-EEC2EDFEA99A}" type="datetime3">
              <a:rPr lang="en-IE" smtClean="0"/>
              <a:t>2 March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5050E7-7B9A-8940-BE07-8CADAADB4B25}" type="datetime3">
              <a:rPr lang="en-IE" smtClean="0"/>
              <a:t>2 March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273B3-F20B-8743-B0C9-5966BABF8646}" type="datetime3">
              <a:rPr lang="en-IE" smtClean="0"/>
              <a:t>2 March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AF83-0BF7-A60C-4A44-19E2F2E69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EDF9A-651F-B739-1AB7-A48B486A7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CF6DE-8B56-DE5B-F6B0-A0EE9AD2A0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F33DA-678F-95D7-7567-B9ECDE86A3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5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9: </a:t>
            </a:r>
            <a:r>
              <a:rPr lang="en-US" sz="4800" dirty="0" err="1">
                <a:solidFill>
                  <a:srgbClr val="FFFFFF"/>
                </a:solidFill>
              </a:rPr>
              <a:t>Spatio</a:t>
            </a:r>
            <a:r>
              <a:rPr lang="en-US" sz="4800" dirty="0">
                <a:solidFill>
                  <a:srgbClr val="FFFFFF"/>
                </a:solidFill>
              </a:rPr>
              <a:t>-temporal transformers for sparse environmental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44C1-ED47-F757-A52F-CBDCFCCE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2D2A-5689-067A-2DB9-A2B18871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0396" cy="4149290"/>
          </a:xfrm>
        </p:spPr>
        <p:txBody>
          <a:bodyPr>
            <a:normAutofit/>
          </a:bodyPr>
          <a:lstStyle/>
          <a:p>
            <a:r>
              <a:rPr lang="en-US" dirty="0" err="1"/>
              <a:t>Summarising</a:t>
            </a:r>
            <a:r>
              <a:rPr lang="en-US" dirty="0"/>
              <a:t> this paper</a:t>
            </a:r>
          </a:p>
          <a:p>
            <a:r>
              <a:rPr lang="en-US" dirty="0"/>
              <a:t>A holy grail of current weather forecasting: direct observation prediction</a:t>
            </a:r>
          </a:p>
          <a:p>
            <a:r>
              <a:rPr lang="en-US" dirty="0"/>
              <a:t>The SERT method is one potential way of achieving this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332C5-20CA-D18C-E3CC-5D07F2D5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2472D-7F62-A3A0-C534-3E69D8E1A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529" y="1825625"/>
            <a:ext cx="6154217" cy="363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702-3EAA-CD12-2695-6E8DCECB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7523-DE30-E5A8-5DA1-B9DD82EA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and misaligned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35C07-5D36-8A33-93DB-6A058AE7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735710-2809-DE53-B532-1012F5F1B0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86"/>
          <a:stretch>
            <a:fillRect/>
          </a:stretch>
        </p:blipFill>
        <p:spPr bwMode="auto">
          <a:xfrm>
            <a:off x="598315" y="1469083"/>
            <a:ext cx="8148870" cy="47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8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D32A-D4CE-F4F7-C06C-7DCE02D2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48E1-5B59-17E1-DF54-7B3AA2E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sparse and misaligned?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4807-1355-BC9D-AEAF-B2A78741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029091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Multivariate misalignment: sensors fail independently (e.g. pH still working while turbidity is down)</a:t>
            </a:r>
          </a:p>
          <a:p>
            <a:r>
              <a:rPr lang="en-US" dirty="0"/>
              <a:t>Asynchronous arrival: time stamps of sensors not perfectly calibrated</a:t>
            </a:r>
          </a:p>
          <a:p>
            <a:r>
              <a:rPr lang="en-US" dirty="0"/>
              <a:t>Block missingness: biofouling or battery death cause longer gaps</a:t>
            </a:r>
          </a:p>
          <a:p>
            <a:r>
              <a:rPr lang="en-US" dirty="0"/>
              <a:t>Even worse: variables of interest cause the missingness to occur leading to potential prediction bias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70DA7-1F4B-97B3-9A7B-F11A6076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119C-1001-F683-FBB2-DABAA9BE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just impute?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0A2A-72CC-3E36-A7E0-39BC81B2D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877"/>
            <a:ext cx="8348602" cy="4149290"/>
          </a:xfrm>
        </p:spPr>
        <p:txBody>
          <a:bodyPr>
            <a:normAutofit/>
          </a:bodyPr>
          <a:lstStyle/>
          <a:p>
            <a:r>
              <a:rPr lang="en-IE" dirty="0"/>
              <a:t>Lots of methods to fill in missing data (AKA imputation)</a:t>
            </a:r>
          </a:p>
          <a:p>
            <a:pPr lvl="1"/>
            <a:r>
              <a:rPr lang="en-IE" dirty="0"/>
              <a:t>Very simple versions (e.g. mean imputation)</a:t>
            </a:r>
          </a:p>
          <a:p>
            <a:pPr lvl="1"/>
            <a:r>
              <a:rPr lang="en-IE" dirty="0"/>
              <a:t>Multiple Imputation</a:t>
            </a:r>
          </a:p>
          <a:p>
            <a:pPr lvl="1"/>
            <a:r>
              <a:rPr lang="en-IE" dirty="0"/>
              <a:t>ML-based imputation (e.g. </a:t>
            </a:r>
            <a:r>
              <a:rPr lang="en-IE" dirty="0" err="1"/>
              <a:t>missForest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Model-based imputation</a:t>
            </a:r>
          </a:p>
          <a:p>
            <a:pPr lvl="1"/>
            <a:endParaRPr lang="en-IE" dirty="0"/>
          </a:p>
          <a:p>
            <a:r>
              <a:rPr lang="en-IE" dirty="0"/>
              <a:t>But: these all introduce ‘fake’ data and take up extra time</a:t>
            </a:r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4E0E-AF2E-39E3-D827-A759CEF9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4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D530-E3EB-D22C-20CB-0C4E041F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idea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0EC7F6-D964-FA48-F15F-F53E46B76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354752"/>
            <a:ext cx="9434099" cy="41661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21AA2-687A-B358-C904-A4B2AD8F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FAED0-30B1-62C1-C797-D51A8336D881}"/>
              </a:ext>
            </a:extLst>
          </p:cNvPr>
          <p:cNvSpPr txBox="1"/>
          <p:nvPr/>
        </p:nvSpPr>
        <p:spPr>
          <a:xfrm>
            <a:off x="426005" y="5931586"/>
            <a:ext cx="683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From Tipirneni and Reddy (2022), ACM Trans. </a:t>
            </a:r>
            <a:r>
              <a:rPr lang="en-IE" dirty="0" err="1"/>
              <a:t>Knowl</a:t>
            </a:r>
            <a:r>
              <a:rPr lang="en-IE" dirty="0"/>
              <a:t>. </a:t>
            </a:r>
            <a:r>
              <a:rPr lang="en-IE" dirty="0" err="1"/>
              <a:t>Discov</a:t>
            </a:r>
            <a:r>
              <a:rPr lang="en-IE" dirty="0"/>
              <a:t>. Data</a:t>
            </a:r>
          </a:p>
        </p:txBody>
      </p:sp>
    </p:spTree>
    <p:extLst>
      <p:ext uri="{BB962C8B-B14F-4D97-AF65-F5344CB8AC3E}">
        <p14:creationId xmlns:p14="http://schemas.microsoft.com/office/powerpoint/2010/main" val="75422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49CB-D822-A891-B207-29B8B147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D809-EE0C-0FA8-1A33-BA264A9A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idea (part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5534A-4571-F7A4-877C-13174A0C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A0396-1AF5-4559-6003-CFA3E17ED69B}"/>
              </a:ext>
            </a:extLst>
          </p:cNvPr>
          <p:cNvSpPr txBox="1"/>
          <p:nvPr/>
        </p:nvSpPr>
        <p:spPr>
          <a:xfrm>
            <a:off x="426005" y="5931586"/>
            <a:ext cx="683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From Tipirneni and Reddy (2022), ACM Trans. </a:t>
            </a:r>
            <a:r>
              <a:rPr lang="en-IE" dirty="0" err="1"/>
              <a:t>Knowl</a:t>
            </a:r>
            <a:r>
              <a:rPr lang="en-IE" dirty="0"/>
              <a:t>. </a:t>
            </a:r>
            <a:r>
              <a:rPr lang="en-IE" dirty="0" err="1"/>
              <a:t>Discov</a:t>
            </a:r>
            <a:r>
              <a:rPr lang="en-IE" dirty="0"/>
              <a:t>.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E8177B-855A-4D73-0C2F-053AEBCDD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4932"/>
          <a:stretch>
            <a:fillRect/>
          </a:stretch>
        </p:blipFill>
        <p:spPr>
          <a:xfrm>
            <a:off x="592505" y="1354137"/>
            <a:ext cx="6064773" cy="4581729"/>
          </a:xfrm>
          <a:prstGeom prst="rect">
            <a:avLst/>
          </a:prstGeo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EBAB7F2D-3271-510D-4F8C-2AAD8C28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826"/>
          <a:stretch>
            <a:fillRect/>
          </a:stretch>
        </p:blipFill>
        <p:spPr>
          <a:xfrm>
            <a:off x="6407899" y="1354137"/>
            <a:ext cx="4945901" cy="62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6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9A0E-8AF9-16F8-B600-73E29EDC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grids to 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ED608B-1F82-8D2B-93B1-361778BFB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6756" y="1416658"/>
            <a:ext cx="9945029" cy="45094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3F3AD-DAD2-3C07-BE32-38A1B31B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1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5E74-38E3-DA98-FCB1-37012332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0B25-8EAD-CD2C-391F-626EEB20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634B-6624-5F29-29D5-ED89BD55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9351" cy="4149290"/>
          </a:xfrm>
        </p:spPr>
        <p:txBody>
          <a:bodyPr>
            <a:normAutofit/>
          </a:bodyPr>
          <a:lstStyle/>
          <a:p>
            <a:r>
              <a:rPr lang="en-IE" dirty="0"/>
              <a:t>Each of the variables, time stamps, and values get embedded individually</a:t>
            </a:r>
          </a:p>
          <a:p>
            <a:r>
              <a:rPr lang="en-IE" dirty="0"/>
              <a:t>Then all the embedding values get added together</a:t>
            </a:r>
          </a:p>
          <a:p>
            <a:r>
              <a:rPr lang="en-IE" dirty="0"/>
              <a:t>(Should do some pre-training to get the best values of these)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EFB21-BA39-8E44-6C59-DA0EF078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5C3BD-9376-F0EB-66F6-B955296C2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566" y="1204912"/>
            <a:ext cx="492476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0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816B-2527-F6A8-21A7-A265E2D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overall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A058-E819-12E2-2CBD-9E04D85B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960C520-6224-8D84-E6EF-CB4B71BC0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836" y="1365787"/>
            <a:ext cx="10928328" cy="323369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D9F89E-55A7-7AB6-18FB-63C4ECFE922B}"/>
              </a:ext>
            </a:extLst>
          </p:cNvPr>
          <p:cNvSpPr txBox="1">
            <a:spLocks/>
          </p:cNvSpPr>
          <p:nvPr/>
        </p:nvSpPr>
        <p:spPr>
          <a:xfrm>
            <a:off x="838200" y="4599480"/>
            <a:ext cx="8216590" cy="1518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Where to put location?</a:t>
            </a:r>
          </a:p>
          <a:p>
            <a:pPr lvl="1"/>
            <a:r>
              <a:rPr lang="en-IE" dirty="0"/>
              <a:t>Could add a 4</a:t>
            </a:r>
            <a:r>
              <a:rPr lang="en-IE" baseline="30000" dirty="0"/>
              <a:t>th</a:t>
            </a:r>
            <a:r>
              <a:rPr lang="en-IE" dirty="0"/>
              <a:t> embedding</a:t>
            </a:r>
          </a:p>
          <a:p>
            <a:pPr lvl="1"/>
            <a:r>
              <a:rPr lang="en-IE" dirty="0"/>
              <a:t>Or add later into the linear 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2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A94B-8035-EE5C-006C-797736F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A069-9465-F9A3-7FB4-7EB8B514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 location in the linear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C77EF-C7D1-9AF7-7AAE-D3617A4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8DB31-3FD3-FDF6-0C25-406E3ABE1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593" y="1590327"/>
            <a:ext cx="7649914" cy="40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42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B26D-4251-E47A-9FF0-ACB60653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61AD-2DFA-EEDC-918F-4ADB7CC7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strategy: masked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E23B-DC2F-F6BA-5191-F309F55B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0E4076-3535-5573-7EA3-5DDB6391E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454" y="1516144"/>
            <a:ext cx="10730624" cy="4409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5591853-171F-EF04-C615-E423749065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2259" y="1690688"/>
                <a:ext cx="4953000" cy="16033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E" dirty="0"/>
                  <a:t>: binary mask (1 = observed, 0 = missing)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E" dirty="0"/>
                  <a:t> Predicted value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E" dirty="0"/>
                  <a:t>: Ground truth</a:t>
                </a:r>
              </a:p>
              <a:p>
                <a:r>
                  <a:rPr lang="en-IE" dirty="0"/>
                  <a:t>Idea: if target is missing, remove it from the learning)</a:t>
                </a: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5591853-171F-EF04-C615-E42374906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259" y="1690688"/>
                <a:ext cx="4953000" cy="1603375"/>
              </a:xfrm>
              <a:prstGeom prst="rect">
                <a:avLst/>
              </a:prstGeom>
              <a:blipFill>
                <a:blip r:embed="rId4"/>
                <a:stretch>
                  <a:fillRect l="-767" t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95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AB02-E933-069E-1E5F-56DD5A7B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89B1A-C75F-A887-ECD0-26341CD3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Can obtain superior performance by pre-training the individual components (time, feature, location, value)</a:t>
            </a:r>
          </a:p>
          <a:p>
            <a:r>
              <a:rPr lang="en-US" dirty="0"/>
              <a:t>For example, for the feature vector:</a:t>
            </a:r>
          </a:p>
          <a:p>
            <a:pPr lvl="1"/>
            <a:r>
              <a:rPr lang="en-IE" dirty="0"/>
              <a:t>If two variables (e.g., wind speed and wave height) frequently appear together in the same measurement ‘packets’ they should have related embeddings</a:t>
            </a:r>
            <a:endParaRPr lang="en-US" dirty="0"/>
          </a:p>
          <a:p>
            <a:pPr lvl="1"/>
            <a:r>
              <a:rPr lang="en-US" dirty="0"/>
              <a:t>Give each feature a number (1 = salinity, 2 = temperature,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Either use an existing embedding data set (e.g. word2vec)</a:t>
            </a:r>
          </a:p>
          <a:p>
            <a:pPr lvl="1"/>
            <a:r>
              <a:rPr lang="en-US" dirty="0"/>
              <a:t>Or use the existing data set and set up a model that takes pairs of variable names and an output as to whether they co-occur or not</a:t>
            </a:r>
          </a:p>
          <a:p>
            <a:pPr lvl="1"/>
            <a:r>
              <a:rPr lang="en-US" dirty="0"/>
              <a:t>One of the hidden layers in the model can then determine the embedding values (and you can choose the dimension of these)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C9B7C-3634-0AF2-2B3E-797B9DE7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3552-40FE-6E86-1979-05664B57F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4956F-6FEA-B43D-ABE8-1C7D5B594D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36F47-EE2E-A013-CDC3-95C2705E22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  <p:pic>
        <p:nvPicPr>
          <p:cNvPr id="6" name="slide.url=https://www.polleverywhere.com/multiple_choice_polls/JdsPEwhx0fnjgqyktqp36?state=opened&amp;flow=Default&amp;onscreen=persist">
            <a:extLst>
              <a:ext uri="{FF2B5EF4-FFF2-40B4-BE49-F238E27FC236}">
                <a16:creationId xmlns:a16="http://schemas.microsoft.com/office/drawing/2014/main" id="{B58D7F0A-DE07-4E2B-1E97-6C45DE8D98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74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68F7-2495-E453-9A94-77F54A66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SERT by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0606-4FC4-30F8-4138-E5D70794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9749"/>
                </a:solidFill>
              </a:rPr>
              <a:t>Go through an example on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6AEFD-E042-0DBE-FC1C-9D9CB6AF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46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79D0-EFE9-BFE2-15AC-72076910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FA25-6ED2-14C2-5881-AADF6667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data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005996-217F-275D-CFC2-3A07CBAC8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5861" y="1825625"/>
            <a:ext cx="8253341" cy="4149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8C257-24AC-F283-E58D-3F272E60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96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3414-CD6D-B9C0-F0AE-E0553568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74DCC-469E-3A46-7E20-5B4BCBE29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56308" y="1565623"/>
            <a:ext cx="5344163" cy="42918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C237-BB30-B7B4-444C-C3822429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3B7262C-5961-2CE1-EF8C-E8E158AA8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86"/>
          <a:stretch>
            <a:fillRect/>
          </a:stretch>
        </p:blipFill>
        <p:spPr bwMode="auto">
          <a:xfrm>
            <a:off x="0" y="1904910"/>
            <a:ext cx="6347622" cy="373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127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3B01-7986-2B51-A156-A209258D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7D0F-608B-F9E9-7A31-BC5BF6EA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24E94-7246-757D-1AF9-1838F43F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AF4BDC-3757-0989-68EE-475DAB115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3730" y="1690688"/>
            <a:ext cx="8348663" cy="30681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B861A31-C9D1-53BC-353F-CA6CF90DED74}"/>
              </a:ext>
            </a:extLst>
          </p:cNvPr>
          <p:cNvSpPr txBox="1">
            <a:spLocks/>
          </p:cNvSpPr>
          <p:nvPr/>
        </p:nvSpPr>
        <p:spPr>
          <a:xfrm>
            <a:off x="838200" y="5287617"/>
            <a:ext cx="8348602" cy="687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Naïve = persistence forecast</a:t>
            </a:r>
          </a:p>
        </p:txBody>
      </p:sp>
    </p:spTree>
    <p:extLst>
      <p:ext uri="{BB962C8B-B14F-4D97-AF65-F5344CB8AC3E}">
        <p14:creationId xmlns:p14="http://schemas.microsoft.com/office/powerpoint/2010/main" val="1216739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A421-1906-F2FE-C280-C795E4F7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207D-999B-C8C1-DD4B-8B5E15A90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‘light’ version of the model – SST-ANN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9AFF46C-BF66-15BF-21F2-967234B38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with transformer is too complicated to enable easy interpretation</a:t>
            </a:r>
          </a:p>
          <a:p>
            <a:r>
              <a:rPr lang="en-US" dirty="0"/>
              <a:t>Skip that part out and replace with a simple 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91C7A-E31B-E68C-4C04-91BF2BF1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993444-5193-6582-4C79-5E86104E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0" y="3320827"/>
            <a:ext cx="6596270" cy="298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06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E26B-47DF-78CA-5058-77CCEC5B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Intepretability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0CBFF-A957-7CCE-76ED-F4789C336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14385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Can now look at opening the black box</a:t>
            </a:r>
          </a:p>
          <a:p>
            <a:r>
              <a:rPr lang="en-US" dirty="0"/>
              <a:t>The average contribution score 𝑐 gives importance of the predictor variable to the prediction of the target variable. </a:t>
            </a:r>
          </a:p>
          <a:p>
            <a:r>
              <a:rPr lang="en-US" dirty="0"/>
              <a:t>Temperature followed by precipitation are the most important variables in predicting the target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F60FB-7C57-9DFA-56E9-8A9C3BD2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88CA5-FC33-5C7C-2B9A-6F78DCE155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72"/>
          <a:stretch>
            <a:fillRect/>
          </a:stretch>
        </p:blipFill>
        <p:spPr>
          <a:xfrm>
            <a:off x="5729998" y="628527"/>
            <a:ext cx="5839150" cy="548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10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1767-1DB0-5C8C-26EC-70D43AC2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8B81C-98D3-006E-DC70-1D36C8B6C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4002" y="2018953"/>
            <a:ext cx="10946941" cy="29506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61508-1C50-2F15-B5C6-C837FF5D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66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D1C9-50D4-C6CE-8F38-14FFC57B2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2C894-381E-A941-3466-4F9B5BDC0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6BFFE-074B-9BED-D6E9-ECD8A6FDD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22</a:t>
            </a:fld>
            <a:endParaRPr lang="en-US"/>
          </a:p>
        </p:txBody>
      </p:sp>
      <p:pic>
        <p:nvPicPr>
          <p:cNvPr id="6" name="slide.url=https://www.polleverywhere.com/multiple_choice_polls/Zk8lBVm5EnEXxM7yXpRHw?state=opened&amp;flow=Default&amp;onscreen=persist">
            <a:extLst>
              <a:ext uri="{FF2B5EF4-FFF2-40B4-BE49-F238E27FC236}">
                <a16:creationId xmlns:a16="http://schemas.microsoft.com/office/drawing/2014/main" id="{F1335AF0-D303-1BF6-48B8-E139CD9DC95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57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SERT is a potential way to get to direct observation prediction for weather/environmental/climate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 fundamentally changes the way we treat the data, instead seeing is as triples or quadruples representing time, space, feature and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transformer architecture (or any architecture) can be used on the embedded quantities to produce predictions for a given forecast horizon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06351"/>
            <a:ext cx="9331713" cy="2064927"/>
          </a:xfrm>
          <a:solidFill>
            <a:srgbClr val="009749">
              <a:alpha val="49379"/>
            </a:srgbClr>
          </a:solidFill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Super_simple_probabilistic_ANN.ipynb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Irish_ERA5_Probabilistic_Forecasting.ipynb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Aminsn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/SERT2023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Aminsn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5257800" cy="366856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Either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</a:rPr>
              <a:t>Go and install the SERT package and run some of the example scripts, or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</a:rPr>
              <a:t>Run some of the probabilistic forecasting routines and check you understand how they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some (new) data and run it through your chosen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your file in 5 minutes</a:t>
            </a:r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8885</TotalTime>
  <Words>918</Words>
  <Application>Microsoft Macintosh PowerPoint</Application>
  <PresentationFormat>Widescreen</PresentationFormat>
  <Paragraphs>126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Courier New</vt:lpstr>
      <vt:lpstr>Office Theme</vt:lpstr>
      <vt:lpstr>Class 9: Spatio-temporal transformers for sparse environmental data</vt:lpstr>
      <vt:lpstr>Outline</vt:lpstr>
      <vt:lpstr>Sparse and misaligned data</vt:lpstr>
      <vt:lpstr>Why is it sparse and misaligned?</vt:lpstr>
      <vt:lpstr>Why not just impute?</vt:lpstr>
      <vt:lpstr>The key idea</vt:lpstr>
      <vt:lpstr>The key idea (part 2)</vt:lpstr>
      <vt:lpstr>From grids to sets</vt:lpstr>
      <vt:lpstr>Encodings</vt:lpstr>
      <vt:lpstr>The overall model</vt:lpstr>
      <vt:lpstr>Adding in location in the linear layer</vt:lpstr>
      <vt:lpstr>Training strategy: masked loss</vt:lpstr>
      <vt:lpstr>Pre-training </vt:lpstr>
      <vt:lpstr>PowerPoint Presentation</vt:lpstr>
      <vt:lpstr>SERT by hand</vt:lpstr>
      <vt:lpstr>Synthetic data performance</vt:lpstr>
      <vt:lpstr>Real data</vt:lpstr>
      <vt:lpstr>Real data performance</vt:lpstr>
      <vt:lpstr>A ‘light’ version of the model – SST-ANN</vt:lpstr>
      <vt:lpstr>Intepretability</vt:lpstr>
      <vt:lpstr>Computation</vt:lpstr>
      <vt:lpstr>PowerPoint Presentation</vt:lpstr>
      <vt:lpstr>Summary</vt:lpstr>
      <vt:lpstr>Relevant code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111</cp:revision>
  <dcterms:created xsi:type="dcterms:W3CDTF">2025-09-24T09:34:21Z</dcterms:created>
  <dcterms:modified xsi:type="dcterms:W3CDTF">2026-03-02T14:08:04Z</dcterms:modified>
</cp:coreProperties>
</file>