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346" r:id="rId3"/>
    <p:sldId id="369" r:id="rId4"/>
    <p:sldId id="370" r:id="rId5"/>
    <p:sldId id="371" r:id="rId6"/>
    <p:sldId id="372" r:id="rId7"/>
    <p:sldId id="399" r:id="rId8"/>
    <p:sldId id="373" r:id="rId9"/>
    <p:sldId id="392" r:id="rId10"/>
    <p:sldId id="376" r:id="rId11"/>
    <p:sldId id="395" r:id="rId12"/>
    <p:sldId id="400" r:id="rId13"/>
    <p:sldId id="410" r:id="rId14"/>
    <p:sldId id="408" r:id="rId15"/>
    <p:sldId id="401" r:id="rId16"/>
    <p:sldId id="402" r:id="rId17"/>
    <p:sldId id="406" r:id="rId18"/>
    <p:sldId id="404" r:id="rId19"/>
    <p:sldId id="403" r:id="rId20"/>
    <p:sldId id="405" r:id="rId21"/>
    <p:sldId id="407" r:id="rId22"/>
    <p:sldId id="409" r:id="rId23"/>
    <p:sldId id="285" r:id="rId24"/>
    <p:sldId id="321" r:id="rId25"/>
    <p:sldId id="322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749"/>
    <a:srgbClr val="00959F"/>
    <a:srgbClr val="0042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99"/>
    <p:restoredTop sz="94771"/>
  </p:normalViewPr>
  <p:slideViewPr>
    <p:cSldViewPr snapToGrid="0">
      <p:cViewPr varScale="1">
        <p:scale>
          <a:sx n="115" d="100"/>
          <a:sy n="115" d="100"/>
        </p:scale>
        <p:origin x="6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685EE-3D40-0A4E-BB88-46887330FC0A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2F2A-FA59-1746-ABA5-28C394E5ED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In the SERT architecture, how is a raw weather observation fundamentally represented before the embedding process?</a:t>
            </a:r>
          </a:p>
          <a:p>
            <a:r>
              <a:rPr lang="en-US"/>
              <a:t>https://www.polleverywhere.com/multiple_choice_polls/JdsPEwhx0fnjgqyktqp36?state=opened&amp;flow=Default&amp;onscreen=persist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2849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Once the components (e.g. t, f, and v) are embedded and summed into a single latent vector for each observation, they form the sequence matrix $$X_{seq}$$. When this matrix is processed by the self-attention mechanism, what exactly is the model learning?</a:t>
            </a:r>
          </a:p>
          <a:p>
            <a:r>
              <a:rPr lang="en-US"/>
              <a:t>https://www.polleverywhere.com/multiple_choice_polls/Zk8lBVm5EnEXxM7yXpRHw?state=opened&amp;flow=Default&amp;onscreen=persist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774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DDF66696-21B2-D649-92A2-EEC2EDFEA99A}" type="datetime3">
              <a:rPr lang="en-IE" smtClean="0"/>
              <a:t>2 March 2026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403D-CA02-EE11-96CC-8E09913F64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2410"/>
            <a:ext cx="4921049" cy="302352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CDEDBC2-BC30-A9CA-49BA-CCA6F9CEB8A7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Andrew Parnell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4987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5EAAC-03A2-8D88-C693-5373EC4D99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1140"/>
            <a:ext cx="4921049" cy="3023526"/>
          </a:xfrm>
          <a:prstGeom prst="rect">
            <a:avLst/>
          </a:prstGeom>
        </p:spPr>
      </p:pic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235050E7-7B9A-8940-BE07-8CADAADB4B25}" type="datetime3">
              <a:rPr lang="en-IE" smtClean="0"/>
              <a:t>2 March 2026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1BF4638-05BC-68BF-F886-C5874806A86A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Presentation</a:t>
            </a:r>
            <a:r>
              <a:rPr lang="en-GB" sz="3200" b="0" dirty="0">
                <a:solidFill>
                  <a:schemeClr val="bg1"/>
                </a:solidFill>
              </a:rPr>
              <a:t> subtitle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839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9FE3EDE-25F4-E49F-B1D6-86A03CE1B128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rgbClr val="00427A"/>
                </a:solidFill>
              </a:rPr>
              <a:t>Presentation</a:t>
            </a:r>
            <a:r>
              <a:rPr lang="en-GB" sz="3200" b="0" dirty="0">
                <a:solidFill>
                  <a:srgbClr val="00427A"/>
                </a:solidFill>
              </a:rPr>
              <a:t> subtitle</a:t>
            </a:r>
            <a:endParaRPr lang="en-US" sz="3200" b="0" dirty="0">
              <a:solidFill>
                <a:srgbClr val="00427A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rgbClr val="00959F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E55273B3-F20B-8743-B0C9-5966BABF8646}" type="datetime3">
              <a:rPr lang="en-IE" smtClean="0"/>
              <a:t>2 March 2026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57DE2-DEBB-B17B-3186-6B7F239D4C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70858" y="764010"/>
            <a:ext cx="4921049" cy="302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6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36AE-C30A-53BD-4925-C496BE6C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265C0-0ACE-3E63-95B9-D176766F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1563B-497A-31DF-3662-C17ACF7D3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70AD6-AAEF-8A4F-2919-ED9A3F9B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9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2AFB-F4C4-719F-41DE-8454632EB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835495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AA946-8443-8B80-0497-6EB6FAAD0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71E3E-2DD5-AE03-E092-6934E2C4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E6B2A-3B08-3B49-5EC6-5F1CF60C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0CB63-89BA-5DA1-ABAC-95F64446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C219-68C6-906B-6B38-F56C88CEA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5E0A4-A8B0-2CA7-E857-19478981F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4EDF8-107F-48D4-9168-40854449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97297-368B-D76D-B573-F2EA9B4F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0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21E6-E145-FB62-1B42-F05F62D34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FA92D5-85D4-798F-6073-C1BBC39E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41B856-F9DF-6501-6837-20D15C2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62E2-EFD1-BADE-5ADC-CDA692DD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105-7039-1C6D-7FC1-89C7ACEFE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8348602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C9D1A-B681-480B-51E4-53A881918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7439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433CFB9-3CD0-7249-3875-4CDCC3265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604C136-FB56-3E5C-714E-C7C451450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619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C7DCCB-0C89-D983-30F6-838DCED371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6117" y="656799"/>
            <a:ext cx="11071312" cy="6201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A480F3-BC76-00B6-24D5-C07DB00D84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9" y="251012"/>
            <a:ext cx="12188821" cy="685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57DC5C-07B9-1D3E-E60F-4C4449E40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138B3-4A13-4988-0617-30422C752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rgbClr val="00959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013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423E0-7FF4-AD5A-A90B-2A9E4134C1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88573" y="1468037"/>
            <a:ext cx="9622971" cy="53899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33A7B-C77A-0333-901F-1F517FC12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BAE34A2-289C-9C29-7331-CFD9F1AE7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5389" y="1060256"/>
            <a:ext cx="6336026" cy="3668564"/>
          </a:xfrm>
        </p:spPr>
        <p:txBody>
          <a:bodyPr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6023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3AF83-0BF7-A60C-4A44-19E2F2E693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1EDF9A-651F-B739-1AB7-A48B486A7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CF6DE-8B56-DE5B-F6B0-A0EE9AD2A0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BF33DA-678F-95D7-7567-B9ECDE86A3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351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40C0-73B3-BCF7-0724-038E70BF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6D448-5D41-D2C8-31F6-3E241806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8348602" cy="41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23E6A-37C4-5F0F-726D-1ACD6A231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18356"/>
            <a:ext cx="29759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0BB7-8BAA-0B2D-4F0A-22069252A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096" y="6118356"/>
            <a:ext cx="19217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62" r:id="rId9"/>
    <p:sldLayoutId id="2147483664" r:id="rId10"/>
    <p:sldLayoutId id="2147483665" r:id="rId11"/>
    <p:sldLayoutId id="2147483666" r:id="rId12"/>
    <p:sldLayoutId id="214748366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959F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E127A-D7C1-984F-9005-D54B2E23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Class 9: </a:t>
            </a:r>
            <a:r>
              <a:rPr lang="en-US" sz="4800" dirty="0" err="1">
                <a:solidFill>
                  <a:srgbClr val="FFFFFF"/>
                </a:solidFill>
              </a:rPr>
              <a:t>Spatio</a:t>
            </a:r>
            <a:r>
              <a:rPr lang="en-US" sz="4800" dirty="0">
                <a:solidFill>
                  <a:srgbClr val="FFFFFF"/>
                </a:solidFill>
              </a:rPr>
              <a:t>-temporal transformers for sparse environmental 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824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B44C1-ED47-F757-A52F-CBDCFCCE5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C2D2A-5689-067A-2DB9-A2B188716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20396" cy="4149290"/>
          </a:xfrm>
        </p:spPr>
        <p:txBody>
          <a:bodyPr>
            <a:normAutofit/>
          </a:bodyPr>
          <a:lstStyle/>
          <a:p>
            <a:r>
              <a:rPr lang="en-US" dirty="0" err="1"/>
              <a:t>Summarising</a:t>
            </a:r>
            <a:r>
              <a:rPr lang="en-US" dirty="0"/>
              <a:t> this paper</a:t>
            </a:r>
          </a:p>
          <a:p>
            <a:r>
              <a:rPr lang="en-US" dirty="0"/>
              <a:t>A holy grail of current weather forecasting: direct observation prediction</a:t>
            </a:r>
          </a:p>
          <a:p>
            <a:r>
              <a:rPr lang="en-US" dirty="0"/>
              <a:t>The SERT method is one potential way of achieving this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9332C5-20CA-D18C-E3CC-5D07F2D5B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E2472D-7F62-A3A0-C534-3E69D8E1A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9529" y="1825625"/>
            <a:ext cx="6154217" cy="3639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142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9B702-3EAA-CD12-2695-6E8DCECB1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37523-DE30-E5A8-5DA1-B9DD82EA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Sparse and misaligned data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235C07-5D36-8A33-93DB-6A058AE7A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3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735710-2809-DE53-B532-1012F5F1B01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386"/>
          <a:stretch>
            <a:fillRect/>
          </a:stretch>
        </p:blipFill>
        <p:spPr bwMode="auto">
          <a:xfrm>
            <a:off x="598315" y="1469083"/>
            <a:ext cx="8148870" cy="479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9983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0D32A-D4CE-F4F7-C06C-7DCE02D2E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B48E1-5B59-17E1-DF54-7B3AA2EC6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it sparse and misaligned?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F4807-1355-BC9D-AEAF-B2A787414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7029091" cy="414929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Multivariate misalignment: sensors fail independently (e.g. pH still working while turbidity is down)</a:t>
            </a:r>
          </a:p>
          <a:p>
            <a:r>
              <a:rPr lang="en-US" dirty="0"/>
              <a:t>Asynchronous arrival: time stamps of sensors not perfectly calibrated</a:t>
            </a:r>
          </a:p>
          <a:p>
            <a:r>
              <a:rPr lang="en-US" dirty="0"/>
              <a:t>Block missingness: biofouling or battery death cause longer gaps</a:t>
            </a:r>
          </a:p>
          <a:p>
            <a:r>
              <a:rPr lang="en-US" dirty="0"/>
              <a:t>Even worse: variables of interest cause the missingness to occur leading to potential prediction bias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70DA7-1F4B-97B3-9A7B-F11A60768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49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1119C-1001-F683-FBB2-DABAA9BED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just impute?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330A2A-72CC-3E36-A7E0-39BC81B2D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8877"/>
            <a:ext cx="8348602" cy="4149290"/>
          </a:xfrm>
        </p:spPr>
        <p:txBody>
          <a:bodyPr>
            <a:normAutofit/>
          </a:bodyPr>
          <a:lstStyle/>
          <a:p>
            <a:r>
              <a:rPr lang="en-IE" dirty="0"/>
              <a:t>Lots of methods to fill in missing data (AKA imputation)</a:t>
            </a:r>
          </a:p>
          <a:p>
            <a:pPr lvl="1"/>
            <a:r>
              <a:rPr lang="en-IE" dirty="0"/>
              <a:t>Very simple versions (e.g. mean imputation)</a:t>
            </a:r>
          </a:p>
          <a:p>
            <a:pPr lvl="1"/>
            <a:r>
              <a:rPr lang="en-IE" dirty="0"/>
              <a:t>Multiple Imputation</a:t>
            </a:r>
          </a:p>
          <a:p>
            <a:pPr lvl="1"/>
            <a:r>
              <a:rPr lang="en-IE" dirty="0"/>
              <a:t>ML-based imputation (e.g. </a:t>
            </a:r>
            <a:r>
              <a:rPr lang="en-IE" dirty="0" err="1"/>
              <a:t>missForest</a:t>
            </a:r>
            <a:r>
              <a:rPr lang="en-IE" dirty="0"/>
              <a:t>)</a:t>
            </a:r>
          </a:p>
          <a:p>
            <a:pPr lvl="1"/>
            <a:r>
              <a:rPr lang="en-IE" dirty="0"/>
              <a:t>Model-based imputation</a:t>
            </a:r>
          </a:p>
          <a:p>
            <a:pPr lvl="1"/>
            <a:endParaRPr lang="en-IE" dirty="0"/>
          </a:p>
          <a:p>
            <a:r>
              <a:rPr lang="en-IE" dirty="0"/>
              <a:t>But: these all introduce ‘fake’ data and take up extra time</a:t>
            </a:r>
          </a:p>
          <a:p>
            <a:pPr lvl="1"/>
            <a:endParaRPr lang="en-IE" dirty="0"/>
          </a:p>
          <a:p>
            <a:pPr lvl="1"/>
            <a:endParaRPr lang="en-IE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94E0E-AF2E-39E3-D827-A759CEF9D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041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AD530-E3EB-D22C-20CB-0C4E041FA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key idea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20EC7F6-D964-FA48-F15F-F53E46B760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" y="1354752"/>
            <a:ext cx="9434099" cy="416615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221AA2-687A-B358-C904-A4B2AD8F9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AFAED0-30B1-62C1-C797-D51A8336D881}"/>
              </a:ext>
            </a:extLst>
          </p:cNvPr>
          <p:cNvSpPr txBox="1"/>
          <p:nvPr/>
        </p:nvSpPr>
        <p:spPr>
          <a:xfrm>
            <a:off x="426005" y="5931586"/>
            <a:ext cx="6839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dirty="0"/>
              <a:t>From Tipirneni and Reddy (2022), ACM Trans. </a:t>
            </a:r>
            <a:r>
              <a:rPr lang="en-IE" dirty="0" err="1"/>
              <a:t>Knowl</a:t>
            </a:r>
            <a:r>
              <a:rPr lang="en-IE" dirty="0"/>
              <a:t>. </a:t>
            </a:r>
            <a:r>
              <a:rPr lang="en-IE" dirty="0" err="1"/>
              <a:t>Discov</a:t>
            </a:r>
            <a:r>
              <a:rPr lang="en-IE" dirty="0"/>
              <a:t>. Data</a:t>
            </a:r>
          </a:p>
        </p:txBody>
      </p:sp>
    </p:spTree>
    <p:extLst>
      <p:ext uri="{BB962C8B-B14F-4D97-AF65-F5344CB8AC3E}">
        <p14:creationId xmlns:p14="http://schemas.microsoft.com/office/powerpoint/2010/main" val="75422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249CB-D822-A891-B207-29B8B147D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D809-EE0C-0FA8-1A33-BA264A9A6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key idea (part 2)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35534A-4571-F7A4-877C-13174A0C0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2A0396-1AF5-4559-6003-CFA3E17ED69B}"/>
              </a:ext>
            </a:extLst>
          </p:cNvPr>
          <p:cNvSpPr txBox="1"/>
          <p:nvPr/>
        </p:nvSpPr>
        <p:spPr>
          <a:xfrm>
            <a:off x="426005" y="5931586"/>
            <a:ext cx="6839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dirty="0"/>
              <a:t>From Tipirneni and Reddy (2022), ACM Trans. </a:t>
            </a:r>
            <a:r>
              <a:rPr lang="en-IE" dirty="0" err="1"/>
              <a:t>Knowl</a:t>
            </a:r>
            <a:r>
              <a:rPr lang="en-IE" dirty="0"/>
              <a:t>. </a:t>
            </a:r>
            <a:r>
              <a:rPr lang="en-IE" dirty="0" err="1"/>
              <a:t>Discov</a:t>
            </a:r>
            <a:r>
              <a:rPr lang="en-IE" dirty="0"/>
              <a:t>. Data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E8177B-855A-4D73-0C2F-053AEBCDDB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4932"/>
          <a:stretch>
            <a:fillRect/>
          </a:stretch>
        </p:blipFill>
        <p:spPr>
          <a:xfrm>
            <a:off x="592505" y="1354137"/>
            <a:ext cx="6064773" cy="4581729"/>
          </a:xfrm>
          <a:prstGeom prst="rect">
            <a:avLst/>
          </a:prstGeom>
        </p:spPr>
      </p:pic>
      <p:pic>
        <p:nvPicPr>
          <p:cNvPr id="3" name="Content Placeholder 6">
            <a:extLst>
              <a:ext uri="{FF2B5EF4-FFF2-40B4-BE49-F238E27FC236}">
                <a16:creationId xmlns:a16="http://schemas.microsoft.com/office/drawing/2014/main" id="{EBAB7F2D-3271-510D-4F8C-2AAD8C28A9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5826"/>
          <a:stretch>
            <a:fillRect/>
          </a:stretch>
        </p:blipFill>
        <p:spPr>
          <a:xfrm>
            <a:off x="6407899" y="1354137"/>
            <a:ext cx="4945901" cy="62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467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E9A0E-8AF9-16F8-B600-73E29EDCC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grids to sets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AED608B-1F82-8D2B-93B1-361778BFBE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6756" y="1416658"/>
            <a:ext cx="9945029" cy="450948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3F3AD-DAD2-3C07-BE32-38A1B31BA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212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85E74-38E3-DA98-FCB1-37012332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90B25-8EAD-CD2C-391F-626EEB205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A634B-6624-5F29-29D5-ED89BD55D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59351" cy="4149290"/>
          </a:xfrm>
        </p:spPr>
        <p:txBody>
          <a:bodyPr>
            <a:normAutofit/>
          </a:bodyPr>
          <a:lstStyle/>
          <a:p>
            <a:r>
              <a:rPr lang="en-IE" dirty="0"/>
              <a:t>Each of the variables, time stamps, and values get embedded individually</a:t>
            </a:r>
          </a:p>
          <a:p>
            <a:r>
              <a:rPr lang="en-IE" dirty="0"/>
              <a:t>Then all the embedding values get added together</a:t>
            </a:r>
          </a:p>
          <a:p>
            <a:r>
              <a:rPr lang="en-IE" dirty="0"/>
              <a:t>(Should do some pre-training to get the best values of these)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EFB21-BA39-8E44-6C59-DA0EF0789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D5C3BD-9376-F0EB-66F6-B955296C2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566" y="1204912"/>
            <a:ext cx="4924765" cy="444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508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C816B-2527-F6A8-21A7-A265E2D32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overall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4A058-E819-12E2-2CBD-9E04D85BE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10</a:t>
            </a:fld>
            <a:endParaRPr 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960C520-6224-8D84-E6EF-CB4B71BC07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1836" y="1365787"/>
            <a:ext cx="10928328" cy="323369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7D9F89E-55A7-7AB6-18FB-63C4ECFE922B}"/>
              </a:ext>
            </a:extLst>
          </p:cNvPr>
          <p:cNvSpPr txBox="1">
            <a:spLocks/>
          </p:cNvSpPr>
          <p:nvPr/>
        </p:nvSpPr>
        <p:spPr>
          <a:xfrm>
            <a:off x="838200" y="4599480"/>
            <a:ext cx="8216590" cy="15188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00427A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00427A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00427A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427A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427A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dirty="0"/>
              <a:t>Where to put location?</a:t>
            </a:r>
          </a:p>
          <a:p>
            <a:pPr lvl="1"/>
            <a:r>
              <a:rPr lang="en-IE" dirty="0"/>
              <a:t>Could add a 4</a:t>
            </a:r>
            <a:r>
              <a:rPr lang="en-IE" baseline="30000" dirty="0"/>
              <a:t>th</a:t>
            </a:r>
            <a:r>
              <a:rPr lang="en-IE" dirty="0"/>
              <a:t> embedding</a:t>
            </a:r>
          </a:p>
          <a:p>
            <a:pPr lvl="1"/>
            <a:r>
              <a:rPr lang="en-IE" dirty="0"/>
              <a:t>Or add later into the linear layer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525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BA94B-8035-EE5C-006C-797736F4D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6A069-9465-F9A3-7FB4-7EB8B5145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in location in the linear layer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C77EF-C7D1-9AF7-7AAE-D3617A4CA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11</a:t>
            </a:fld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AE8DB31-3FD3-FDF6-0C25-406E3ABE14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6593" y="1590327"/>
            <a:ext cx="7649914" cy="4036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242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7B26D-4251-E47A-9FF0-ACB606531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E61AD-2DFA-EEDC-918F-4ADB7CC7B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strategy: masked loss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3E23B-DC2F-F6BA-5191-F309F55BD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12</a:t>
            </a:fld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D0E4076-3535-5573-7EA3-5DDB6391E6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4454" y="1516144"/>
            <a:ext cx="10730624" cy="44093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15591853-171F-EF04-C615-E423749065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12259" y="1690688"/>
                <a:ext cx="4953000" cy="16033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lIns="91440" tIns="45720" rIns="91440" bIns="45720" rtlCol="0">
                <a:normAutofit fontScale="6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IE" dirty="0"/>
                  <a:t>: binary mask (1 = observed, 0 = missing)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IE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E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IE" dirty="0"/>
                  <a:t> Predicted value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IE" dirty="0"/>
                  <a:t>: Ground truth</a:t>
                </a:r>
              </a:p>
              <a:p>
                <a:r>
                  <a:rPr lang="en-IE" dirty="0"/>
                  <a:t>Idea: if target is missing, remove it from the learning)</a:t>
                </a:r>
                <a:endParaRPr lang="en-US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15591853-171F-EF04-C615-E42374906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2259" y="1690688"/>
                <a:ext cx="4953000" cy="1603375"/>
              </a:xfrm>
              <a:prstGeom prst="rect">
                <a:avLst/>
              </a:prstGeom>
              <a:blipFill>
                <a:blip r:embed="rId3"/>
                <a:stretch>
                  <a:fillRect l="-767"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79510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0AB02-E933-069E-1E5F-56DD5A7B1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Pre-training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89B1A-C75F-A887-ECD0-26341CD34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Can obtain superior performance by pre-training the individual components (time, feature, location, value)</a:t>
            </a:r>
          </a:p>
          <a:p>
            <a:r>
              <a:rPr lang="en-US" dirty="0"/>
              <a:t>For example, for the feature vector:</a:t>
            </a:r>
          </a:p>
          <a:p>
            <a:pPr lvl="1"/>
            <a:r>
              <a:rPr lang="en-IE" dirty="0"/>
              <a:t>If two variables (e.g., wind speed and wave height) frequently appear together in the same measurement ‘packets’ they should have related embeddings</a:t>
            </a:r>
            <a:endParaRPr lang="en-US" dirty="0"/>
          </a:p>
          <a:p>
            <a:pPr lvl="1"/>
            <a:r>
              <a:rPr lang="en-US" dirty="0"/>
              <a:t>Give each feature a number (1 = salinity, 2 = temperature,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Either use an existing embedding data set (e.g. word2vec)</a:t>
            </a:r>
          </a:p>
          <a:p>
            <a:pPr lvl="1"/>
            <a:r>
              <a:rPr lang="en-US" dirty="0"/>
              <a:t>Or use the existing data set and set up a model that takes pairs of variable names and an output as to whether they co-occur or not</a:t>
            </a:r>
          </a:p>
          <a:p>
            <a:pPr lvl="1"/>
            <a:r>
              <a:rPr lang="en-US" dirty="0"/>
              <a:t>One of the hidden layers in the model can then determine the embedding values (and you can choose the dimension of these)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C9B7C-3634-0AF2-2B3E-797B9DE7B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607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A3552-40FE-6E86-1979-05664B57FE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24956F-6FEA-B43D-ABE8-1C7D5B594D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436F47-EE2E-A013-CDC3-95C2705E220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14</a:t>
            </a:fld>
            <a:endParaRPr lang="en-US"/>
          </a:p>
        </p:txBody>
      </p:sp>
      <p:pic>
        <p:nvPicPr>
          <p:cNvPr id="6" name="slide.url=https://www.polleverywhere.com/multiple_choice_polls/JdsPEwhx0fnjgqyktqp36?state=opened&amp;flow=Default&amp;onscreen=persist">
            <a:extLst>
              <a:ext uri="{FF2B5EF4-FFF2-40B4-BE49-F238E27FC236}">
                <a16:creationId xmlns:a16="http://schemas.microsoft.com/office/drawing/2014/main" id="{B58D7F0A-DE07-4E2B-1E97-6C45DE8D984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274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668F7-2495-E453-9A94-77F54A662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SERT by hand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30606-4FC4-30F8-4138-E5D707942A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9749"/>
                </a:solidFill>
              </a:rPr>
              <a:t>Go through an example on the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06AEFD-E042-0DBE-FC1C-9D9CB6AF7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246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279D0-EFE9-BFE2-15AC-720769103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7FA25-6ED2-14C2-5881-AADF6667C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Synthetic data performance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9005996-217F-275D-CFC2-3A07CBAC88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85861" y="1825625"/>
            <a:ext cx="8253341" cy="41497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8C257-24AC-F283-E58D-3F272E603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996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23414-CD6D-B9C0-F0AE-E05535684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data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EE74DCC-469E-3A46-7E20-5B4BCBE29C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56308" y="1565623"/>
            <a:ext cx="5344163" cy="429183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7C237-BB30-B7B4-444C-C38224291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17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13B7262C-5961-2CE1-EF8C-E8E158AA8E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386"/>
          <a:stretch>
            <a:fillRect/>
          </a:stretch>
        </p:blipFill>
        <p:spPr bwMode="auto">
          <a:xfrm>
            <a:off x="0" y="1904910"/>
            <a:ext cx="6347622" cy="3732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61275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03B01-7986-2B51-A156-A209258DE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A7D0F-608B-F9E9-7A31-BC5BF6EA1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data performance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E24E94-7246-757D-1AF9-1838F43F5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18</a:t>
            </a:fld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FAF4BDC-3757-0989-68EE-475DAB1151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3730" y="1690688"/>
            <a:ext cx="8348663" cy="306814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B861A31-C9D1-53BC-353F-CA6CF90DED74}"/>
              </a:ext>
            </a:extLst>
          </p:cNvPr>
          <p:cNvSpPr txBox="1">
            <a:spLocks/>
          </p:cNvSpPr>
          <p:nvPr/>
        </p:nvSpPr>
        <p:spPr>
          <a:xfrm>
            <a:off x="838200" y="5287617"/>
            <a:ext cx="8348602" cy="687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00427A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00427A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00427A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427A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427A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Naïve = persistence forecast</a:t>
            </a:r>
          </a:p>
        </p:txBody>
      </p:sp>
    </p:spTree>
    <p:extLst>
      <p:ext uri="{BB962C8B-B14F-4D97-AF65-F5344CB8AC3E}">
        <p14:creationId xmlns:p14="http://schemas.microsoft.com/office/powerpoint/2010/main" val="12167391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A421-1906-F2FE-C280-C795E4F7F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8207D-999B-C8C1-DD4B-8B5E15A90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‘light’ version of the model – SST-ANN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9AFF46C-BF66-15BF-21F2-967234B38B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Version with transformer is too complicated to enable easy interpretation</a:t>
            </a:r>
          </a:p>
          <a:p>
            <a:r>
              <a:rPr lang="en-US" dirty="0"/>
              <a:t>Skip that part out and replace with a simple ANN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891C7A-E31B-E68C-4C04-91BF2BF1C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19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0993444-5193-6582-4C79-5E86104E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770" y="3320827"/>
            <a:ext cx="6596270" cy="2980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064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5E26B-47DF-78CA-5058-77CCEC5B4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Intepretability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0CBFF-A957-7CCE-76ED-F4789C336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514385" cy="41492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Can now look at opening the black box</a:t>
            </a:r>
          </a:p>
          <a:p>
            <a:r>
              <a:rPr lang="en-US" dirty="0"/>
              <a:t>The average contribution score 𝑐 gives importance of the predictor variable to the prediction of the target variable. </a:t>
            </a:r>
          </a:p>
          <a:p>
            <a:r>
              <a:rPr lang="en-US" dirty="0"/>
              <a:t>Temperature followed by precipitation are the most important variables in predicting the target variables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F60FB-7C57-9DFA-56E9-8A9C3BD2E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B88CA5-FC33-5C7C-2B9A-6F78DCE155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372"/>
          <a:stretch>
            <a:fillRect/>
          </a:stretch>
        </p:blipFill>
        <p:spPr>
          <a:xfrm>
            <a:off x="5729998" y="628527"/>
            <a:ext cx="5839150" cy="5489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3109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C1767-1DB0-5C8C-26EC-70D43AC24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D98B81C-98D3-006E-DC70-1D36C8B6CD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4002" y="2018953"/>
            <a:ext cx="10946941" cy="295061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61508-1C50-2F15-B5C6-C837FF5D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8667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2D1C9-50D4-C6CE-8F38-14FFC57B2C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62C894-381E-A941-3466-4F9B5BDC04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6BFFE-074B-9BED-D6E9-ECD8A6FDD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22</a:t>
            </a:fld>
            <a:endParaRPr lang="en-US"/>
          </a:p>
        </p:txBody>
      </p:sp>
      <p:pic>
        <p:nvPicPr>
          <p:cNvPr id="6" name="slide.url=https://www.polleverywhere.com/multiple_choice_polls/Zk8lBVm5EnEXxM7yXpRHw?state=opened&amp;flow=Default&amp;onscreen=persist">
            <a:extLst>
              <a:ext uri="{FF2B5EF4-FFF2-40B4-BE49-F238E27FC236}">
                <a16:creationId xmlns:a16="http://schemas.microsoft.com/office/drawing/2014/main" id="{F1335AF0-D303-1BF6-48B8-E139CD9DC95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2579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E3C7-E02A-F443-93FF-99B0D128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1495C-38DD-F9F0-478E-D16C6E4C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SERT is a potential way to get to direct observation prediction for weather/environmental/climate data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It fundamentally changes the way we treat the data, instead seeing is as triples or quadruples representing time, space, feature and value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The transformer architecture (or any architecture)</a:t>
            </a:r>
          </a:p>
        </p:txBody>
      </p:sp>
    </p:spTree>
    <p:extLst>
      <p:ext uri="{BB962C8B-B14F-4D97-AF65-F5344CB8AC3E}">
        <p14:creationId xmlns:p14="http://schemas.microsoft.com/office/powerpoint/2010/main" val="29023752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2E10E-525F-42F7-F943-C6C1FF1B7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Relevant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CE5A4-43C6-FD2C-8481-C5B76C090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306351"/>
            <a:ext cx="9331713" cy="2064927"/>
          </a:xfrm>
          <a:solidFill>
            <a:srgbClr val="009749">
              <a:alpha val="49379"/>
            </a:srgbClr>
          </a:solidFill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Super_simple_probabilistic_ANN.ipynb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Irish_ERA5_Probabilistic_Forecasting.ipynb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https://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github.com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Aminsn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/SERT2023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https://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github.com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Aminsn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1413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D8B16-F77C-4502-E883-947833A5B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12BE41-29B7-DB52-F8D4-2A9E21327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Afternoon session instructions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C75756-92C0-C376-0050-04C81344C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5257800" cy="3668564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Either</a:t>
            </a:r>
          </a:p>
          <a:p>
            <a:pPr marL="1200150" lvl="1" indent="-514350">
              <a:buFont typeface="+mj-lt"/>
              <a:buAutoNum type="arabicPeriod"/>
            </a:pPr>
            <a:r>
              <a:rPr lang="en-US" dirty="0">
                <a:solidFill>
                  <a:srgbClr val="00959F"/>
                </a:solidFill>
              </a:rPr>
              <a:t>Go and install the SERT package and run some of the example scripts</a:t>
            </a:r>
          </a:p>
          <a:p>
            <a:pPr marL="1200150" lvl="1" indent="-514350">
              <a:buFont typeface="+mj-lt"/>
              <a:buAutoNum type="arabicPeriod"/>
            </a:pPr>
            <a:r>
              <a:rPr lang="en-US" dirty="0">
                <a:solidFill>
                  <a:srgbClr val="00959F"/>
                </a:solidFill>
              </a:rPr>
              <a:t>Run some of the probabilistic forecasting routines and check you understand how they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Find some (new) data and run it through your chosen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Present your file in 5 minutes</a:t>
            </a:r>
          </a:p>
        </p:txBody>
      </p:sp>
    </p:spTree>
    <p:extLst>
      <p:ext uri="{BB962C8B-B14F-4D97-AF65-F5344CB8AC3E}">
        <p14:creationId xmlns:p14="http://schemas.microsoft.com/office/powerpoint/2010/main" val="4204619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msir_template_2" id="{885FC850-5704-7C40-B0D5-B2BE1CAB90DE}" vid="{17F42F5C-6F7C-FD4F-918A-67665F080F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8595</TotalTime>
  <Words>878</Words>
  <Application>Microsoft Macintosh PowerPoint</Application>
  <PresentationFormat>Widescreen</PresentationFormat>
  <Paragraphs>103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Arial</vt:lpstr>
      <vt:lpstr>Calibri</vt:lpstr>
      <vt:lpstr>Cambria Math</vt:lpstr>
      <vt:lpstr>Courier New</vt:lpstr>
      <vt:lpstr>Office Theme</vt:lpstr>
      <vt:lpstr>Class 9: Spatio-temporal transformers for sparse environmental data</vt:lpstr>
      <vt:lpstr>Outline</vt:lpstr>
      <vt:lpstr>Sparse and misaligned data</vt:lpstr>
      <vt:lpstr>Why is it sparse and misaligned?</vt:lpstr>
      <vt:lpstr>Why not just impute?</vt:lpstr>
      <vt:lpstr>The key idea</vt:lpstr>
      <vt:lpstr>The key idea (part 2)</vt:lpstr>
      <vt:lpstr>From grids to sets</vt:lpstr>
      <vt:lpstr>Encodings</vt:lpstr>
      <vt:lpstr>The overall model</vt:lpstr>
      <vt:lpstr>Adding in location in the linear layer</vt:lpstr>
      <vt:lpstr>Training strategy: masked loss</vt:lpstr>
      <vt:lpstr>Pre-training </vt:lpstr>
      <vt:lpstr>PowerPoint Presentation</vt:lpstr>
      <vt:lpstr>SERT by hand</vt:lpstr>
      <vt:lpstr>Synthetic data performance</vt:lpstr>
      <vt:lpstr>Real data</vt:lpstr>
      <vt:lpstr>Real data performance</vt:lpstr>
      <vt:lpstr>A ‘light’ version of the model – SST-ANN</vt:lpstr>
      <vt:lpstr>Intepretability</vt:lpstr>
      <vt:lpstr>Computation</vt:lpstr>
      <vt:lpstr>PowerPoint Presentation</vt:lpstr>
      <vt:lpstr>Summary</vt:lpstr>
      <vt:lpstr>Relevant code</vt:lpstr>
      <vt:lpstr>Afternoon session instructions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110</cp:revision>
  <dcterms:created xsi:type="dcterms:W3CDTF">2025-09-24T09:34:21Z</dcterms:created>
  <dcterms:modified xsi:type="dcterms:W3CDTF">2026-03-02T07:30:17Z</dcterms:modified>
</cp:coreProperties>
</file>