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charts/chart1.xml" ContentType="application/vnd.openxmlformats-officedocument.drawingml.chart+xml"/>
  <Override PartName="/ppt/notesSlides/notesSlide1.xml" ContentType="application/vnd.openxmlformats-officedocument.presentationml.notesSlide+xml"/>
  <Override PartName="/ppt/charts/chart2.xml" ContentType="application/vnd.openxmlformats-officedocument.drawingml.chart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charts/chart3.xml" ContentType="application/vnd.openxmlformats-officedocument.drawingml.char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26"/>
  </p:notesMasterIdLst>
  <p:sldIdLst>
    <p:sldId id="256" r:id="rId2"/>
    <p:sldId id="363" r:id="rId3"/>
    <p:sldId id="366" r:id="rId4"/>
    <p:sldId id="367" r:id="rId5"/>
    <p:sldId id="372" r:id="rId6"/>
    <p:sldId id="368" r:id="rId7"/>
    <p:sldId id="394" r:id="rId8"/>
    <p:sldId id="369" r:id="rId9"/>
    <p:sldId id="370" r:id="rId10"/>
    <p:sldId id="396" r:id="rId11"/>
    <p:sldId id="374" r:id="rId12"/>
    <p:sldId id="388" r:id="rId13"/>
    <p:sldId id="389" r:id="rId14"/>
    <p:sldId id="375" r:id="rId15"/>
    <p:sldId id="378" r:id="rId16"/>
    <p:sldId id="379" r:id="rId17"/>
    <p:sldId id="390" r:id="rId18"/>
    <p:sldId id="397" r:id="rId19"/>
    <p:sldId id="391" r:id="rId20"/>
    <p:sldId id="382" r:id="rId21"/>
    <p:sldId id="380" r:id="rId22"/>
    <p:sldId id="384" r:id="rId23"/>
    <p:sldId id="285" r:id="rId24"/>
    <p:sldId id="392" r:id="rId2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427A"/>
    <a:srgbClr val="009749"/>
    <a:srgbClr val="00959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7210" autoAdjust="0"/>
    <p:restoredTop sz="94771"/>
  </p:normalViewPr>
  <p:slideViewPr>
    <p:cSldViewPr snapToGrid="0">
      <p:cViewPr varScale="1">
        <p:scale>
          <a:sx n="115" d="100"/>
          <a:sy n="115" d="100"/>
        </p:scale>
        <p:origin x="1200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Distribution</c:v>
                </c:pt>
              </c:strCache>
            </c:strRef>
          </c:tx>
          <c:spPr>
            <a:ln w="25400" cap="flat">
              <a:solidFill>
                <a:srgbClr val="3C6E71"/>
              </a:solidFill>
              <a:prstDash val="solid"/>
              <a:round/>
            </a:ln>
            <a:effectLst/>
          </c:spPr>
          <c:marker>
            <c:symbol val="circle"/>
            <c:size val="3"/>
            <c:spPr>
              <a:solidFill>
                <a:srgbClr val="3C6E71"/>
              </a:solidFill>
              <a:ln w="9525" cap="flat">
                <a:solidFill>
                  <a:srgbClr val="3C6E71"/>
                </a:solidFill>
                <a:prstDash val="solid"/>
                <a:round/>
              </a:ln>
              <a:effectLst/>
            </c:spPr>
          </c:marker>
          <c:cat>
            <c:strRef>
              <c:f>Sheet1!$A$2:$A$42</c:f>
              <c:strCache>
                <c:ptCount val="41"/>
                <c:pt idx="0">
                  <c:v>-3.00</c:v>
                </c:pt>
                <c:pt idx="1">
                  <c:v>-2.85</c:v>
                </c:pt>
                <c:pt idx="2">
                  <c:v>-2.70</c:v>
                </c:pt>
                <c:pt idx="3">
                  <c:v>-2.55</c:v>
                </c:pt>
                <c:pt idx="4">
                  <c:v>-2.40</c:v>
                </c:pt>
                <c:pt idx="5">
                  <c:v>-2.25</c:v>
                </c:pt>
                <c:pt idx="6">
                  <c:v>-2.10</c:v>
                </c:pt>
                <c:pt idx="7">
                  <c:v>-1.95</c:v>
                </c:pt>
                <c:pt idx="8">
                  <c:v>-1.80</c:v>
                </c:pt>
                <c:pt idx="9">
                  <c:v>-1.65</c:v>
                </c:pt>
                <c:pt idx="10">
                  <c:v>-1.50</c:v>
                </c:pt>
                <c:pt idx="11">
                  <c:v>-1.35</c:v>
                </c:pt>
                <c:pt idx="12">
                  <c:v>-1.20</c:v>
                </c:pt>
                <c:pt idx="13">
                  <c:v>-1.05</c:v>
                </c:pt>
                <c:pt idx="14">
                  <c:v>-0.90</c:v>
                </c:pt>
                <c:pt idx="15">
                  <c:v>-0.75</c:v>
                </c:pt>
                <c:pt idx="16">
                  <c:v>-0.60</c:v>
                </c:pt>
                <c:pt idx="17">
                  <c:v>-0.45</c:v>
                </c:pt>
                <c:pt idx="18">
                  <c:v>-0.30</c:v>
                </c:pt>
                <c:pt idx="19">
                  <c:v>-0.15</c:v>
                </c:pt>
                <c:pt idx="20">
                  <c:v>0.00</c:v>
                </c:pt>
                <c:pt idx="21">
                  <c:v>0.15</c:v>
                </c:pt>
                <c:pt idx="22">
                  <c:v>0.30</c:v>
                </c:pt>
                <c:pt idx="23">
                  <c:v>0.45</c:v>
                </c:pt>
                <c:pt idx="24">
                  <c:v>0.60</c:v>
                </c:pt>
                <c:pt idx="25">
                  <c:v>0.75</c:v>
                </c:pt>
                <c:pt idx="26">
                  <c:v>0.90</c:v>
                </c:pt>
                <c:pt idx="27">
                  <c:v>1.05</c:v>
                </c:pt>
                <c:pt idx="28">
                  <c:v>1.20</c:v>
                </c:pt>
                <c:pt idx="29">
                  <c:v>1.35</c:v>
                </c:pt>
                <c:pt idx="30">
                  <c:v>1.50</c:v>
                </c:pt>
                <c:pt idx="31">
                  <c:v>1.65</c:v>
                </c:pt>
                <c:pt idx="32">
                  <c:v>1.80</c:v>
                </c:pt>
                <c:pt idx="33">
                  <c:v>1.95</c:v>
                </c:pt>
                <c:pt idx="34">
                  <c:v>2.10</c:v>
                </c:pt>
                <c:pt idx="35">
                  <c:v>2.25</c:v>
                </c:pt>
                <c:pt idx="36">
                  <c:v>2.40</c:v>
                </c:pt>
                <c:pt idx="37">
                  <c:v>2.55</c:v>
                </c:pt>
                <c:pt idx="38">
                  <c:v>2.70</c:v>
                </c:pt>
                <c:pt idx="39">
                  <c:v>2.85</c:v>
                </c:pt>
                <c:pt idx="40">
                  <c:v>3.00</c:v>
                </c:pt>
              </c:strCache>
            </c:strRef>
          </c:cat>
          <c:val>
            <c:numRef>
              <c:f>Sheet1!$B$2:$B$42</c:f>
              <c:numCache>
                <c:formatCode>General</c:formatCode>
                <c:ptCount val="41"/>
                <c:pt idx="0">
                  <c:v>1.1108996538242306E-2</c:v>
                </c:pt>
                <c:pt idx="1">
                  <c:v>1.7227471311635108E-2</c:v>
                </c:pt>
                <c:pt idx="2">
                  <c:v>2.6121409853918223E-2</c:v>
                </c:pt>
                <c:pt idx="3">
                  <c:v>3.8725770351664364E-2</c:v>
                </c:pt>
                <c:pt idx="4">
                  <c:v>5.6134762834133725E-2</c:v>
                </c:pt>
                <c:pt idx="5">
                  <c:v>7.9559508718227687E-2</c:v>
                </c:pt>
                <c:pt idx="6">
                  <c:v>0.11025052530448522</c:v>
                </c:pt>
                <c:pt idx="7">
                  <c:v>0.14938177525041804</c:v>
                </c:pt>
                <c:pt idx="8">
                  <c:v>0.19789869908361465</c:v>
                </c:pt>
                <c:pt idx="9">
                  <c:v>0.25634015141507366</c:v>
                </c:pt>
                <c:pt idx="10">
                  <c:v>0.32465246735834974</c:v>
                </c:pt>
                <c:pt idx="11">
                  <c:v>0.40202138309465485</c:v>
                </c:pt>
                <c:pt idx="12">
                  <c:v>0.48675225595997168</c:v>
                </c:pt>
                <c:pt idx="13">
                  <c:v>0.57622907367179987</c:v>
                </c:pt>
                <c:pt idx="14">
                  <c:v>0.66697681085847438</c:v>
                </c:pt>
                <c:pt idx="15">
                  <c:v>0.75483960198900735</c:v>
                </c:pt>
                <c:pt idx="16">
                  <c:v>0.835270211411272</c:v>
                </c:pt>
                <c:pt idx="17">
                  <c:v>0.90370707787319604</c:v>
                </c:pt>
                <c:pt idx="18">
                  <c:v>0.95599748183309996</c:v>
                </c:pt>
                <c:pt idx="19">
                  <c:v>0.98881304461123309</c:v>
                </c:pt>
                <c:pt idx="20">
                  <c:v>1</c:v>
                </c:pt>
                <c:pt idx="21">
                  <c:v>0.98881304461123309</c:v>
                </c:pt>
                <c:pt idx="22">
                  <c:v>0.95599748183309996</c:v>
                </c:pt>
                <c:pt idx="23">
                  <c:v>0.90370707787319604</c:v>
                </c:pt>
                <c:pt idx="24">
                  <c:v>0.835270211411272</c:v>
                </c:pt>
                <c:pt idx="25">
                  <c:v>0.75483960198900735</c:v>
                </c:pt>
                <c:pt idx="26">
                  <c:v>0.66697681085847438</c:v>
                </c:pt>
                <c:pt idx="27">
                  <c:v>0.57622907367179987</c:v>
                </c:pt>
                <c:pt idx="28">
                  <c:v>0.48675225595997168</c:v>
                </c:pt>
                <c:pt idx="29">
                  <c:v>0.40202138309465485</c:v>
                </c:pt>
                <c:pt idx="30">
                  <c:v>0.32465246735834974</c:v>
                </c:pt>
                <c:pt idx="31">
                  <c:v>0.25634015141507366</c:v>
                </c:pt>
                <c:pt idx="32">
                  <c:v>0.19789869908361465</c:v>
                </c:pt>
                <c:pt idx="33">
                  <c:v>0.14938177525041804</c:v>
                </c:pt>
                <c:pt idx="34">
                  <c:v>0.11025052530448522</c:v>
                </c:pt>
                <c:pt idx="35">
                  <c:v>7.9559508718227687E-2</c:v>
                </c:pt>
                <c:pt idx="36">
                  <c:v>5.6134762834133725E-2</c:v>
                </c:pt>
                <c:pt idx="37">
                  <c:v>3.8725770351664364E-2</c:v>
                </c:pt>
                <c:pt idx="38">
                  <c:v>2.6121409853918223E-2</c:v>
                </c:pt>
                <c:pt idx="39">
                  <c:v>1.7227471311635108E-2</c:v>
                </c:pt>
                <c:pt idx="40">
                  <c:v>1.1108996538242306E-2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0-422A-1249-B83B-ECC53B6FD2D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"/>
          <c:min val="0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0.2"/>
      </c:valAx>
      <c:spPr>
        <a:solidFill>
          <a:schemeClr val="bg1"/>
        </a:solidFill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Predicted</c:v>
                </c:pt>
              </c:strCache>
            </c:strRef>
          </c:tx>
          <c:spPr>
            <a:ln w="25400" cap="flat">
              <a:solidFill>
                <a:srgbClr val="3C6E71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3C6E71"/>
              </a:solidFill>
              <a:ln w="9525" cap="flat">
                <a:solidFill>
                  <a:srgbClr val="3C6E71"/>
                </a:solidFill>
                <a:prstDash val="solid"/>
                <a:round/>
              </a:ln>
              <a:effectLst/>
            </c:spPr>
          </c:marker>
          <c:cat>
            <c:strRef>
              <c:f>Sheet1!$A$2:$A$11</c:f>
              <c:strCache>
                <c:ptCount val="10"/>
                <c:pt idx="0">
                  <c:v>0–0.1</c:v>
                </c:pt>
                <c:pt idx="1">
                  <c:v>0.1–0.2</c:v>
                </c:pt>
                <c:pt idx="2">
                  <c:v>0.2–0.3</c:v>
                </c:pt>
                <c:pt idx="3">
                  <c:v>0.3–0.4</c:v>
                </c:pt>
                <c:pt idx="4">
                  <c:v>0.4–0.5</c:v>
                </c:pt>
                <c:pt idx="5">
                  <c:v>0.5–0.6</c:v>
                </c:pt>
                <c:pt idx="6">
                  <c:v>0.6–0.7</c:v>
                </c:pt>
                <c:pt idx="7">
                  <c:v>0.7–0.8</c:v>
                </c:pt>
                <c:pt idx="8">
                  <c:v>0.8–0.9</c:v>
                </c:pt>
                <c:pt idx="9">
                  <c:v>0.9–1.0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0.05</c:v>
                </c:pt>
                <c:pt idx="1">
                  <c:v>0.15</c:v>
                </c:pt>
                <c:pt idx="2">
                  <c:v>0.25</c:v>
                </c:pt>
                <c:pt idx="3">
                  <c:v>0.35</c:v>
                </c:pt>
                <c:pt idx="4">
                  <c:v>0.45</c:v>
                </c:pt>
                <c:pt idx="5">
                  <c:v>0.55000000000000004</c:v>
                </c:pt>
                <c:pt idx="6">
                  <c:v>0.65</c:v>
                </c:pt>
                <c:pt idx="7">
                  <c:v>0.75</c:v>
                </c:pt>
                <c:pt idx="8">
                  <c:v>0.85</c:v>
                </c:pt>
                <c:pt idx="9">
                  <c:v>0.95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45C5-6C4D-9559-D78148F50FC9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Observed</c:v>
                </c:pt>
              </c:strCache>
            </c:strRef>
          </c:tx>
          <c:spPr>
            <a:ln w="25400" cap="flat">
              <a:solidFill>
                <a:srgbClr val="284B63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284B63"/>
              </a:solidFill>
              <a:ln w="9525" cap="flat">
                <a:solidFill>
                  <a:srgbClr val="284B63"/>
                </a:solidFill>
                <a:prstDash val="solid"/>
                <a:round/>
              </a:ln>
              <a:effectLst/>
            </c:spPr>
          </c:marker>
          <c:cat>
            <c:strRef>
              <c:f>Sheet1!$A$2:$A$11</c:f>
              <c:strCache>
                <c:ptCount val="10"/>
                <c:pt idx="0">
                  <c:v>0–0.1</c:v>
                </c:pt>
                <c:pt idx="1">
                  <c:v>0.1–0.2</c:v>
                </c:pt>
                <c:pt idx="2">
                  <c:v>0.2–0.3</c:v>
                </c:pt>
                <c:pt idx="3">
                  <c:v>0.3–0.4</c:v>
                </c:pt>
                <c:pt idx="4">
                  <c:v>0.4–0.5</c:v>
                </c:pt>
                <c:pt idx="5">
                  <c:v>0.5–0.6</c:v>
                </c:pt>
                <c:pt idx="6">
                  <c:v>0.6–0.7</c:v>
                </c:pt>
                <c:pt idx="7">
                  <c:v>0.7–0.8</c:v>
                </c:pt>
                <c:pt idx="8">
                  <c:v>0.8–0.9</c:v>
                </c:pt>
                <c:pt idx="9">
                  <c:v>0.9–1.0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0.03</c:v>
                </c:pt>
                <c:pt idx="1">
                  <c:v>0.14000000000000001</c:v>
                </c:pt>
                <c:pt idx="2">
                  <c:v>0.2</c:v>
                </c:pt>
                <c:pt idx="3">
                  <c:v>0.33</c:v>
                </c:pt>
                <c:pt idx="4">
                  <c:v>0.41</c:v>
                </c:pt>
                <c:pt idx="5">
                  <c:v>0.52</c:v>
                </c:pt>
                <c:pt idx="6">
                  <c:v>0.67</c:v>
                </c:pt>
                <c:pt idx="7">
                  <c:v>0.7</c:v>
                </c:pt>
                <c:pt idx="8">
                  <c:v>0.88</c:v>
                </c:pt>
                <c:pt idx="9">
                  <c:v>0.93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45C5-6C4D-9559-D78148F50FC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solidFill>
            <a:schemeClr val="bg1"/>
          </a:solidFill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A2342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"/>
          <c:min val="0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A2342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0.2"/>
      </c:valAx>
      <c:spPr>
        <a:solidFill>
          <a:schemeClr val="bg1"/>
        </a:solidFill>
        <a:ln>
          <a:noFill/>
        </a:ln>
        <a:effectLst/>
      </c:spPr>
    </c:plotArea>
    <c:legend>
      <c:legendPos val="r"/>
      <c:overlay val="0"/>
    </c:legend>
    <c:plotVisOnly val="1"/>
    <c:dispBlanksAs val="span"/>
    <c:showDLblsOverMax val="1"/>
  </c:chart>
  <c:spPr>
    <a:solidFill>
      <a:schemeClr val="bg1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Single Model</c:v>
                </c:pt>
              </c:strCache>
            </c:strRef>
          </c:tx>
          <c:spPr>
            <a:solidFill>
              <a:srgbClr val="3C6E71"/>
            </a:solidFill>
            <a:effectLst/>
          </c:spPr>
          <c:invertIfNegative val="0"/>
          <c:cat>
            <c:strRef>
              <c:f>Sheet1!$A$2:$A$2</c:f>
              <c:strCache>
                <c:ptCount val="1"/>
                <c:pt idx="0">
                  <c:v>CRPS</c:v>
                </c:pt>
              </c:strCache>
            </c: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0.85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28CA-D847-9D7B-5DED65DAA54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Ensemble</c:v>
                </c:pt>
              </c:strCache>
            </c:strRef>
          </c:tx>
          <c:spPr>
            <a:solidFill>
              <a:srgbClr val="284B63"/>
            </a:solidFill>
            <a:effectLst/>
          </c:spPr>
          <c:invertIfNegative val="0"/>
          <c:cat>
            <c:strRef>
              <c:f>Sheet1!$A$2:$A$2</c:f>
              <c:strCache>
                <c:ptCount val="1"/>
                <c:pt idx="0">
                  <c:v>CRPS</c:v>
                </c:pt>
              </c:strCache>
            </c: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0.65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28CA-D847-9D7B-5DED65DAA54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"/>
          <c:min val="0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0.2"/>
      </c:valAx>
      <c:spPr>
        <a:solidFill>
          <a:schemeClr val="bg1"/>
        </a:solidFill>
        <a:ln>
          <a:noFill/>
        </a:ln>
        <a:effectLst/>
      </c:spPr>
    </c:plotArea>
    <c:legend>
      <c:legendPos val="r"/>
      <c:overlay val="0"/>
    </c:legend>
    <c:plotVisOnly val="1"/>
    <c:dispBlanksAs val="span"/>
    <c:showDLblsOverMax val="1"/>
  </c:chart>
  <c:spPr>
    <a:solidFill>
      <a:schemeClr val="bg1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F5685EE-3D40-0A4E-BB88-46887330FC0A}" type="datetimeFigureOut">
              <a:rPr lang="en-US" smtClean="0"/>
              <a:t>2/28/26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0752F2A-FA59-1746-ABA5-28C394E5ED0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82555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E" dirty="0"/>
              <a:t>If you use Mean Absolute Error (MAE) as a loss function, the "optimal" strategy for the model is to predict the </a:t>
            </a:r>
            <a:r>
              <a:rPr lang="en-IE" b="1" dirty="0"/>
              <a:t>median</a:t>
            </a:r>
            <a:r>
              <a:rPr lang="en-IE" dirty="0"/>
              <a:t>. If you use Mean Squared Error (MSE), it predicts the </a:t>
            </a:r>
            <a:r>
              <a:rPr lang="en-IE" b="1" dirty="0"/>
              <a:t>mean</a:t>
            </a:r>
            <a:r>
              <a:rPr lang="en-IE" dirty="0"/>
              <a:t>. Only proper scoring rules like CRPS force the model to estimate the </a:t>
            </a:r>
            <a:r>
              <a:rPr lang="en-IE" b="1" dirty="0"/>
              <a:t>entire distribution</a:t>
            </a:r>
            <a:r>
              <a:rPr lang="en-IE" dirty="0"/>
              <a:t> honestly.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752F2A-FA59-1746-ABA5-28C394E5ED08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743263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E" dirty="0"/>
              <a:t>Reasoning: </a:t>
            </a:r>
            <a:r>
              <a:rPr lang="en-IE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$(0.5 - 1)^2 = 0.25$</a:t>
            </a:r>
            <a:r>
              <a:rPr lang="en-IE" dirty="0"/>
              <a:t> and </a:t>
            </a:r>
            <a:r>
              <a:rPr lang="en-IE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$(0.5 - 0)^2 = 0.25$</a:t>
            </a:r>
            <a:r>
              <a:rPr lang="en-IE" dirty="0"/>
              <a:t>. Since rain happens 50% of the time, the average score is </a:t>
            </a:r>
            <a:r>
              <a:rPr lang="en-IE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$0.25$</a:t>
            </a:r>
            <a:r>
              <a:rPr lang="en-IE" dirty="0"/>
              <a:t>. This teaches students that a Brier Score can be "okay" while the forecast is still "unsharp" (uninformative).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752F2A-FA59-1746-ABA5-28C394E5ED08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810131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 not modify the notes in this section to avoid tampering with the Poll Everywhere activity.
More info at </a:t>
            </a:r>
            <a:r>
              <a:rPr lang="en-US" dirty="0" err="1"/>
              <a:t>polleverywhere.com</a:t>
            </a:r>
            <a:r>
              <a:rPr lang="en-US" dirty="0"/>
              <a:t>/support
Suppose a model always predicts a 50% probability of rain ($$p = 0.5$$) for every single day. If it actually rains on exactly 50% of the days, what is the Brier Score of this model, and what does it reveal about the forecast quality?</a:t>
            </a:r>
          </a:p>
          <a:p>
            <a:r>
              <a:rPr lang="en-US" dirty="0"/>
              <a:t>https://</a:t>
            </a:r>
            <a:r>
              <a:rPr lang="en-US" dirty="0" err="1"/>
              <a:t>www.polleverywhere.com</a:t>
            </a:r>
            <a:r>
              <a:rPr lang="en-US" dirty="0"/>
              <a:t>/</a:t>
            </a:r>
            <a:r>
              <a:rPr lang="en-US" dirty="0" err="1"/>
              <a:t>multiple_choice_polls</a:t>
            </a:r>
            <a:r>
              <a:rPr lang="en-US" dirty="0"/>
              <a:t>/vd3UrKUYILga0TJnv0kQ2?state=</a:t>
            </a:r>
            <a:r>
              <a:rPr lang="en-US" dirty="0" err="1"/>
              <a:t>opened&amp;flow</a:t>
            </a:r>
            <a:r>
              <a:rPr lang="en-US" dirty="0"/>
              <a:t>=</a:t>
            </a:r>
            <a:r>
              <a:rPr lang="en-US" dirty="0" err="1"/>
              <a:t>Default&amp;onscreen</a:t>
            </a:r>
            <a:r>
              <a:rPr lang="en-US" dirty="0"/>
              <a:t>=persist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752F2A-FA59-1746-ABA5-28C394E5ED08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343374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Do not modify the notes in this section to avoid tampering with the Poll Everywhere activity.
More info at polleverywhere.com/support
The CRPS is often described as a generalisation of the Mean Absolute Error (MAE). If a model provides a perfectly "sharp" deterministic forecast (where the standard deviation $$\sigma$$ is zero), what does the CRPS value become?</a:t>
            </a:r>
          </a:p>
          <a:p>
            <a:r>
              <a:rPr lang="en-US"/>
              <a:t>https://www.polleverywhere.com/multiple_choice_polls/P3B4HihRUR32bagwfF4v6?state=opened&amp;flow=Default&amp;onscreen=persist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752F2A-FA59-1746-ABA5-28C394E5ED08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679714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8.png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0.png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2.png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Colour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463CE9-5A18-2F6D-2BDB-54024EE575D4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775570" y="4184850"/>
            <a:ext cx="9144000" cy="816192"/>
          </a:xfrm>
        </p:spPr>
        <p:txBody>
          <a:bodyPr anchor="b">
            <a:normAutofit/>
          </a:bodyPr>
          <a:lstStyle>
            <a:lvl1pPr algn="l">
              <a:defRPr sz="4500"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Presentation title</a:t>
            </a:r>
            <a:endParaRPr lang="en-US" dirty="0"/>
          </a:p>
        </p:txBody>
      </p:sp>
      <p:sp>
        <p:nvSpPr>
          <p:cNvPr id="10" name="Date Placeholder 1">
            <a:extLst>
              <a:ext uri="{FF2B5EF4-FFF2-40B4-BE49-F238E27FC236}">
                <a16:creationId xmlns:a16="http://schemas.microsoft.com/office/drawing/2014/main" id="{C19BF7E5-ED45-E4D7-8DD2-E8A3757D1FA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75570" y="5901563"/>
            <a:ext cx="4077660" cy="365125"/>
          </a:xfrm>
          <a:prstGeom prst="rect">
            <a:avLst/>
          </a:prstGeom>
        </p:spPr>
        <p:txBody>
          <a:bodyPr/>
          <a:lstStyle>
            <a:lvl1pPr>
              <a:defRPr sz="20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fld id="{D7043C3A-33ED-42EC-99E6-B5FE9049A83B}" type="datetime3">
              <a:rPr lang="en-IE" smtClean="0"/>
              <a:t>28 February 2026</a:t>
            </a:fld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A48403D-CA02-EE11-96CC-8E09913F647B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775570" y="662410"/>
            <a:ext cx="4921049" cy="3023526"/>
          </a:xfrm>
          <a:prstGeom prst="rect">
            <a:avLst/>
          </a:prstGeom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ACDEDBC2-BC30-A9CA-49BA-CCA6F9CEB8A7}"/>
              </a:ext>
            </a:extLst>
          </p:cNvPr>
          <p:cNvSpPr txBox="1">
            <a:spLocks/>
          </p:cNvSpPr>
          <p:nvPr userDrawn="1"/>
        </p:nvSpPr>
        <p:spPr>
          <a:xfrm>
            <a:off x="775570" y="4975355"/>
            <a:ext cx="9144000" cy="81619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500" b="1" kern="1200">
                <a:solidFill>
                  <a:srgbClr val="00959F"/>
                </a:solidFill>
                <a:latin typeface="Calibri" panose="020F0502020204030204" pitchFamily="34" charset="0"/>
                <a:ea typeface="+mj-ea"/>
                <a:cs typeface="Calibri" panose="020F0502020204030204" pitchFamily="34" charset="0"/>
              </a:defRPr>
            </a:lvl1pPr>
          </a:lstStyle>
          <a:p>
            <a:r>
              <a:rPr lang="en-GB" sz="3500" b="0" dirty="0">
                <a:solidFill>
                  <a:schemeClr val="bg1"/>
                </a:solidFill>
              </a:rPr>
              <a:t>Andrew Parnell</a:t>
            </a:r>
            <a:endParaRPr lang="en-US" sz="3200" b="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5498784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463CE9-5A18-2F6D-2BDB-54024EE575D4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775570" y="4184850"/>
            <a:ext cx="9144000" cy="816192"/>
          </a:xfrm>
        </p:spPr>
        <p:txBody>
          <a:bodyPr anchor="b">
            <a:normAutofit/>
          </a:bodyPr>
          <a:lstStyle>
            <a:lvl1pPr algn="l">
              <a:defRPr sz="4500"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Presentation title</a:t>
            </a:r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C95EAAC-03A2-8D88-C693-5373EC4D999E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775570" y="661140"/>
            <a:ext cx="4921049" cy="3023526"/>
          </a:xfrm>
          <a:prstGeom prst="rect">
            <a:avLst/>
          </a:prstGeom>
        </p:spPr>
      </p:pic>
      <p:sp>
        <p:nvSpPr>
          <p:cNvPr id="10" name="Date Placeholder 1">
            <a:extLst>
              <a:ext uri="{FF2B5EF4-FFF2-40B4-BE49-F238E27FC236}">
                <a16:creationId xmlns:a16="http://schemas.microsoft.com/office/drawing/2014/main" id="{C19BF7E5-ED45-E4D7-8DD2-E8A3757D1FA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75570" y="5901563"/>
            <a:ext cx="4077660" cy="365125"/>
          </a:xfrm>
          <a:prstGeom prst="rect">
            <a:avLst/>
          </a:prstGeom>
        </p:spPr>
        <p:txBody>
          <a:bodyPr/>
          <a:lstStyle>
            <a:lvl1pPr>
              <a:defRPr sz="20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fld id="{A20550B1-742F-4033-AAB7-DC28BBBCACAB}" type="datetime3">
              <a:rPr lang="en-IE" smtClean="0"/>
              <a:t>28 February 2026</a:t>
            </a:fld>
            <a:endParaRPr lang="en-US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01BF4638-05BC-68BF-F886-C5874806A86A}"/>
              </a:ext>
            </a:extLst>
          </p:cNvPr>
          <p:cNvSpPr txBox="1">
            <a:spLocks/>
          </p:cNvSpPr>
          <p:nvPr userDrawn="1"/>
        </p:nvSpPr>
        <p:spPr>
          <a:xfrm>
            <a:off x="775570" y="4975355"/>
            <a:ext cx="9144000" cy="81619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500" b="1" kern="1200">
                <a:solidFill>
                  <a:srgbClr val="00959F"/>
                </a:solidFill>
                <a:latin typeface="Calibri" panose="020F0502020204030204" pitchFamily="34" charset="0"/>
                <a:ea typeface="+mj-ea"/>
                <a:cs typeface="Calibri" panose="020F0502020204030204" pitchFamily="34" charset="0"/>
              </a:defRPr>
            </a:lvl1pPr>
          </a:lstStyle>
          <a:p>
            <a:r>
              <a:rPr lang="en-GB" sz="3500" b="0" dirty="0">
                <a:solidFill>
                  <a:schemeClr val="bg1"/>
                </a:solidFill>
              </a:rPr>
              <a:t>Presentation</a:t>
            </a:r>
            <a:r>
              <a:rPr lang="en-GB" sz="3200" b="0" dirty="0">
                <a:solidFill>
                  <a:schemeClr val="bg1"/>
                </a:solidFill>
              </a:rPr>
              <a:t> subtitle</a:t>
            </a:r>
            <a:endParaRPr lang="en-US" sz="3200" b="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5283955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Ligh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89FE3EDE-25F4-E49F-B1D6-86A03CE1B128}"/>
              </a:ext>
            </a:extLst>
          </p:cNvPr>
          <p:cNvSpPr txBox="1">
            <a:spLocks/>
          </p:cNvSpPr>
          <p:nvPr userDrawn="1"/>
        </p:nvSpPr>
        <p:spPr>
          <a:xfrm>
            <a:off x="775570" y="4975355"/>
            <a:ext cx="9144000" cy="81619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500" b="1" kern="1200">
                <a:solidFill>
                  <a:srgbClr val="00959F"/>
                </a:solidFill>
                <a:latin typeface="Calibri" panose="020F0502020204030204" pitchFamily="34" charset="0"/>
                <a:ea typeface="+mj-ea"/>
                <a:cs typeface="Calibri" panose="020F0502020204030204" pitchFamily="34" charset="0"/>
              </a:defRPr>
            </a:lvl1pPr>
          </a:lstStyle>
          <a:p>
            <a:r>
              <a:rPr lang="en-GB" sz="3500" b="0" dirty="0">
                <a:solidFill>
                  <a:srgbClr val="00427A"/>
                </a:solidFill>
              </a:rPr>
              <a:t>Presentation</a:t>
            </a:r>
            <a:r>
              <a:rPr lang="en-GB" sz="3200" b="0" dirty="0">
                <a:solidFill>
                  <a:srgbClr val="00427A"/>
                </a:solidFill>
              </a:rPr>
              <a:t> subtitle</a:t>
            </a:r>
            <a:endParaRPr lang="en-US" sz="3200" b="0" dirty="0">
              <a:solidFill>
                <a:srgbClr val="00427A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7463CE9-5A18-2F6D-2BDB-54024EE575D4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775570" y="4184850"/>
            <a:ext cx="9144000" cy="816192"/>
          </a:xfrm>
        </p:spPr>
        <p:txBody>
          <a:bodyPr anchor="b">
            <a:normAutofit/>
          </a:bodyPr>
          <a:lstStyle>
            <a:lvl1pPr algn="l">
              <a:defRPr sz="4500">
                <a:solidFill>
                  <a:srgbClr val="00959F"/>
                </a:solidFill>
              </a:defRPr>
            </a:lvl1pPr>
          </a:lstStyle>
          <a:p>
            <a:r>
              <a:rPr lang="en-GB" dirty="0"/>
              <a:t>Presentation title</a:t>
            </a:r>
            <a:endParaRPr lang="en-US" dirty="0"/>
          </a:p>
        </p:txBody>
      </p:sp>
      <p:sp>
        <p:nvSpPr>
          <p:cNvPr id="10" name="Date Placeholder 1">
            <a:extLst>
              <a:ext uri="{FF2B5EF4-FFF2-40B4-BE49-F238E27FC236}">
                <a16:creationId xmlns:a16="http://schemas.microsoft.com/office/drawing/2014/main" id="{C19BF7E5-ED45-E4D7-8DD2-E8A3757D1FA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75570" y="5901563"/>
            <a:ext cx="4077660" cy="365125"/>
          </a:xfrm>
          <a:prstGeom prst="rect">
            <a:avLst/>
          </a:prstGeom>
        </p:spPr>
        <p:txBody>
          <a:bodyPr/>
          <a:lstStyle>
            <a:lvl1pPr>
              <a:defRPr sz="2000">
                <a:solidFill>
                  <a:srgbClr val="00427A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fld id="{F1E91F8A-F806-4B78-A2A3-404C465D9606}" type="datetime3">
              <a:rPr lang="en-IE" smtClean="0"/>
              <a:t>28 February 2026</a:t>
            </a:fld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FE57DE2-DEBB-B17B-3186-6B7F239D4C15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870858" y="764010"/>
            <a:ext cx="4921049" cy="30235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436640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3936AE-C30A-53BD-4925-C496BE6C46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F265C0-0ACE-3E63-95B9-D176766F2E2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631563B-497A-31DF-3662-C17ACF7D3A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0070AD6-AAEF-8A4F-2919-ED9A3F9B56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064C77-022D-3743-A04E-645624933D1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369005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4F2AFB-F4C4-719F-41DE-8454632EBC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8354952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27AA946-8443-8B80-0497-6EB6FAAD0FF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AA71E3E-2DD5-AE03-E092-6934E2C4A0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B3E6B2A-3B08-3B49-5EC6-5F1CF60C68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064C77-022D-3743-A04E-645624933D1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688371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D0CB63-89BA-5DA1-ABAC-95F6444632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7EC219-68C6-906B-6B38-F56C88CEA66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855E0A4-A8B0-2CA7-E857-19478981F70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C34EDF8-107F-48D4-9168-4085444987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FD97297-368B-D76D-B573-F2EA9B4F5D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064C77-022D-3743-A04E-645624933D1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539080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EE21E6-E145-FB62-1B42-F05F62D34D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FFA92D5-85D4-798F-6073-C1BBC39E80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A41B856-F9DF-6501-6837-20D15C2FCB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064C77-022D-3743-A04E-645624933D1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270059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36B62E2-EFD1-BADE-5ADC-CDA692DD3C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92CE0D8-9D28-4B5B-E0D8-6FD104DEDF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064C77-022D-3743-A04E-645624933D1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422457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oint Turquios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FDF105-7039-1C6D-7FC1-89C7ACEFE5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980788"/>
            <a:ext cx="8348602" cy="1325563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4C9D1A-B681-480B-51E4-53A88191885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306351"/>
            <a:ext cx="8348602" cy="3668564"/>
          </a:xfrm>
        </p:spPr>
        <p:txBody>
          <a:bodyPr/>
          <a:lstStyle>
            <a:lvl1pPr marL="0" indent="0">
              <a:buNone/>
              <a:defRPr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GB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37439093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oint medium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B8167D2C-5176-1ED3-A328-C37831632F2B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4952165" y="3305069"/>
            <a:ext cx="8928728" cy="3552931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0F83037B-3C53-AD11-3C53-4E910F029F0A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3175" y="0"/>
            <a:ext cx="12188825" cy="6859786"/>
          </a:xfrm>
          <a:prstGeom prst="rect">
            <a:avLst/>
          </a:prstGeom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E433CFB9-3CD0-7249-3875-4CDCC32657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980788"/>
            <a:ext cx="10515600" cy="1325563"/>
          </a:xfrm>
        </p:spPr>
        <p:txBody>
          <a:bodyPr/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3604C136-FB56-3E5C-714E-C7C451450AD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306351"/>
            <a:ext cx="8348602" cy="3668564"/>
          </a:xfrm>
        </p:spPr>
        <p:txBody>
          <a:bodyPr/>
          <a:lstStyle>
            <a:lvl1pPr marL="0" indent="0">
              <a:buNone/>
              <a:defRPr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GB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46619352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oint ligh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39C7DCCB-0C89-D983-30F6-838DCED371A2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366117" y="656799"/>
            <a:ext cx="11071312" cy="6201201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3AA480F3-BC76-00B6-24D5-C07DB00D8475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rcRect/>
          <a:stretch/>
        </p:blipFill>
        <p:spPr>
          <a:xfrm>
            <a:off x="3179" y="251012"/>
            <a:ext cx="12188821" cy="685978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057DC5C-07B9-1D3E-E60F-4C4449E401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980788"/>
            <a:ext cx="10515600" cy="1325563"/>
          </a:xfrm>
        </p:spPr>
        <p:txBody>
          <a:bodyPr/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0138B3-4A13-4988-0617-30422C75274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306351"/>
            <a:ext cx="8348602" cy="3668564"/>
          </a:xfrm>
        </p:spPr>
        <p:txBody>
          <a:bodyPr/>
          <a:lstStyle>
            <a:lvl1pPr marL="0" indent="0">
              <a:buNone/>
              <a:defRPr>
                <a:solidFill>
                  <a:srgbClr val="00959F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GB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74013495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oint dark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D98423E0-7FF4-AD5A-A90B-2A9E4134C1AA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-1088573" y="1468037"/>
            <a:ext cx="9622971" cy="5389964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C2E33A7B-C77A-0333-901F-1F517FC12794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rcRect/>
          <a:stretch/>
        </p:blipFill>
        <p:spPr>
          <a:xfrm>
            <a:off x="3176" y="0"/>
            <a:ext cx="12188821" cy="6859784"/>
          </a:xfrm>
          <a:prstGeom prst="rect">
            <a:avLst/>
          </a:prstGeom>
        </p:spPr>
      </p:pic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CBAE34A2-289C-9C29-7331-CFD9F1AE7D9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35389" y="1060256"/>
            <a:ext cx="6336026" cy="3668564"/>
          </a:xfrm>
        </p:spPr>
        <p:txBody>
          <a:bodyPr>
            <a:normAutofit/>
          </a:bodyPr>
          <a:lstStyle>
            <a:lvl1pPr marL="0" indent="0" algn="r">
              <a:buNone/>
              <a:defRPr sz="3600" b="1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GB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37602313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FF8EE0-63FD-90C7-A8F6-6E35CF63883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F6B8AAD-E381-9F48-3A73-7ED346C3783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F50F77C-8225-FE1C-8BCF-98C1B4A28CF0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77CDB0-0156-39D4-AA59-E150060B2FC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5A064C77-022D-3743-A04E-645624933D1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523046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1.jp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5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C5340C0-73B3-BCF7-0724-038E70BF78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7C6D448-5D41-D2C8-31F6-3E241806484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8348602" cy="414929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2A23E6A-37C4-5F0F-726D-1ACD6A23133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118356"/>
            <a:ext cx="29759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B540BB7-8BAA-0B2D-4F0A-22069252AE3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7265096" y="6118356"/>
            <a:ext cx="192170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A064C77-022D-3743-A04E-645624933D1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81449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0" r:id="rId1"/>
    <p:sldLayoutId id="2147483649" r:id="rId2"/>
    <p:sldLayoutId id="2147483661" r:id="rId3"/>
    <p:sldLayoutId id="2147483650" r:id="rId4"/>
    <p:sldLayoutId id="2147483651" r:id="rId5"/>
    <p:sldLayoutId id="2147483652" r:id="rId6"/>
    <p:sldLayoutId id="2147483654" r:id="rId7"/>
    <p:sldLayoutId id="2147483655" r:id="rId8"/>
    <p:sldLayoutId id="2147483662" r:id="rId9"/>
    <p:sldLayoutId id="2147483664" r:id="rId10"/>
    <p:sldLayoutId id="2147483665" r:id="rId11"/>
    <p:sldLayoutId id="2147483666" r:id="rId12"/>
    <p:sldLayoutId id="2147483667" r:id="rId13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kern="1200">
          <a:solidFill>
            <a:srgbClr val="00959F"/>
          </a:solidFill>
          <a:latin typeface="Calibri" panose="020F0502020204030204" pitchFamily="34" charset="0"/>
          <a:ea typeface="+mj-ea"/>
          <a:cs typeface="Calibri" panose="020F050202020403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rgbClr val="00427A"/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rgbClr val="00427A"/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rgbClr val="00427A"/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rgbClr val="00427A"/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rgbClr val="00427A"/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chart" Target="../charts/chart2.xml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0.png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0.pn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chart" Target="../charts/chart3.xml"/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7E127A-D7C1-984F-9005-D54B2E23A76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sz="4800" dirty="0">
                <a:solidFill>
                  <a:srgbClr val="FFFFFF"/>
                </a:solidFill>
              </a:rPr>
              <a:t>Class 8: Probabilistic weather forecasting with NNs via scoring rules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4382491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515577-5ABC-E8E5-35C3-8F4AB61455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Outline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1E3CD1-7275-6762-DF32-C1DB3F061F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Motivation</a:t>
            </a:r>
          </a:p>
          <a:p>
            <a:r>
              <a:rPr lang="en-US" dirty="0"/>
              <a:t>Proper scoring rules: Brier, Log, CRPS</a:t>
            </a:r>
          </a:p>
          <a:p>
            <a:r>
              <a:rPr lang="en-US" dirty="0"/>
              <a:t>Calibration &amp; sharpness diagnostics</a:t>
            </a:r>
          </a:p>
          <a:p>
            <a:r>
              <a:rPr lang="en-US" dirty="0"/>
              <a:t>CNN architectures for probabilistic outputs</a:t>
            </a:r>
          </a:p>
          <a:p>
            <a:r>
              <a:rPr lang="en-US" dirty="0"/>
              <a:t>LSTM architectures for probabilistic outputs</a:t>
            </a:r>
          </a:p>
          <a:p>
            <a:r>
              <a:rPr lang="en-US" dirty="0"/>
              <a:t>Summary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2A937FE-864A-13EE-BF1E-C13C4D8549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064C77-022D-3743-A04E-645624933D1D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572734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2CAE16-A3EA-010F-FED0-E73748F278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Motivation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06E42C-A333-4111-64A2-C59C4CEEC1F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547852" cy="4149290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Deterministic forecasts provide a single point estimate</a:t>
            </a:r>
          </a:p>
          <a:p>
            <a:r>
              <a:rPr lang="en-US" dirty="0"/>
              <a:t>Probabilistic forecasts assign a distribution to the future – essential for risk‑aware decisions</a:t>
            </a:r>
          </a:p>
          <a:p>
            <a:r>
              <a:rPr lang="en-US" dirty="0"/>
              <a:t>Calibration measures statistical consistency between predicted and observed distributions</a:t>
            </a:r>
          </a:p>
          <a:p>
            <a:r>
              <a:rPr lang="en-US" dirty="0"/>
              <a:t>Sharpness reflects the concentration of the predictive distribution; the goal is sharp and calibrated forecasts</a:t>
            </a:r>
          </a:p>
        </p:txBody>
      </p:sp>
      <p:graphicFrame>
        <p:nvGraphicFramePr>
          <p:cNvPr id="4" name="Chart 0">
            <a:extLst>
              <a:ext uri="{FF2B5EF4-FFF2-40B4-BE49-F238E27FC236}">
                <a16:creationId xmlns:a16="http://schemas.microsoft.com/office/drawing/2014/main" id="{3A1C4266-C920-BFB8-A3EF-25B9A4CBB49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209095247"/>
              </p:ext>
            </p:extLst>
          </p:nvPr>
        </p:nvGraphicFramePr>
        <p:xfrm>
          <a:off x="6489290" y="1459107"/>
          <a:ext cx="4511040" cy="3048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5" name="Shape 2">
            <a:extLst>
              <a:ext uri="{FF2B5EF4-FFF2-40B4-BE49-F238E27FC236}">
                <a16:creationId xmlns:a16="http://schemas.microsoft.com/office/drawing/2014/main" id="{44ABD9B1-C545-DBCA-1667-558087E8E57E}"/>
              </a:ext>
            </a:extLst>
          </p:cNvPr>
          <p:cNvSpPr/>
          <p:nvPr/>
        </p:nvSpPr>
        <p:spPr>
          <a:xfrm>
            <a:off x="8440010" y="1459107"/>
            <a:ext cx="12192" cy="3048000"/>
          </a:xfrm>
          <a:prstGeom prst="line">
            <a:avLst/>
          </a:prstGeom>
          <a:noFill/>
          <a:ln w="19050">
            <a:solidFill>
              <a:srgbClr val="284B63"/>
            </a:solidFill>
            <a:prstDash val="solid"/>
          </a:ln>
        </p:spPr>
        <p:txBody>
          <a:bodyPr/>
          <a:lstStyle/>
          <a:p>
            <a:endParaRPr sz="2400"/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4083094C-10A6-24AC-4307-6C8427114A1F}"/>
              </a:ext>
            </a:extLst>
          </p:cNvPr>
          <p:cNvSpPr/>
          <p:nvPr/>
        </p:nvSpPr>
        <p:spPr>
          <a:xfrm>
            <a:off x="9601200" y="2550257"/>
            <a:ext cx="1950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067" dirty="0">
                <a:solidFill>
                  <a:srgbClr val="3C6E71"/>
                </a:solidFill>
              </a:rPr>
              <a:t>Distribution</a:t>
            </a:r>
            <a:endParaRPr lang="en-US" sz="1067" dirty="0"/>
          </a:p>
        </p:txBody>
      </p:sp>
      <p:sp>
        <p:nvSpPr>
          <p:cNvPr id="7" name="Text 4">
            <a:extLst>
              <a:ext uri="{FF2B5EF4-FFF2-40B4-BE49-F238E27FC236}">
                <a16:creationId xmlns:a16="http://schemas.microsoft.com/office/drawing/2014/main" id="{42A925B1-D5F0-4B17-D7BE-54ADC5334A57}"/>
              </a:ext>
            </a:extLst>
          </p:cNvPr>
          <p:cNvSpPr/>
          <p:nvPr/>
        </p:nvSpPr>
        <p:spPr>
          <a:xfrm>
            <a:off x="8135210" y="1155782"/>
            <a:ext cx="121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067" dirty="0">
                <a:solidFill>
                  <a:srgbClr val="284B63"/>
                </a:solidFill>
              </a:rPr>
              <a:t>Point</a:t>
            </a:r>
            <a:endParaRPr lang="en-US" sz="1067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F8D6097E-3905-32B2-1A7F-DE2F91D258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064C77-022D-3743-A04E-645624933D1D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58608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9D6CDA-CD87-3D0B-A80C-AA4D318693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Proper scoring rules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CD5D13-464D-AE98-22DA-D49E9476B75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8403236" cy="3036770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Scoring rules evaluate probabilistic forecasts by comparing the predicted distribution to the observed value</a:t>
            </a:r>
          </a:p>
          <a:p>
            <a:r>
              <a:rPr lang="en-US" dirty="0"/>
              <a:t>A scoring rule is strictly proper if the expected score is </a:t>
            </a:r>
            <a:r>
              <a:rPr lang="en-US" dirty="0" err="1"/>
              <a:t>minimised</a:t>
            </a:r>
            <a:r>
              <a:rPr lang="en-US" dirty="0"/>
              <a:t> when the forecast distribution equals the true distribution</a:t>
            </a:r>
          </a:p>
          <a:p>
            <a:r>
              <a:rPr lang="en-US" dirty="0"/>
              <a:t>Proper scoring rules encourage calibration and discourage hedging – making too conservative forecasts</a:t>
            </a:r>
          </a:p>
          <a:p>
            <a:r>
              <a:rPr lang="en-US" dirty="0" err="1"/>
              <a:t>Popularised</a:t>
            </a:r>
            <a:r>
              <a:rPr lang="en-US" dirty="0"/>
              <a:t> by Gneiting and Raftery (2007)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02EAC8E-2EC7-3C61-07F5-5C66B2B9C2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064C77-022D-3743-A04E-645624933D1D}" type="slidenum">
              <a:rPr lang="en-US" smtClean="0"/>
              <a:t>4</a:t>
            </a:fld>
            <a:endParaRPr lang="en-US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F119D037-EE20-1E16-CE3E-E6E1407F9DB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33786701"/>
              </p:ext>
            </p:extLst>
          </p:nvPr>
        </p:nvGraphicFramePr>
        <p:xfrm>
          <a:off x="838200" y="4997332"/>
          <a:ext cx="8128002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54667">
                  <a:extLst>
                    <a:ext uri="{9D8B030D-6E8A-4147-A177-3AD203B41FA5}">
                      <a16:colId xmlns:a16="http://schemas.microsoft.com/office/drawing/2014/main" val="3239652989"/>
                    </a:ext>
                  </a:extLst>
                </a:gridCol>
                <a:gridCol w="1354667">
                  <a:extLst>
                    <a:ext uri="{9D8B030D-6E8A-4147-A177-3AD203B41FA5}">
                      <a16:colId xmlns:a16="http://schemas.microsoft.com/office/drawing/2014/main" val="3818513952"/>
                    </a:ext>
                  </a:extLst>
                </a:gridCol>
                <a:gridCol w="1354667">
                  <a:extLst>
                    <a:ext uri="{9D8B030D-6E8A-4147-A177-3AD203B41FA5}">
                      <a16:colId xmlns:a16="http://schemas.microsoft.com/office/drawing/2014/main" val="2284104770"/>
                    </a:ext>
                  </a:extLst>
                </a:gridCol>
                <a:gridCol w="1354667">
                  <a:extLst>
                    <a:ext uri="{9D8B030D-6E8A-4147-A177-3AD203B41FA5}">
                      <a16:colId xmlns:a16="http://schemas.microsoft.com/office/drawing/2014/main" val="2542112471"/>
                    </a:ext>
                  </a:extLst>
                </a:gridCol>
                <a:gridCol w="1354667">
                  <a:extLst>
                    <a:ext uri="{9D8B030D-6E8A-4147-A177-3AD203B41FA5}">
                      <a16:colId xmlns:a16="http://schemas.microsoft.com/office/drawing/2014/main" val="1543439081"/>
                    </a:ext>
                  </a:extLst>
                </a:gridCol>
                <a:gridCol w="1354667">
                  <a:extLst>
                    <a:ext uri="{9D8B030D-6E8A-4147-A177-3AD203B41FA5}">
                      <a16:colId xmlns:a16="http://schemas.microsoft.com/office/drawing/2014/main" val="127553991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E" sz="1600" b="0" dirty="0"/>
                        <a:t>Model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E" sz="1600" b="0" dirty="0"/>
                        <a:t>Mean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E" sz="1600" b="0" dirty="0"/>
                        <a:t>Std deviation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E" sz="1600" b="0"/>
                        <a:t>Observation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E" sz="1600" b="0" dirty="0"/>
                        <a:t>Scoring rule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E" sz="1600" b="0" dirty="0"/>
                        <a:t>MSE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988202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20°C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1°C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19°C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1.42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700279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20°C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3°C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19°C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1.94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241108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7647142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318252-4496-DC1D-C78F-A2FC8216BF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Calibration and sharpness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25A2D9-9FB8-EB60-BA99-7771EAD6D9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164394" cy="4149290"/>
          </a:xfrm>
        </p:spPr>
        <p:txBody>
          <a:bodyPr>
            <a:normAutofit/>
          </a:bodyPr>
          <a:lstStyle/>
          <a:p>
            <a:r>
              <a:rPr lang="en-US" dirty="0"/>
              <a:t>Reliability: predicted probabilities match observed frequencies</a:t>
            </a:r>
          </a:p>
          <a:p>
            <a:r>
              <a:rPr lang="en-US" dirty="0"/>
              <a:t>Sharpness: predictive distributions are as concentrated as possible</a:t>
            </a:r>
          </a:p>
          <a:p>
            <a:r>
              <a:rPr lang="en-US" dirty="0"/>
              <a:t>Aim: reliability diagrams close to diagonal and narrow prediction intervals</a:t>
            </a:r>
          </a:p>
        </p:txBody>
      </p:sp>
      <p:graphicFrame>
        <p:nvGraphicFramePr>
          <p:cNvPr id="4" name="Chart 0">
            <a:extLst>
              <a:ext uri="{FF2B5EF4-FFF2-40B4-BE49-F238E27FC236}">
                <a16:creationId xmlns:a16="http://schemas.microsoft.com/office/drawing/2014/main" id="{64FB3AD5-17A0-490E-2A29-96676CF6A348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842082671"/>
              </p:ext>
            </p:extLst>
          </p:nvPr>
        </p:nvGraphicFramePr>
        <p:xfrm>
          <a:off x="6189408" y="1690688"/>
          <a:ext cx="5608320" cy="3048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5" name="Text 2">
            <a:extLst>
              <a:ext uri="{FF2B5EF4-FFF2-40B4-BE49-F238E27FC236}">
                <a16:creationId xmlns:a16="http://schemas.microsoft.com/office/drawing/2014/main" id="{23F12CFE-3280-D206-9724-E662087EFA2F}"/>
              </a:ext>
            </a:extLst>
          </p:cNvPr>
          <p:cNvSpPr/>
          <p:nvPr/>
        </p:nvSpPr>
        <p:spPr>
          <a:xfrm>
            <a:off x="6189408" y="4705752"/>
            <a:ext cx="5608320" cy="365760"/>
          </a:xfrm>
          <a:prstGeom prst="rect">
            <a:avLst/>
          </a:prstGeom>
          <a:solidFill>
            <a:schemeClr val="bg1"/>
          </a:solidFill>
          <a:ln/>
        </p:spPr>
        <p:txBody>
          <a:bodyPr wrap="square" rtlCol="0" anchor="ctr"/>
          <a:lstStyle/>
          <a:p>
            <a:r>
              <a:rPr lang="en-US" sz="1067" dirty="0">
                <a:solidFill>
                  <a:srgbClr val="0A2342"/>
                </a:solidFill>
              </a:rPr>
              <a:t>Reliability diagram</a:t>
            </a:r>
            <a:endParaRPr lang="en-US" sz="1067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DA77822-C8CD-9E70-D67D-40EFBC5585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064C77-022D-3743-A04E-645624933D1D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493248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F491F6-5030-A6B2-F910-36C692E13B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Brier score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00C8A3F-8063-0A3F-D10F-0AF9E2D6D12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8245839" cy="4149290"/>
              </a:xfrm>
            </p:spPr>
            <p:txBody>
              <a:bodyPr>
                <a:normAutofit fontScale="92500"/>
              </a:bodyPr>
              <a:lstStyle/>
              <a:p>
                <a:r>
                  <a:rPr lang="en-US" dirty="0"/>
                  <a:t>Measures squared error between predicted probabilities and outcomes for </a:t>
                </a:r>
                <a:r>
                  <a:rPr lang="en-US" b="1" dirty="0"/>
                  <a:t>binary/multiclass </a:t>
                </a:r>
                <a:r>
                  <a:rPr lang="en-US" dirty="0"/>
                  <a:t>events</a:t>
                </a:r>
              </a:p>
              <a:p>
                <a:r>
                  <a:rPr lang="en-US" dirty="0"/>
                  <a:t>For a forecast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dirty="0"/>
                  <a:t> and outcome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dirty="0"/>
                  <a:t>,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 =</m:t>
                    </m:r>
                    <m:sSup>
                      <m:sSupPr>
                        <m:ctrlPr>
                          <a:rPr lang="en-IE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f>
                          <m:fPr>
                            <m:ctrlPr>
                              <a:rPr lang="en-IE" b="0" i="1" dirty="0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IE" b="0" i="1" dirty="0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IE" b="0" i="1" dirty="0" smtClean="0">
                                <a:latin typeface="Cambria Math" panose="02040503050406030204" pitchFamily="18" charset="0"/>
                              </a:rPr>
                              <m:t>𝑁</m:t>
                            </m:r>
                          </m:den>
                        </m:f>
                        <m:nary>
                          <m:naryPr>
                            <m:chr m:val="∑"/>
                            <m:ctrlPr>
                              <a:rPr lang="en-US" i="1" dirty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3"/>
                              </m:rPr>
                              <a:rPr lang="en-IE" i="1" dirty="0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IE" i="1" dirty="0">
                                <a:latin typeface="Cambria Math" panose="02040503050406030204" pitchFamily="18" charset="0"/>
                              </a:rPr>
                              <m:t>=1</m:t>
                            </m:r>
                          </m:sub>
                          <m:sup>
                            <m:r>
                              <a:rPr lang="en-IE" i="1" dirty="0">
                                <a:latin typeface="Cambria Math" panose="02040503050406030204" pitchFamily="18" charset="0"/>
                              </a:rPr>
                              <m:t>𝑁</m:t>
                            </m:r>
                          </m:sup>
                          <m:e>
                            <m:d>
                              <m:dPr>
                                <m:ctrlPr>
                                  <a:rPr lang="en-US" i="1" dirty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IE" b="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 dirty="0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  <m:sub>
                                    <m:r>
                                      <a:rPr lang="en-IE" b="0" i="1" dirty="0" smtClean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i="1" dirty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en-IE" b="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 dirty="0"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</m:e>
                                  <m:sub>
                                    <m:r>
                                      <a:rPr lang="en-IE" b="0" i="1" dirty="0" smtClean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</m:e>
                            </m:d>
                          </m:e>
                        </m:nary>
                      </m:e>
                      <m:sup>
                        <m:r>
                          <a:rPr lang="en-IE" i="1" dirty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en-US" dirty="0"/>
              </a:p>
              <a:p>
                <a:r>
                  <a:rPr lang="en-US" dirty="0"/>
                  <a:t>Mathematically identical to Mean Square Error</a:t>
                </a:r>
              </a:p>
              <a:p>
                <a:r>
                  <a:rPr lang="en-US" dirty="0"/>
                  <a:t>Sometimes term in sum expressed differently as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IE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IE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IE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  <m:r>
                              <a:rPr lang="en-IE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IE" b="0" i="1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</m:d>
                      </m:e>
                      <m:sup>
                        <m:r>
                          <a:rPr lang="en-IE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IE" b="0" i="1" smtClean="0">
                        <a:latin typeface="Cambria Math" panose="02040503050406030204" pitchFamily="18" charset="0"/>
                      </a:rPr>
                      <m:t>+</m:t>
                    </m:r>
                    <m:sSup>
                      <m:sSupPr>
                        <m:ctrlPr>
                          <a:rPr lang="en-IE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IE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d>
                              <m:dPr>
                                <m:ctrlPr>
                                  <a:rPr lang="en-IE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IE" b="0" i="1" smtClean="0">
                                    <a:latin typeface="Cambria Math" panose="02040503050406030204" pitchFamily="18" charset="0"/>
                                  </a:rPr>
                                  <m:t>1−</m:t>
                                </m:r>
                                <m:r>
                                  <a:rPr lang="en-IE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d>
                            <m:d>
                              <m:dPr>
                                <m:ctrlPr>
                                  <a:rPr lang="en-IE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IE" b="0" i="1" smtClean="0">
                                    <a:latin typeface="Cambria Math" panose="02040503050406030204" pitchFamily="18" charset="0"/>
                                  </a:rPr>
                                  <m:t>1−</m:t>
                                </m:r>
                                <m:r>
                                  <a:rPr lang="en-IE" b="0" i="1" smtClean="0"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</m:e>
                            </m:d>
                          </m:e>
                        </m:d>
                      </m:e>
                      <m:sup>
                        <m:r>
                          <a:rPr lang="en-IE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dirty="0"/>
                  <a:t> </a:t>
                </a:r>
              </a:p>
              <a:p>
                <a:r>
                  <a:rPr lang="en-US" dirty="0"/>
                  <a:t>Mathematically very similar but slightly different range</a:t>
                </a:r>
              </a:p>
              <a:p>
                <a:r>
                  <a:rPr lang="en-US" dirty="0">
                    <a:solidFill>
                      <a:srgbClr val="009749"/>
                    </a:solidFill>
                  </a:rPr>
                  <a:t>Example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00C8A3F-8063-0A3F-D10F-0AF9E2D6D12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8245839" cy="4149290"/>
              </a:xfrm>
              <a:blipFill>
                <a:blip r:embed="rId3"/>
                <a:stretch>
                  <a:fillRect l="-1231" t="-213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DA73973-9450-63B5-1E6E-96E4725F30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064C77-022D-3743-A04E-645624933D1D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080932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BE7EF1-36CC-A06D-6C24-A10F55CBC00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F7ED59A-E32F-BF5D-79BF-AFB3A95A393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64BC430-45C8-6BFC-56E1-3D819BB0A1A8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5A064C77-022D-3743-A04E-645624933D1D}" type="slidenum">
              <a:rPr lang="en-US" smtClean="0"/>
              <a:t>7</a:t>
            </a:fld>
            <a:endParaRPr lang="en-US"/>
          </a:p>
        </p:txBody>
      </p:sp>
      <p:pic>
        <p:nvPicPr>
          <p:cNvPr id="6" name="slide.url=https://www.polleverywhere.com/multiple_choice_polls/vd3UrKUYILga0TJnv0kQ2?state=opened&amp;flow=Default&amp;onscreen=persist">
            <a:extLst>
              <a:ext uri="{FF2B5EF4-FFF2-40B4-BE49-F238E27FC236}">
                <a16:creationId xmlns:a16="http://schemas.microsoft.com/office/drawing/2014/main" id="{67C6EC3F-39CB-A54B-5E46-86AB5C08AF5A}"/>
              </a:ext>
            </a:extLst>
          </p:cNvPr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63500" y="63500"/>
            <a:ext cx="12065000" cy="6731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872549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081E7D-15B6-57AF-71D7-9E03A57B83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Logarithmic score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054AF01-B9A2-E47E-9CBC-245EDDDEE33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7518816" cy="4149290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Evaluates the (negative) log likelihood of the observation under the predicted distribution</a:t>
                </a:r>
              </a:p>
              <a:p>
                <a:r>
                  <a:rPr lang="en-US" dirty="0"/>
                  <a:t>For a density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𝐷</m:t>
                        </m:r>
                      </m:sub>
                    </m:sSub>
                    <m:r>
                      <a:rPr lang="en-US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), </m:t>
                    </m:r>
                    <m:r>
                      <a:rPr lang="en-US" i="1" dirty="0" err="1" smtClean="0">
                        <a:latin typeface="Cambria Math" panose="02040503050406030204" pitchFamily="18" charset="0"/>
                      </a:rPr>
                      <m:t>𝐿𝑜𝑔𝑆𝑐𝑜𝑟𝑒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 = −</m:t>
                    </m:r>
                    <m:r>
                      <a:rPr lang="en-IE" b="0" i="1" dirty="0" smtClean="0">
                        <a:latin typeface="Cambria Math" panose="02040503050406030204" pitchFamily="18" charset="0"/>
                      </a:rPr>
                      <m:t>𝑙𝑜𝑔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⁡</m:t>
                    </m:r>
                    <m:sSub>
                      <m:sSubPr>
                        <m:ctrlPr>
                          <a:rPr lang="en-US" i="1" dirty="0" err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 err="1" smtClean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US" i="1" dirty="0" err="1" smtClean="0">
                            <a:latin typeface="Cambria Math" panose="02040503050406030204" pitchFamily="18" charset="0"/>
                          </a:rPr>
                          <m:t>𝐷</m:t>
                        </m:r>
                      </m:sub>
                    </m:sSub>
                    <m:r>
                      <a:rPr lang="en-US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r>
                  <a:rPr lang="en-US" dirty="0"/>
                  <a:t>Sensitive to tail probabilities; encourages accurate distribution tails</a:t>
                </a:r>
              </a:p>
              <a:p>
                <a:r>
                  <a:rPr lang="en-US" dirty="0">
                    <a:solidFill>
                      <a:srgbClr val="009749"/>
                    </a:solidFill>
                  </a:rPr>
                  <a:t>Example: normal distribution with mean </a:t>
                </a:r>
                <a14:m>
                  <m:oMath xmlns:m="http://schemas.openxmlformats.org/officeDocument/2006/math">
                    <m:r>
                      <a:rPr lang="en-IE" b="0" i="1" dirty="0" smtClean="0">
                        <a:solidFill>
                          <a:srgbClr val="009749"/>
                        </a:solidFill>
                        <a:latin typeface="Cambria Math" panose="02040503050406030204" pitchFamily="18" charset="0"/>
                      </a:rPr>
                      <m:t>𝜇</m:t>
                    </m:r>
                  </m:oMath>
                </a14:m>
                <a:r>
                  <a:rPr lang="en-US" dirty="0">
                    <a:solidFill>
                      <a:srgbClr val="009749"/>
                    </a:solidFill>
                  </a:rPr>
                  <a:t> and </a:t>
                </a:r>
                <a:r>
                  <a:rPr lang="en-US" dirty="0" err="1">
                    <a:solidFill>
                      <a:srgbClr val="009749"/>
                    </a:solidFill>
                  </a:rPr>
                  <a:t>sd</a:t>
                </a:r>
                <a:r>
                  <a:rPr lang="en-US" dirty="0">
                    <a:solidFill>
                      <a:srgbClr val="009749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IE" b="0" i="1" dirty="0" smtClean="0">
                        <a:solidFill>
                          <a:srgbClr val="009749"/>
                        </a:solidFill>
                        <a:latin typeface="Cambria Math" panose="02040503050406030204" pitchFamily="18" charset="0"/>
                      </a:rPr>
                      <m:t>𝜎</m:t>
                    </m:r>
                  </m:oMath>
                </a14:m>
                <a:endParaRPr lang="en-US" dirty="0">
                  <a:solidFill>
                    <a:srgbClr val="009749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054AF01-B9A2-E47E-9CBC-245EDDDEE33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7518816" cy="4149290"/>
              </a:xfrm>
              <a:blipFill>
                <a:blip r:embed="rId2"/>
                <a:stretch>
                  <a:fillRect l="-1518" t="-243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0323943-2415-5560-74B2-9A8B3F84EA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064C77-022D-3743-A04E-645624933D1D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654857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C06BC0-CDEC-9F7B-3937-9F7BB21391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Continuous ranked probability score (CRPS)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28044B2-7082-B711-8A37-1378A3E86F5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8348602" cy="4149290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en-US" dirty="0"/>
                  <a:t>Generalises the MAE to probabilistic forecasts; widely used in meteorology</a:t>
                </a:r>
              </a:p>
              <a:p>
                <a:r>
                  <a:rPr lang="en-US" dirty="0"/>
                  <a:t>Defined for forecast CDF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𝐷</m:t>
                        </m:r>
                      </m:sub>
                    </m:sSub>
                  </m:oMath>
                </a14:m>
                <a:r>
                  <a:rPr lang="en-US" dirty="0"/>
                  <a:t> and observation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dirty="0"/>
                  <a:t> as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𝐶𝑅𝑃𝑆</m:t>
                    </m:r>
                    <m:r>
                      <a:rPr lang="en-IE" b="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IE" b="0" i="1" dirty="0" smtClean="0">
                        <a:latin typeface="Cambria Math" panose="02040503050406030204" pitchFamily="18" charset="0"/>
                      </a:rPr>
                      <m:t>𝐷</m:t>
                    </m:r>
                    <m:r>
                      <a:rPr lang="en-IE" b="0" i="1" dirty="0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IE" b="0" i="1" dirty="0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IE" b="0" i="1" dirty="0" smtClean="0">
                        <a:latin typeface="Cambria Math" panose="02040503050406030204" pitchFamily="18" charset="0"/>
                      </a:rPr>
                      <m:t>) = ∫</m:t>
                    </m:r>
                    <m:sSup>
                      <m:sSup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i="1" dirty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 dirty="0" smtClean="0">
                                    <a:latin typeface="Cambria Math" panose="02040503050406030204" pitchFamily="18" charset="0"/>
                                  </a:rPr>
                                  <m:t>𝐹</m:t>
                                </m:r>
                              </m:e>
                              <m:sub>
                                <m:r>
                                  <a:rPr lang="en-US" i="1" dirty="0" smtClean="0">
                                    <a:latin typeface="Cambria Math" panose="02040503050406030204" pitchFamily="18" charset="0"/>
                                  </a:rPr>
                                  <m:t>𝐷</m:t>
                                </m:r>
                              </m:sub>
                            </m:sSub>
                            <m:d>
                              <m:dPr>
                                <m:ctrlPr>
                                  <a:rPr lang="en-US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i="1" dirty="0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</m:d>
                            <m:r>
                              <a:rPr lang="en-US" i="1" dirty="0" smtClean="0">
                                <a:latin typeface="Cambria Math" panose="02040503050406030204" pitchFamily="18" charset="0"/>
                              </a:rPr>
                              <m:t>− </m:t>
                            </m:r>
                            <m:r>
                              <a:rPr lang="en-US" i="1" dirty="0" smtClean="0">
                                <a:latin typeface="Cambria Math" panose="02040503050406030204" pitchFamily="18" charset="0"/>
                              </a:rPr>
                              <m:t>𝐻</m:t>
                            </m:r>
                            <m:d>
                              <m:dPr>
                                <m:ctrlPr>
                                  <a:rPr lang="en-US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i="1" dirty="0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  <m:r>
                                  <a:rPr lang="en-US" i="1" dirty="0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n-US" i="1" dirty="0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d>
                          </m:e>
                        </m:d>
                      </m:e>
                      <m:sup>
                        <m:r>
                          <a:rPr lang="en-IE" b="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i="1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𝑑𝑥</m:t>
                    </m:r>
                  </m:oMath>
                </a14:m>
                <a:endParaRPr lang="en-US" dirty="0"/>
              </a:p>
              <a:p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𝐻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(⋅)</m:t>
                    </m:r>
                  </m:oMath>
                </a14:m>
                <a:r>
                  <a:rPr lang="en-US" dirty="0"/>
                  <a:t> is the </a:t>
                </a:r>
                <a:r>
                  <a:rPr lang="en-US" i="1" dirty="0"/>
                  <a:t>Heaviside step function </a:t>
                </a:r>
                <a:r>
                  <a:rPr lang="en-US" dirty="0"/>
                  <a:t>(or the unit step function). Equals 0 if argument is negative or 1 if positive</a:t>
                </a:r>
              </a:p>
              <a:p>
                <a:r>
                  <a:rPr lang="en-US" dirty="0"/>
                  <a:t>Available in </a:t>
                </a:r>
                <a:r>
                  <a:rPr lang="en-US" dirty="0">
                    <a:solidFill>
                      <a:srgbClr val="009749"/>
                    </a:solidFill>
                  </a:rPr>
                  <a:t>closed form </a:t>
                </a:r>
                <a:r>
                  <a:rPr lang="en-US" dirty="0"/>
                  <a:t>for the normal distribution</a:t>
                </a:r>
              </a:p>
              <a:p>
                <a:r>
                  <a:rPr lang="en-US" dirty="0">
                    <a:solidFill>
                      <a:srgbClr val="009749"/>
                    </a:solidFill>
                  </a:rPr>
                  <a:t>But also pretty easy for forecast ensemble approaches 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28044B2-7082-B711-8A37-1378A3E86F5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8348602" cy="4149290"/>
              </a:xfrm>
              <a:blipFill>
                <a:blip r:embed="rId2"/>
                <a:stretch>
                  <a:fillRect l="-1368" t="-3354" r="-91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FE2C590-7A05-6231-3D96-96990D33BC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064C77-022D-3743-A04E-645624933D1D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136195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BA49FE-EF90-3053-3A08-46783062353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4C1CF4D-CEC6-CA99-82A8-F3F614032FB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2887DC9-AA02-BA08-7377-62AEB3742A1D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5A064C77-022D-3743-A04E-645624933D1D}" type="slidenum">
              <a:rPr lang="en-US" smtClean="0"/>
              <a:t>10</a:t>
            </a:fld>
            <a:endParaRPr lang="en-US"/>
          </a:p>
        </p:txBody>
      </p:sp>
      <p:pic>
        <p:nvPicPr>
          <p:cNvPr id="6" name="slide.url=https://www.polleverywhere.com/multiple_choice_polls/P3B4HihRUR32bagwfF4v6?state=opened&amp;flow=Default&amp;onscreen=persist">
            <a:extLst>
              <a:ext uri="{FF2B5EF4-FFF2-40B4-BE49-F238E27FC236}">
                <a16:creationId xmlns:a16="http://schemas.microsoft.com/office/drawing/2014/main" id="{6C21136E-A004-C727-B08D-44AFD1BA02B7}"/>
              </a:ext>
            </a:extLst>
          </p:cNvPr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63500" y="63500"/>
            <a:ext cx="12065000" cy="6731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230997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A96095-CD8A-4D90-90FC-FA4C837EDD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Probabilistic Output Layers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02E4312-FB78-2B38-8E70-759BE6ABE72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dirty="0"/>
                  <a:t>Use a proper scoring rule as the loss function</a:t>
                </a:r>
              </a:p>
              <a:p>
                <a:r>
                  <a:rPr lang="en-US" dirty="0"/>
                  <a:t>For Gaussian outputs: the NN outputs e.g.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𝜇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IE" b="0" i="1" dirty="0" smtClean="0">
                        <a:latin typeface="Cambria Math" panose="02040503050406030204" pitchFamily="18" charset="0"/>
                      </a:rPr>
                      <m:t>𝑠𝑜𝑓𝑡𝑝𝑙𝑢𝑠</m:t>
                    </m:r>
                    <m:r>
                      <a:rPr lang="en-IE" b="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𝜎</m:t>
                    </m:r>
                    <m:r>
                      <a:rPr lang="en-IE" b="0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so that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𝜎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 =</m:t>
                    </m:r>
                  </m:oMath>
                </a14:m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i="1" dirty="0">
                        <a:latin typeface="Cambria Math" panose="02040503050406030204" pitchFamily="18" charset="0"/>
                      </a:rPr>
                      <m:t>log</m:t>
                    </m:r>
                    <m:r>
                      <a:rPr lang="en-IE" i="1" dirty="0">
                        <a:latin typeface="Cambria Math" panose="02040503050406030204" pitchFamily="18" charset="0"/>
                      </a:rPr>
                      <m:t>(1+</m:t>
                    </m:r>
                    <m:sSup>
                      <m:sSupPr>
                        <m:ctrlPr>
                          <a:rPr lang="en-IE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IE" i="1" dirty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acc>
                          <m:accPr>
                            <m:chr m:val="̂"/>
                            <m:ctrlPr>
                              <a:rPr lang="en-IE" i="1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IE" i="1" dirty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sup>
                    </m:sSup>
                    <m:r>
                      <a:rPr lang="en-IE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r>
                  <a:rPr lang="en-US" dirty="0"/>
                  <a:t>Negative log-likelihood (NLL) loss =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0.5 </m:t>
                    </m:r>
                    <m:sSup>
                      <m:sSup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i="1" dirty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en-US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i="1" dirty="0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  <m:r>
                                  <a:rPr lang="en-US" i="1" dirty="0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n-IE" b="0" i="1" dirty="0" smtClean="0">
                                    <a:latin typeface="Cambria Math" panose="02040503050406030204" pitchFamily="18" charset="0"/>
                                  </a:rPr>
                                  <m:t>𝜇</m:t>
                                </m:r>
                              </m:num>
                              <m:den>
                                <m:r>
                                  <a:rPr lang="en-IE" b="0" i="1" dirty="0" smtClean="0">
                                    <a:latin typeface="Cambria Math" panose="02040503050406030204" pitchFamily="18" charset="0"/>
                                  </a:rPr>
                                  <m:t>𝜎</m:t>
                                </m:r>
                              </m:den>
                            </m:f>
                          </m:e>
                        </m:d>
                      </m:e>
                      <m:sup>
                        <m:r>
                          <a:rPr lang="en-IE" b="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i="1" dirty="0" smtClean="0">
                        <a:latin typeface="Cambria Math" panose="02040503050406030204" pitchFamily="18" charset="0"/>
                      </a:rPr>
                      <m:t> +</m:t>
                    </m:r>
                    <m:r>
                      <a:rPr lang="en-IE" b="0" i="1" dirty="0" smtClean="0">
                        <a:latin typeface="Cambria Math" panose="02040503050406030204" pitchFamily="18" charset="0"/>
                      </a:rPr>
                      <m:t>𝑙𝑜𝑔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⁡</m:t>
                    </m:r>
                    <m:r>
                      <a:rPr lang="en-IE" b="0" i="1" dirty="0" smtClean="0">
                        <a:latin typeface="Cambria Math" panose="02040503050406030204" pitchFamily="18" charset="0"/>
                      </a:rPr>
                      <m:t>𝜎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 + 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𝑐𝑜𝑛𝑠𝑡</m:t>
                    </m:r>
                  </m:oMath>
                </a14:m>
                <a:endParaRPr lang="en-US" dirty="0"/>
              </a:p>
              <a:p>
                <a:r>
                  <a:rPr lang="en-US" dirty="0"/>
                  <a:t>CRPS loss can be computed in closed form for Gaussian distributions</a:t>
                </a:r>
              </a:p>
              <a:p>
                <a:r>
                  <a:rPr lang="en-US" dirty="0">
                    <a:solidFill>
                      <a:srgbClr val="009749"/>
                    </a:solidFill>
                  </a:rPr>
                  <a:t>Go through forward pass on the board</a:t>
                </a:r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02E4312-FB78-2B38-8E70-759BE6ABE72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368" t="-243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7285E25-64A7-C03B-AE84-49713C566E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064C77-022D-3743-A04E-645624933D1D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606873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ECEBB4-D6E4-BBDA-3C9E-C93B1CB590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Probabilistic forecasting in </a:t>
            </a:r>
            <a:r>
              <a:rPr lang="en-US" dirty="0" err="1"/>
              <a:t>PyTorch</a:t>
            </a:r>
            <a:endParaRPr lang="en-I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3CF8011-6CF1-7DDB-E338-1EA4EEBC57A5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838201" y="1825625"/>
                <a:ext cx="2792104" cy="4351338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Very simple to implement</a:t>
                </a:r>
              </a:p>
              <a:p>
                <a:r>
                  <a:rPr lang="en-US" dirty="0"/>
                  <a:t>Just have e.g. two outputs (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𝜎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𝜇</m:t>
                    </m:r>
                  </m:oMath>
                </a14:m>
                <a:r>
                  <a:rPr lang="en-US" dirty="0"/>
                  <a:t>) instead of one</a:t>
                </a:r>
              </a:p>
              <a:p>
                <a:r>
                  <a:rPr lang="en-US" dirty="0"/>
                  <a:t>…and a different loss function which includes them both…</a:t>
                </a:r>
                <a:endParaRPr lang="en-IE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3CF8011-6CF1-7DDB-E338-1EA4EEBC57A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838201" y="1825625"/>
                <a:ext cx="2792104" cy="4351338"/>
              </a:xfrm>
              <a:blipFill>
                <a:blip r:embed="rId2"/>
                <a:stretch>
                  <a:fillRect l="-4072" t="-2326" r="-678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EF69071-AE05-134B-3FEC-02C9CBC3EAB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780430" y="1825625"/>
            <a:ext cx="7573370" cy="4351338"/>
          </a:xfrm>
          <a:ln>
            <a:solidFill>
              <a:schemeClr val="tx1"/>
            </a:solidFill>
          </a:ln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IE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class </a:t>
            </a:r>
            <a:r>
              <a:rPr lang="en-IE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TinyProbNN</a:t>
            </a:r>
            <a:r>
              <a:rPr lang="en-IE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IE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nn.Module</a:t>
            </a:r>
            <a:r>
              <a:rPr lang="en-IE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):</a:t>
            </a:r>
          </a:p>
          <a:p>
            <a:pPr marL="0" indent="0">
              <a:buNone/>
            </a:pPr>
            <a:r>
              <a:rPr lang="en-IE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def __</a:t>
            </a:r>
            <a:r>
              <a:rPr lang="en-IE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init</a:t>
            </a:r>
            <a:r>
              <a:rPr lang="en-IE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__(self):</a:t>
            </a:r>
          </a:p>
          <a:p>
            <a:pPr marL="0" indent="0">
              <a:buNone/>
            </a:pPr>
            <a:r>
              <a:rPr lang="en-IE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super().__</a:t>
            </a:r>
            <a:r>
              <a:rPr lang="en-IE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init</a:t>
            </a:r>
            <a:r>
              <a:rPr lang="en-IE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__()</a:t>
            </a:r>
          </a:p>
          <a:p>
            <a:pPr marL="0" indent="0">
              <a:buNone/>
            </a:pPr>
            <a:r>
              <a:rPr lang="en-IE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IE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self.h</a:t>
            </a:r>
            <a:r>
              <a:rPr lang="en-IE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IE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nn.Linear</a:t>
            </a:r>
            <a:r>
              <a:rPr lang="en-IE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(1, 1)      # one hidden neuron</a:t>
            </a:r>
          </a:p>
          <a:p>
            <a:pPr marL="0" indent="0">
              <a:buNone/>
            </a:pPr>
            <a:r>
              <a:rPr lang="en-IE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IE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self.out</a:t>
            </a:r>
            <a:r>
              <a:rPr lang="en-IE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IE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nn.Linear</a:t>
            </a:r>
            <a:r>
              <a:rPr lang="en-IE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(1, 2)    # [mu, </a:t>
            </a:r>
            <a:r>
              <a:rPr lang="en-IE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raw_sigma</a:t>
            </a:r>
            <a:r>
              <a:rPr lang="en-IE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]</a:t>
            </a:r>
          </a:p>
          <a:p>
            <a:pPr marL="0" indent="0">
              <a:buNone/>
            </a:pPr>
            <a:r>
              <a:rPr lang="en-IE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def forward(self, x):</a:t>
            </a:r>
          </a:p>
          <a:p>
            <a:pPr marL="0" indent="0">
              <a:buNone/>
            </a:pPr>
            <a:r>
              <a:rPr lang="en-IE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h = </a:t>
            </a:r>
            <a:r>
              <a:rPr lang="en-IE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F.relu</a:t>
            </a:r>
            <a:r>
              <a:rPr lang="en-IE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IE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self.h</a:t>
            </a:r>
            <a:r>
              <a:rPr lang="en-IE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(x))</a:t>
            </a:r>
          </a:p>
          <a:p>
            <a:pPr marL="0" indent="0">
              <a:buNone/>
            </a:pPr>
            <a:r>
              <a:rPr lang="en-IE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mu, </a:t>
            </a:r>
            <a:r>
              <a:rPr lang="en-IE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raw_sigma</a:t>
            </a:r>
            <a:r>
              <a:rPr lang="en-IE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IE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self.out</a:t>
            </a:r>
            <a:r>
              <a:rPr lang="en-IE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(h).chunk(2, dim=1)</a:t>
            </a:r>
          </a:p>
          <a:p>
            <a:pPr marL="0" indent="0">
              <a:buNone/>
            </a:pPr>
            <a:r>
              <a:rPr lang="en-IE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# ensure positivity; </a:t>
            </a:r>
            <a:r>
              <a:rPr lang="en-IE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softplus</a:t>
            </a:r>
            <a:r>
              <a:rPr lang="en-IE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is numerically stable</a:t>
            </a:r>
          </a:p>
          <a:p>
            <a:pPr marL="0" indent="0">
              <a:buNone/>
            </a:pPr>
            <a:r>
              <a:rPr lang="en-IE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sigma = </a:t>
            </a:r>
            <a:r>
              <a:rPr lang="en-IE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F.softplus</a:t>
            </a:r>
            <a:r>
              <a:rPr lang="en-IE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IE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raw_sigma</a:t>
            </a:r>
            <a:r>
              <a:rPr lang="en-IE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 + 1e-6</a:t>
            </a:r>
          </a:p>
          <a:p>
            <a:pPr marL="0" indent="0">
              <a:buNone/>
            </a:pPr>
            <a:r>
              <a:rPr lang="en-IE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return mu, sigma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C98D46E-DCA3-0456-CE63-BC2669B9EB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064C77-022D-3743-A04E-645624933D1D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770128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3B07D56D-632A-863F-7B29-113A6FAEF5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 err="1"/>
              <a:t>PyTorch</a:t>
            </a:r>
            <a:r>
              <a:rPr lang="en-IE" dirty="0"/>
              <a:t> part 2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F878E94-9154-78EE-66FC-D7EC9C87D3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9731991" cy="414929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IE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def </a:t>
            </a:r>
            <a:r>
              <a:rPr lang="en-IE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gaussian_nll</a:t>
            </a:r>
            <a:r>
              <a:rPr lang="en-IE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(y, mu, sigma):</a:t>
            </a:r>
          </a:p>
          <a:p>
            <a:pPr marL="0" indent="0">
              <a:buNone/>
            </a:pPr>
            <a:r>
              <a:rPr lang="en-IE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# NLL = 0.5*log(2</a:t>
            </a:r>
            <a:r>
              <a:rPr lang="el-G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πσ^2) + (</a:t>
            </a:r>
            <a:r>
              <a:rPr lang="en-IE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y-</a:t>
            </a:r>
            <a:r>
              <a:rPr lang="el-G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μ)^2 / (2σ^2)</a:t>
            </a:r>
          </a:p>
          <a:p>
            <a:pPr marL="0" indent="0">
              <a:buNone/>
            </a:pPr>
            <a:r>
              <a:rPr lang="el-G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IE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return 0.5*torch.log(2*</a:t>
            </a:r>
            <a:r>
              <a:rPr lang="en-IE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math.pi</a:t>
            </a:r>
            <a:r>
              <a:rPr lang="en-IE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*sigma**2) + 0.5*((y - mu)**2)/(sigma**2)</a:t>
            </a:r>
          </a:p>
          <a:p>
            <a:pPr marL="0" indent="0">
              <a:buNone/>
            </a:pPr>
            <a:endParaRPr lang="en-IE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IE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for epoch in range(1000):</a:t>
            </a:r>
          </a:p>
          <a:p>
            <a:pPr marL="0" indent="0">
              <a:buNone/>
            </a:pPr>
            <a:r>
              <a:rPr lang="en-IE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mu, sigma = model(x)</a:t>
            </a:r>
          </a:p>
          <a:p>
            <a:pPr marL="0" indent="0">
              <a:buNone/>
            </a:pPr>
            <a:r>
              <a:rPr lang="en-IE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loss = </a:t>
            </a:r>
            <a:r>
              <a:rPr lang="en-IE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gaussian_nll</a:t>
            </a:r>
            <a:r>
              <a:rPr lang="en-IE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(y, mu, sigma).mean()</a:t>
            </a:r>
          </a:p>
          <a:p>
            <a:pPr marL="0" indent="0">
              <a:buNone/>
            </a:pPr>
            <a:r>
              <a:rPr lang="en-IE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IE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opt.zero_grad</a:t>
            </a:r>
            <a:r>
              <a:rPr lang="en-IE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marL="0" indent="0">
              <a:buNone/>
            </a:pPr>
            <a:r>
              <a:rPr lang="en-IE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IE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loss.backward</a:t>
            </a:r>
            <a:r>
              <a:rPr lang="en-IE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marL="0" indent="0">
              <a:buNone/>
            </a:pPr>
            <a:r>
              <a:rPr lang="en-IE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IE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opt.step</a:t>
            </a:r>
            <a:r>
              <a:rPr lang="en-IE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marL="0" indent="0">
              <a:buNone/>
            </a:pPr>
            <a:endParaRPr lang="en-IE" sz="1600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AE8F041-01E2-1774-4DD7-82EF85A01B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064C77-022D-3743-A04E-645624933D1D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550324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EC7630-51FB-9C53-1F4C-610DAC8259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Adding probabilistic forecasting to other models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D91E03-A694-81CD-EB9C-4B2CB568379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8348602" cy="4149290"/>
          </a:xfrm>
        </p:spPr>
        <p:txBody>
          <a:bodyPr>
            <a:normAutofit/>
          </a:bodyPr>
          <a:lstStyle/>
          <a:p>
            <a:r>
              <a:rPr lang="en-US" dirty="0"/>
              <a:t>We can use this with LSTMs or Transformers to produce probabilistic forecasts of the next time step</a:t>
            </a:r>
          </a:p>
          <a:p>
            <a:r>
              <a:rPr lang="en-US" dirty="0"/>
              <a:t>Just add the extra layers to the head and adjust the loss function to a proper scoring rule</a:t>
            </a:r>
          </a:p>
          <a:p>
            <a:r>
              <a:rPr lang="en-US" dirty="0"/>
              <a:t>Be sure to check that your output makes sense</a:t>
            </a:r>
          </a:p>
          <a:p>
            <a:r>
              <a:rPr lang="en-US" dirty="0"/>
              <a:t>Can be applied to all the other models we have met (and many more that we haven’t)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260660E-81FE-1F95-357F-D7BDB2A24F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064C77-022D-3743-A04E-645624933D1D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098654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DFF6CB-15F9-CE74-AE04-C1F6364139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A77196-E6DE-84CE-6AE0-841646F5E6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Example: simple ANN with </a:t>
            </a:r>
            <a:r>
              <a:rPr lang="en-US" dirty="0" err="1"/>
              <a:t>PyTorch</a:t>
            </a:r>
            <a:endParaRPr lang="en-US" dirty="0"/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D4912427-4F54-7049-AD18-CDD650418D8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667345" y="1825625"/>
            <a:ext cx="6690372" cy="4149725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761C2EB-F6BA-7E78-DD62-234BA76CBE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064C77-022D-3743-A04E-645624933D1D}" type="slidenum">
              <a:rPr lang="en-US" smtClean="0"/>
              <a:t>15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199274A-9F6A-CA0F-90DC-997101F9FF2B}"/>
              </a:ext>
            </a:extLst>
          </p:cNvPr>
          <p:cNvSpPr txBox="1"/>
          <p:nvPr/>
        </p:nvSpPr>
        <p:spPr>
          <a:xfrm>
            <a:off x="838200" y="5889009"/>
            <a:ext cx="77530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E" dirty="0">
                <a:solidFill>
                  <a:srgbClr val="00427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Created via</a:t>
            </a:r>
            <a:r>
              <a:rPr lang="en-IE" dirty="0"/>
              <a:t> </a:t>
            </a:r>
            <a:r>
              <a:rPr lang="en-IE" dirty="0" err="1">
                <a:latin typeface="Courier New" panose="02070309020205020404" pitchFamily="49" charset="0"/>
                <a:cs typeface="Courier New" panose="02070309020205020404" pitchFamily="49" charset="0"/>
              </a:rPr>
              <a:t>Super_simple_probabilistic_ANN.ipynb</a:t>
            </a:r>
            <a:endParaRPr lang="en-I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3878288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14E401-C542-BB6E-832B-E6D07406BB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BAB04D-F495-0692-DFEB-8D11A453B2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Pytorch</a:t>
            </a:r>
            <a:r>
              <a:rPr lang="en-US" dirty="0"/>
              <a:t> results from CRPS fit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D500C028-9FE2-65D5-DBD3-FB091E558AE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761787" y="1825625"/>
            <a:ext cx="6501488" cy="4149725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376A157-5AFE-34AB-EC95-A86DDB624E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064C77-022D-3743-A04E-645624933D1D}" type="slidenum">
              <a:rPr lang="en-US" smtClean="0"/>
              <a:t>16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3106920-2D3C-5CAE-CC38-37526D9F10B0}"/>
              </a:ext>
            </a:extLst>
          </p:cNvPr>
          <p:cNvSpPr txBox="1"/>
          <p:nvPr/>
        </p:nvSpPr>
        <p:spPr>
          <a:xfrm>
            <a:off x="838200" y="5889009"/>
            <a:ext cx="77530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E" dirty="0">
                <a:solidFill>
                  <a:srgbClr val="00427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Created via </a:t>
            </a:r>
            <a:r>
              <a:rPr lang="en-US" dirty="0" err="1">
                <a:solidFill>
                  <a:srgbClr val="00427A"/>
                </a:solidFill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Super_simple_CRPS_ANN.ipynb</a:t>
            </a:r>
            <a:endParaRPr lang="en-I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4132669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9B5092-BFE8-312F-311F-8F243D5634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E" dirty="0"/>
              <a:t>The Probability Integral Transform (PIT) Histogram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192819D-6B35-0582-0E32-81DBAADA6EC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/>
              </a:bodyPr>
              <a:lstStyle/>
              <a:p>
                <a:r>
                  <a:rPr lang="en-IE" dirty="0"/>
                  <a:t>For each case compute </a:t>
                </a:r>
                <a14:m>
                  <m:oMath xmlns:m="http://schemas.openxmlformats.org/officeDocument/2006/math">
                    <m:r>
                      <a:rPr lang="en-IE" i="1">
                        <a:latin typeface="Cambria Math" panose="02040503050406030204" pitchFamily="18" charset="0"/>
                      </a:rPr>
                      <m:t>𝑢</m:t>
                    </m:r>
                    <m:r>
                      <a:rPr lang="en-IE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m:rPr>
                            <m:nor/>
                          </m:rPr>
                          <a:rPr lang="en-IE" i="1"/>
                          <m:t>forecast</m:t>
                        </m:r>
                      </m:sub>
                    </m:sSub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d>
                  </m:oMath>
                </a14:m>
                <a:r>
                  <a:rPr lang="ar-AE" dirty="0"/>
                  <a:t>. </a:t>
                </a:r>
                <a:r>
                  <a:rPr lang="en-IE" dirty="0"/>
                  <a:t>If forecasts are correctly calibrated, </a:t>
                </a:r>
                <a14:m>
                  <m:oMath xmlns:m="http://schemas.openxmlformats.org/officeDocument/2006/math">
                    <m:r>
                      <a:rPr lang="en-IE" i="1">
                        <a:latin typeface="Cambria Math" panose="02040503050406030204" pitchFamily="18" charset="0"/>
                      </a:rPr>
                      <m:t>𝑢</m:t>
                    </m:r>
                    <m:r>
                      <a:rPr lang="en-IE">
                        <a:latin typeface="Cambria Math" panose="02040503050406030204" pitchFamily="18" charset="0"/>
                      </a:rPr>
                      <m:t>∼</m:t>
                    </m:r>
                    <m:r>
                      <m:rPr>
                        <m:nor/>
                      </m:rPr>
                      <a:rPr lang="en-IE" i="1"/>
                      <m:t>U</m:t>
                    </m:r>
                    <m:r>
                      <a:rPr lang="en-IE" b="0" i="1" smtClean="0">
                        <a:latin typeface="Cambria Math" panose="02040503050406030204" pitchFamily="18" charset="0"/>
                      </a:rPr>
                      <m:t>(0,1)</m:t>
                    </m:r>
                  </m:oMath>
                </a14:m>
                <a:r>
                  <a:rPr lang="ar-AE" dirty="0"/>
                  <a:t>→ </a:t>
                </a:r>
                <a:r>
                  <a:rPr lang="en-IE" dirty="0"/>
                  <a:t>histogram should be flat</a:t>
                </a:r>
              </a:p>
              <a:p>
                <a:r>
                  <a:rPr lang="en-US" dirty="0"/>
                  <a:t>Look for:</a:t>
                </a:r>
              </a:p>
              <a:p>
                <a:pPr lvl="1"/>
                <a:r>
                  <a:rPr lang="en-US" dirty="0"/>
                  <a:t>U-shape: under-dispersed (intervals too narrow)</a:t>
                </a:r>
              </a:p>
              <a:p>
                <a:pPr lvl="1"/>
                <a:r>
                  <a:rPr lang="en-US" dirty="0"/>
                  <a:t>Hump: over-dispersed (intervals too wide)</a:t>
                </a:r>
              </a:p>
              <a:p>
                <a:pPr lvl="1"/>
                <a:r>
                  <a:rPr lang="en-US" dirty="0"/>
                  <a:t>Left/Right skew: negative/positive bias</a:t>
                </a:r>
              </a:p>
              <a:p>
                <a:pPr lvl="1"/>
                <a:r>
                  <a:rPr lang="en-US" dirty="0"/>
                  <a:t>Spikes at 0 or 1: support/tails mis-specified</a:t>
                </a:r>
              </a:p>
              <a:p>
                <a:pPr lvl="1"/>
                <a:r>
                  <a:rPr lang="en-US" b="1" dirty="0"/>
                  <a:t>Flat is good!</a:t>
                </a:r>
              </a:p>
              <a:p>
                <a:r>
                  <a:rPr lang="en-US" dirty="0"/>
                  <a:t>Checks calibration across the full CDF; complements single-number scores like CRPS/NLL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192819D-6B35-0582-0E32-81DBAADA6EC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16" t="-1829" r="-912" b="-91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6386080-F92F-2862-3A8F-88D26A2AC2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064C77-022D-3743-A04E-645624933D1D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908599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B8FE05-4C35-37C5-8BE9-493D097266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572418-E6E9-02CD-B729-AD0ECCD06A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E" dirty="0"/>
              <a:t>The Probability Integral Transform (PIT) Histogram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85A2E78-123A-93AE-D374-284F7976027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20000"/>
              </a:bodyPr>
              <a:lstStyle/>
              <a:p>
                <a:r>
                  <a:rPr lang="en-IE" dirty="0"/>
                  <a:t>For an ensemble of size </a:t>
                </a:r>
                <a14:m>
                  <m:oMath xmlns:m="http://schemas.openxmlformats.org/officeDocument/2006/math">
                    <m:r>
                      <a:rPr lang="en-IE" i="1" dirty="0" smtClean="0"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r>
                  <a:rPr lang="en-IE" dirty="0"/>
                  <a:t> and an observation </a:t>
                </a:r>
                <a14:m>
                  <m:oMath xmlns:m="http://schemas.openxmlformats.org/officeDocument/2006/math">
                    <m:r>
                      <a:rPr lang="en-IE" i="1" dirty="0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IE" dirty="0"/>
                  <a:t>, we follow these steps:</a:t>
                </a:r>
              </a:p>
              <a:p>
                <a:pPr marL="971550" lvl="1" indent="-514350">
                  <a:buFont typeface="+mj-lt"/>
                  <a:buAutoNum type="arabicPeriod"/>
                </a:pPr>
                <a:r>
                  <a:rPr lang="en-IE" dirty="0"/>
                  <a:t>Sort the ensemble members in ascending order: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IE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IE" i="1" dirty="0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IE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IE" i="1" dirty="0">
                        <a:latin typeface="Cambria Math" panose="02040503050406030204" pitchFamily="18" charset="0"/>
                      </a:rPr>
                      <m:t>&lt;</m:t>
                    </m:r>
                    <m:sSub>
                      <m:sSubPr>
                        <m:ctrlPr>
                          <a:rPr lang="en-IE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IE" i="1" dirty="0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IE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IE" b="0" i="1" dirty="0" smtClean="0">
                        <a:latin typeface="Cambria Math" panose="02040503050406030204" pitchFamily="18" charset="0"/>
                      </a:rPr>
                      <m:t>&lt;…</m:t>
                    </m:r>
                    <m:r>
                      <a:rPr lang="en-IE" i="1" dirty="0">
                        <a:latin typeface="Cambria Math" panose="02040503050406030204" pitchFamily="18" charset="0"/>
                      </a:rPr>
                      <m:t>&lt;</m:t>
                    </m:r>
                    <m:sSub>
                      <m:sSubPr>
                        <m:ctrlPr>
                          <a:rPr lang="en-IE" i="1" dirty="0" err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IE" i="1" dirty="0" err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IE" i="1" dirty="0" err="1" smtClean="0">
                            <a:latin typeface="Cambria Math" panose="02040503050406030204" pitchFamily="18" charset="0"/>
                          </a:rPr>
                          <m:t>𝑀</m:t>
                        </m:r>
                      </m:sub>
                    </m:sSub>
                  </m:oMath>
                </a14:m>
                <a:endParaRPr lang="en-IE" dirty="0"/>
              </a:p>
              <a:p>
                <a:pPr marL="971550" lvl="1" indent="-514350">
                  <a:buFont typeface="+mj-lt"/>
                  <a:buAutoNum type="arabicPeriod"/>
                </a:pPr>
                <a:r>
                  <a:rPr lang="en-IE" dirty="0"/>
                  <a:t>Determine the rank </a:t>
                </a:r>
                <a14:m>
                  <m:oMath xmlns:m="http://schemas.openxmlformats.org/officeDocument/2006/math">
                    <m:r>
                      <a:rPr lang="en-IE" i="1" dirty="0" smtClean="0">
                        <a:latin typeface="Cambria Math" panose="02040503050406030204" pitchFamily="18" charset="0"/>
                      </a:rPr>
                      <m:t>𝑅</m:t>
                    </m:r>
                  </m:oMath>
                </a14:m>
                <a:r>
                  <a:rPr lang="en-IE" dirty="0"/>
                  <a:t> of the observation </a:t>
                </a:r>
                <a14:m>
                  <m:oMath xmlns:m="http://schemas.openxmlformats.org/officeDocument/2006/math">
                    <m:r>
                      <a:rPr lang="en-IE" i="1" dirty="0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IE" dirty="0"/>
                  <a:t> within this sorted list</a:t>
                </a:r>
              </a:p>
              <a:p>
                <a:pPr marL="971550" lvl="1" indent="-514350">
                  <a:buFont typeface="+mj-lt"/>
                  <a:buAutoNum type="arabicPeriod"/>
                </a:pPr>
                <a:r>
                  <a:rPr lang="en-IE" dirty="0"/>
                  <a:t>If </a:t>
                </a:r>
                <a14:m>
                  <m:oMath xmlns:m="http://schemas.openxmlformats.org/officeDocument/2006/math">
                    <m:r>
                      <a:rPr lang="en-IE" i="1" dirty="0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IE" dirty="0"/>
                  <a:t> is smaller than all members, </a:t>
                </a:r>
                <a14:m>
                  <m:oMath xmlns:m="http://schemas.openxmlformats.org/officeDocument/2006/math">
                    <m:r>
                      <a:rPr lang="en-IE" i="1" dirty="0" smtClean="0">
                        <a:latin typeface="Cambria Math" panose="02040503050406030204" pitchFamily="18" charset="0"/>
                      </a:rPr>
                      <m:t>𝑅</m:t>
                    </m:r>
                    <m:r>
                      <a:rPr lang="en-IE" i="1" dirty="0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endParaRPr lang="en-IE" dirty="0"/>
              </a:p>
              <a:p>
                <a:pPr marL="971550" lvl="1" indent="-514350">
                  <a:buFont typeface="+mj-lt"/>
                  <a:buAutoNum type="arabicPeriod"/>
                </a:pPr>
                <a:r>
                  <a:rPr lang="en-IE" dirty="0"/>
                  <a:t>If </a:t>
                </a:r>
                <a14:m>
                  <m:oMath xmlns:m="http://schemas.openxmlformats.org/officeDocument/2006/math">
                    <m:r>
                      <a:rPr lang="en-IE" i="1" dirty="0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IE" dirty="0"/>
                  <a:t> is between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IE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IE" i="1" dirty="0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IE" i="1" dirty="0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IE" dirty="0"/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IE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IE" i="1" dirty="0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IE" i="1" dirty="0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IE" b="0" i="1" dirty="0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</m:oMath>
                </a14:m>
                <a:r>
                  <a:rPr lang="en-IE" dirty="0"/>
                  <a:t>, </a:t>
                </a:r>
                <a14:m>
                  <m:oMath xmlns:m="http://schemas.openxmlformats.org/officeDocument/2006/math">
                    <m:r>
                      <a:rPr lang="en-IE" i="1" dirty="0" smtClean="0">
                        <a:latin typeface="Cambria Math" panose="02040503050406030204" pitchFamily="18" charset="0"/>
                      </a:rPr>
                      <m:t>𝑅</m:t>
                    </m:r>
                    <m:r>
                      <a:rPr lang="en-IE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IE" i="1" dirty="0" err="1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IE" b="0" i="1" dirty="0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IE" i="1" dirty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endParaRPr lang="en-IE" dirty="0"/>
              </a:p>
              <a:p>
                <a:pPr marL="971550" lvl="1" indent="-514350">
                  <a:buFont typeface="+mj-lt"/>
                  <a:buAutoNum type="arabicPeriod"/>
                </a:pPr>
                <a:r>
                  <a:rPr lang="en-IE" dirty="0"/>
                  <a:t>If </a:t>
                </a:r>
                <a14:m>
                  <m:oMath xmlns:m="http://schemas.openxmlformats.org/officeDocument/2006/math">
                    <m:r>
                      <a:rPr lang="en-IE" i="1" dirty="0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IE" dirty="0"/>
                  <a:t> is larger than all members, </a:t>
                </a:r>
                <a14:m>
                  <m:oMath xmlns:m="http://schemas.openxmlformats.org/officeDocument/2006/math">
                    <m:r>
                      <a:rPr lang="en-IE" i="1" dirty="0" smtClean="0">
                        <a:latin typeface="Cambria Math" panose="02040503050406030204" pitchFamily="18" charset="0"/>
                      </a:rPr>
                      <m:t>𝑅</m:t>
                    </m:r>
                    <m:r>
                      <a:rPr lang="en-IE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IE" i="1" dirty="0" smtClean="0">
                        <a:latin typeface="Cambria Math" panose="02040503050406030204" pitchFamily="18" charset="0"/>
                      </a:rPr>
                      <m:t>𝑀</m:t>
                    </m:r>
                    <m:r>
                      <a:rPr lang="en-IE" i="1" dirty="0" smtClean="0">
                        <a:latin typeface="Cambria Math" panose="02040503050406030204" pitchFamily="18" charset="0"/>
                      </a:rPr>
                      <m:t>+1</m:t>
                    </m:r>
                  </m:oMath>
                </a14:m>
                <a:endParaRPr lang="en-IE" dirty="0"/>
              </a:p>
              <a:p>
                <a:pPr marL="971550" lvl="1" indent="-514350">
                  <a:buFont typeface="+mj-lt"/>
                  <a:buAutoNum type="arabicPeriod"/>
                </a:pPr>
                <a:r>
                  <a:rPr lang="en-IE" dirty="0"/>
                  <a:t>(Optional) Standardise the rank to the interval </a:t>
                </a:r>
                <a14:m>
                  <m:oMath xmlns:m="http://schemas.openxmlformats.org/officeDocument/2006/math">
                    <m:r>
                      <a:rPr lang="en-IE" i="1" dirty="0" smtClean="0">
                        <a:latin typeface="Cambria Math" panose="02040503050406030204" pitchFamily="18" charset="0"/>
                      </a:rPr>
                      <m:t>[0, 1]</m:t>
                    </m:r>
                  </m:oMath>
                </a14:m>
                <a:r>
                  <a:rPr lang="en-IE" dirty="0"/>
                  <a:t> for the PIT value</a:t>
                </a:r>
              </a:p>
              <a:p>
                <a:r>
                  <a:rPr lang="en-IE" dirty="0">
                    <a:solidFill>
                      <a:srgbClr val="00427A"/>
                    </a:solidFill>
                  </a:rPr>
                  <a:t>Repeat for all </a:t>
                </a:r>
                <a14:m>
                  <m:oMath xmlns:m="http://schemas.openxmlformats.org/officeDocument/2006/math">
                    <m:r>
                      <a:rPr lang="en-IE" i="1" dirty="0" smtClean="0">
                        <a:solidFill>
                          <a:srgbClr val="00427A"/>
                        </a:solidFill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endParaRPr lang="en-IE" dirty="0">
                  <a:solidFill>
                    <a:srgbClr val="00427A"/>
                  </a:solidFill>
                </a:endParaRPr>
              </a:p>
              <a:p>
                <a:r>
                  <a:rPr lang="en-IE" dirty="0">
                    <a:solidFill>
                      <a:srgbClr val="009749"/>
                    </a:solidFill>
                  </a:rPr>
                  <a:t>Numerical example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85A2E78-123A-93AE-D374-284F7976027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16" t="-3659" r="-136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7E2E251-1E1C-232F-68AD-9A185B4ABC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064C77-022D-3743-A04E-645624933D1D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697175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8AFDFF-5D40-E83A-E71B-D6A4BCC063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The PIT for our data</a:t>
            </a: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1D85B9EB-0B81-5C6C-E0D3-EFE0F787F99A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838200" y="1903760"/>
            <a:ext cx="5181600" cy="4195067"/>
          </a:xfrm>
          <a:prstGeom prst="rect">
            <a:avLst/>
          </a:prstGeom>
        </p:spPr>
      </p:pic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0591E77F-05A2-BF0E-E5CD-C4D440E1B17C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IE" dirty="0"/>
              <a:t>A bit skewed</a:t>
            </a:r>
          </a:p>
          <a:p>
            <a:r>
              <a:rPr lang="en-IE" dirty="0"/>
              <a:t>Might need a richer model?</a:t>
            </a:r>
          </a:p>
          <a:p>
            <a:r>
              <a:rPr lang="en-IE" dirty="0"/>
              <a:t>Increase the number of hidden layers or the complexity of the NN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BDBE08F-F32B-4543-0DEF-6F88C0DE37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064C77-022D-3743-A04E-645624933D1D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058723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401CF0-CBA6-526A-EEE5-30E8D8010D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Other approaches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212A90-F05B-F8D2-896B-5307C11A3A8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Mixture Density Networks (MDN): output mixture weights, means &amp; variances</a:t>
            </a:r>
          </a:p>
          <a:p>
            <a:r>
              <a:rPr lang="en-US" dirty="0"/>
              <a:t>Quantile Regression Networks: output specific quantiles using pinball loss</a:t>
            </a:r>
          </a:p>
          <a:p>
            <a:r>
              <a:rPr lang="en-US" dirty="0"/>
              <a:t>Generative models (GANs/VAEs): sample entire distributions</a:t>
            </a:r>
          </a:p>
          <a:p>
            <a:r>
              <a:rPr lang="en-US" dirty="0"/>
              <a:t>Diffusion models: sample structured output from random inputs</a:t>
            </a:r>
          </a:p>
          <a:p>
            <a:r>
              <a:rPr lang="en-US" dirty="0"/>
              <a:t>Bayesian neural networks: place priors over weights to capture uncertainty</a:t>
            </a:r>
          </a:p>
          <a:p>
            <a:r>
              <a:rPr lang="en-US" dirty="0"/>
              <a:t>Prior data fitted networks (PFNs): use transformers to fit probabilistic models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D55B1DA-8E7D-C708-6434-7A1FD16F14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064C77-022D-3743-A04E-645624933D1D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047476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958BD6-BE71-2202-6A4A-4A98E856DB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 averaging and ensembles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32633B-84D3-B320-B3AE-F6C605939BA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363497" cy="4149290"/>
          </a:xfrm>
        </p:spPr>
        <p:txBody>
          <a:bodyPr>
            <a:normAutofit lnSpcReduction="10000"/>
          </a:bodyPr>
          <a:lstStyle/>
          <a:p>
            <a:r>
              <a:rPr lang="en-US" dirty="0"/>
              <a:t>Averaging multiple models can improve calibration and sharpness</a:t>
            </a:r>
          </a:p>
          <a:p>
            <a:r>
              <a:rPr lang="en-US" dirty="0"/>
              <a:t>Use ensembles of CNNs/LSTMs trained with different </a:t>
            </a:r>
            <a:r>
              <a:rPr lang="en-US" dirty="0" err="1"/>
              <a:t>initialisations</a:t>
            </a:r>
            <a:endParaRPr lang="en-US" dirty="0"/>
          </a:p>
          <a:p>
            <a:r>
              <a:rPr lang="en-US" dirty="0"/>
              <a:t>Alternatively combine models (including deterministic models) with probabilistic postprocessing (e.g., quantile regression)</a:t>
            </a:r>
          </a:p>
        </p:txBody>
      </p:sp>
      <p:graphicFrame>
        <p:nvGraphicFramePr>
          <p:cNvPr id="4" name="Chart 0">
            <a:extLst>
              <a:ext uri="{FF2B5EF4-FFF2-40B4-BE49-F238E27FC236}">
                <a16:creationId xmlns:a16="http://schemas.microsoft.com/office/drawing/2014/main" id="{6B4805CC-2862-F481-4ADB-1B38E945184E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142911812"/>
              </p:ext>
            </p:extLst>
          </p:nvPr>
        </p:nvGraphicFramePr>
        <p:xfrm>
          <a:off x="6711008" y="1825625"/>
          <a:ext cx="4389120" cy="26822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5" name="Text 2">
            <a:extLst>
              <a:ext uri="{FF2B5EF4-FFF2-40B4-BE49-F238E27FC236}">
                <a16:creationId xmlns:a16="http://schemas.microsoft.com/office/drawing/2014/main" id="{6BCA318C-09B0-160A-2546-7399723ECA9D}"/>
              </a:ext>
            </a:extLst>
          </p:cNvPr>
          <p:cNvSpPr/>
          <p:nvPr/>
        </p:nvSpPr>
        <p:spPr>
          <a:xfrm>
            <a:off x="6711008" y="4497051"/>
            <a:ext cx="4389120" cy="487680"/>
          </a:xfrm>
          <a:prstGeom prst="rect">
            <a:avLst/>
          </a:prstGeom>
          <a:solidFill>
            <a:schemeClr val="bg1"/>
          </a:solidFill>
          <a:ln/>
        </p:spPr>
        <p:txBody>
          <a:bodyPr wrap="square" rtlCol="0" anchor="ctr"/>
          <a:lstStyle/>
          <a:p>
            <a:r>
              <a:rPr lang="en-US" sz="1067" dirty="0">
                <a:solidFill>
                  <a:srgbClr val="0A2342"/>
                </a:solidFill>
              </a:rPr>
              <a:t>Average CRPS (lower is better)</a:t>
            </a:r>
            <a:endParaRPr lang="en-US" sz="1067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EB59BC5-143A-52F7-290C-331B739DCD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064C77-022D-3743-A04E-645624933D1D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471470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ED10AE-68F4-B105-D1DD-3C2B58FA4C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Limitations of probabilistic forecasting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D6D03E-CB00-C601-62A6-CE6F8D53761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Heavy tails and extreme events are difficult to model accurately</a:t>
            </a:r>
          </a:p>
          <a:p>
            <a:r>
              <a:rPr lang="en-US" dirty="0"/>
              <a:t>Probabilistic calibration may fail under distributional shift</a:t>
            </a:r>
          </a:p>
          <a:p>
            <a:r>
              <a:rPr lang="en-US" dirty="0"/>
              <a:t>Large computational cost of training CRPS/NLL losses for large models</a:t>
            </a:r>
          </a:p>
          <a:p>
            <a:r>
              <a:rPr lang="en-US" dirty="0"/>
              <a:t>Can be harder to interpret and communicate probabilistic forecasts to stakeholders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5E998A9-B427-E3F8-443E-397AA8B305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064C77-022D-3743-A04E-645624933D1D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707610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52E3C7-E02A-F443-93FF-99B0D12844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B1495C-38DD-F9F0-478E-D16C6E4C61E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dirty="0"/>
              <a:t>Probabilistic forecasts quantify uncertainty and enable risk‑aware decisions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dirty="0"/>
              <a:t>Proper scoring rules (Brier, Log, CRPS) provide objective loss functions that encourage calibration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dirty="0"/>
              <a:t>CNNs and LSTMs can be extended to output distribution parameters and trained with these scoring rules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dirty="0"/>
              <a:t>Calibration diagnostics (reliability diagrams, PIT histograms) are essential to evaluate forecasts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dirty="0"/>
              <a:t>Ensembles, proper hyperparameter tuning, and advanced models further improve probabilistic forecasts</a:t>
            </a:r>
          </a:p>
        </p:txBody>
      </p:sp>
    </p:spTree>
    <p:extLst>
      <p:ext uri="{BB962C8B-B14F-4D97-AF65-F5344CB8AC3E}">
        <p14:creationId xmlns:p14="http://schemas.microsoft.com/office/powerpoint/2010/main" val="290237525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196EB7C-273C-1DEF-37B2-B8997301D7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Topics we haven’t covered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CB08FEB1-5BC9-76C5-B7F7-9B61C65D47C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8348602" cy="4149290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Reinforcement learning: Learns policies via trial and error to potentially change how the model produces forecasts</a:t>
            </a:r>
          </a:p>
          <a:p>
            <a:r>
              <a:rPr lang="en-US" dirty="0"/>
              <a:t>Diffusion models: a generative approach that maps noise to e.g. realistic atmospheric states; enable ensemble generation, downscaling, and calibrated post-processing</a:t>
            </a:r>
          </a:p>
          <a:p>
            <a:r>
              <a:rPr lang="en-US" dirty="0"/>
              <a:t>Transfer learning: Leverages pretrained models or neighboring regions to boost weather forecasts when e.g. station data are scarce</a:t>
            </a:r>
          </a:p>
          <a:p>
            <a:r>
              <a:rPr lang="en-US" dirty="0"/>
              <a:t>Extremal NNs: Changing the loss function to match either univariate or (even better) multivariate extreme value models</a:t>
            </a:r>
            <a:endParaRPr lang="en-IE" dirty="0"/>
          </a:p>
        </p:txBody>
      </p:sp>
    </p:spTree>
    <p:extLst>
      <p:ext uri="{BB962C8B-B14F-4D97-AF65-F5344CB8AC3E}">
        <p14:creationId xmlns:p14="http://schemas.microsoft.com/office/powerpoint/2010/main" val="281998339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Aimsir_template_2" id="{885FC850-5704-7C40-B0D5-B2BE1CAB90DE}" vid="{17F42F5C-6F7C-FD4F-918A-67665F080F4C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1325</TotalTime>
  <Words>1739</Words>
  <Application>Microsoft Macintosh PowerPoint</Application>
  <PresentationFormat>Widescreen</PresentationFormat>
  <Paragraphs>184</Paragraphs>
  <Slides>24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30" baseType="lpstr">
      <vt:lpstr>Aptos</vt:lpstr>
      <vt:lpstr>Arial</vt:lpstr>
      <vt:lpstr>Calibri</vt:lpstr>
      <vt:lpstr>Cambria Math</vt:lpstr>
      <vt:lpstr>Courier New</vt:lpstr>
      <vt:lpstr>Office Theme</vt:lpstr>
      <vt:lpstr>Class 8: Probabilistic weather forecasting with NNs via scoring rules</vt:lpstr>
      <vt:lpstr>Outline</vt:lpstr>
      <vt:lpstr>Motivation</vt:lpstr>
      <vt:lpstr>Proper scoring rules</vt:lpstr>
      <vt:lpstr>Calibration and sharpness</vt:lpstr>
      <vt:lpstr>Brier score</vt:lpstr>
      <vt:lpstr>PowerPoint Presentation</vt:lpstr>
      <vt:lpstr>Logarithmic score</vt:lpstr>
      <vt:lpstr>Continuous ranked probability score (CRPS)</vt:lpstr>
      <vt:lpstr>PowerPoint Presentation</vt:lpstr>
      <vt:lpstr>Probabilistic Output Layers</vt:lpstr>
      <vt:lpstr>Probabilistic forecasting in PyTorch</vt:lpstr>
      <vt:lpstr>PyTorch part 2</vt:lpstr>
      <vt:lpstr>Adding probabilistic forecasting to other models</vt:lpstr>
      <vt:lpstr>Example: simple ANN with PyTorch</vt:lpstr>
      <vt:lpstr>Pytorch results from CRPS fit</vt:lpstr>
      <vt:lpstr>The Probability Integral Transform (PIT) Histogram</vt:lpstr>
      <vt:lpstr>The Probability Integral Transform (PIT) Histogram</vt:lpstr>
      <vt:lpstr>The PIT for our data</vt:lpstr>
      <vt:lpstr>Other approaches</vt:lpstr>
      <vt:lpstr>Model averaging and ensembles</vt:lpstr>
      <vt:lpstr>Limitations of probabilistic forecasting</vt:lpstr>
      <vt:lpstr>Summary</vt:lpstr>
      <vt:lpstr>Topics we haven’t covered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Andrew Parnell</dc:creator>
  <cp:lastModifiedBy>Andrew Parnell</cp:lastModifiedBy>
  <cp:revision>126</cp:revision>
  <dcterms:created xsi:type="dcterms:W3CDTF">2025-09-24T09:34:21Z</dcterms:created>
  <dcterms:modified xsi:type="dcterms:W3CDTF">2026-02-28T16:40:00Z</dcterms:modified>
</cp:coreProperties>
</file>