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3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363" r:id="rId3"/>
    <p:sldId id="366" r:id="rId4"/>
    <p:sldId id="367" r:id="rId5"/>
    <p:sldId id="372" r:id="rId6"/>
    <p:sldId id="368" r:id="rId7"/>
    <p:sldId id="394" r:id="rId8"/>
    <p:sldId id="369" r:id="rId9"/>
    <p:sldId id="370" r:id="rId10"/>
    <p:sldId id="396" r:id="rId11"/>
    <p:sldId id="374" r:id="rId12"/>
    <p:sldId id="388" r:id="rId13"/>
    <p:sldId id="389" r:id="rId14"/>
    <p:sldId id="375" r:id="rId15"/>
    <p:sldId id="378" r:id="rId16"/>
    <p:sldId id="379" r:id="rId17"/>
    <p:sldId id="390" r:id="rId18"/>
    <p:sldId id="397" r:id="rId19"/>
    <p:sldId id="391" r:id="rId20"/>
    <p:sldId id="382" r:id="rId21"/>
    <p:sldId id="380" r:id="rId22"/>
    <p:sldId id="384" r:id="rId23"/>
    <p:sldId id="285" r:id="rId24"/>
    <p:sldId id="39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27A"/>
    <a:srgbClr val="009749"/>
    <a:srgbClr val="0095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8" autoAdjust="0"/>
    <p:restoredTop sz="94699"/>
  </p:normalViewPr>
  <p:slideViewPr>
    <p:cSldViewPr snapToGrid="0">
      <p:cViewPr varScale="1">
        <p:scale>
          <a:sx n="115" d="100"/>
          <a:sy n="115" d="100"/>
        </p:scale>
        <p:origin x="7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ln w="25400" cap="flat">
              <a:solidFill>
                <a:srgbClr val="3C6E71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3C6E71"/>
              </a:solidFill>
              <a:ln w="9525" cap="flat">
                <a:solidFill>
                  <a:srgbClr val="3C6E71"/>
                </a:solidFill>
                <a:prstDash val="solid"/>
                <a:round/>
              </a:ln>
              <a:effectLst/>
            </c:spPr>
          </c:marker>
          <c:cat>
            <c:strRef>
              <c:f>Sheet1!$A$2:$A$42</c:f>
              <c:strCache>
                <c:ptCount val="41"/>
                <c:pt idx="0">
                  <c:v>-3.00</c:v>
                </c:pt>
                <c:pt idx="1">
                  <c:v>-2.85</c:v>
                </c:pt>
                <c:pt idx="2">
                  <c:v>-2.70</c:v>
                </c:pt>
                <c:pt idx="3">
                  <c:v>-2.55</c:v>
                </c:pt>
                <c:pt idx="4">
                  <c:v>-2.40</c:v>
                </c:pt>
                <c:pt idx="5">
                  <c:v>-2.25</c:v>
                </c:pt>
                <c:pt idx="6">
                  <c:v>-2.10</c:v>
                </c:pt>
                <c:pt idx="7">
                  <c:v>-1.95</c:v>
                </c:pt>
                <c:pt idx="8">
                  <c:v>-1.80</c:v>
                </c:pt>
                <c:pt idx="9">
                  <c:v>-1.65</c:v>
                </c:pt>
                <c:pt idx="10">
                  <c:v>-1.50</c:v>
                </c:pt>
                <c:pt idx="11">
                  <c:v>-1.35</c:v>
                </c:pt>
                <c:pt idx="12">
                  <c:v>-1.20</c:v>
                </c:pt>
                <c:pt idx="13">
                  <c:v>-1.05</c:v>
                </c:pt>
                <c:pt idx="14">
                  <c:v>-0.90</c:v>
                </c:pt>
                <c:pt idx="15">
                  <c:v>-0.75</c:v>
                </c:pt>
                <c:pt idx="16">
                  <c:v>-0.60</c:v>
                </c:pt>
                <c:pt idx="17">
                  <c:v>-0.45</c:v>
                </c:pt>
                <c:pt idx="18">
                  <c:v>-0.30</c:v>
                </c:pt>
                <c:pt idx="19">
                  <c:v>-0.15</c:v>
                </c:pt>
                <c:pt idx="20">
                  <c:v>0.00</c:v>
                </c:pt>
                <c:pt idx="21">
                  <c:v>0.15</c:v>
                </c:pt>
                <c:pt idx="22">
                  <c:v>0.30</c:v>
                </c:pt>
                <c:pt idx="23">
                  <c:v>0.45</c:v>
                </c:pt>
                <c:pt idx="24">
                  <c:v>0.60</c:v>
                </c:pt>
                <c:pt idx="25">
                  <c:v>0.75</c:v>
                </c:pt>
                <c:pt idx="26">
                  <c:v>0.90</c:v>
                </c:pt>
                <c:pt idx="27">
                  <c:v>1.05</c:v>
                </c:pt>
                <c:pt idx="28">
                  <c:v>1.20</c:v>
                </c:pt>
                <c:pt idx="29">
                  <c:v>1.35</c:v>
                </c:pt>
                <c:pt idx="30">
                  <c:v>1.50</c:v>
                </c:pt>
                <c:pt idx="31">
                  <c:v>1.65</c:v>
                </c:pt>
                <c:pt idx="32">
                  <c:v>1.80</c:v>
                </c:pt>
                <c:pt idx="33">
                  <c:v>1.95</c:v>
                </c:pt>
                <c:pt idx="34">
                  <c:v>2.10</c:v>
                </c:pt>
                <c:pt idx="35">
                  <c:v>2.25</c:v>
                </c:pt>
                <c:pt idx="36">
                  <c:v>2.40</c:v>
                </c:pt>
                <c:pt idx="37">
                  <c:v>2.55</c:v>
                </c:pt>
                <c:pt idx="38">
                  <c:v>2.70</c:v>
                </c:pt>
                <c:pt idx="39">
                  <c:v>2.85</c:v>
                </c:pt>
                <c:pt idx="40">
                  <c:v>3.00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1.1108996538242306E-2</c:v>
                </c:pt>
                <c:pt idx="1">
                  <c:v>1.7227471311635108E-2</c:v>
                </c:pt>
                <c:pt idx="2">
                  <c:v>2.6121409853918223E-2</c:v>
                </c:pt>
                <c:pt idx="3">
                  <c:v>3.8725770351664364E-2</c:v>
                </c:pt>
                <c:pt idx="4">
                  <c:v>5.6134762834133725E-2</c:v>
                </c:pt>
                <c:pt idx="5">
                  <c:v>7.9559508718227687E-2</c:v>
                </c:pt>
                <c:pt idx="6">
                  <c:v>0.11025052530448522</c:v>
                </c:pt>
                <c:pt idx="7">
                  <c:v>0.14938177525041804</c:v>
                </c:pt>
                <c:pt idx="8">
                  <c:v>0.19789869908361465</c:v>
                </c:pt>
                <c:pt idx="9">
                  <c:v>0.25634015141507366</c:v>
                </c:pt>
                <c:pt idx="10">
                  <c:v>0.32465246735834974</c:v>
                </c:pt>
                <c:pt idx="11">
                  <c:v>0.40202138309465485</c:v>
                </c:pt>
                <c:pt idx="12">
                  <c:v>0.48675225595997168</c:v>
                </c:pt>
                <c:pt idx="13">
                  <c:v>0.57622907367179987</c:v>
                </c:pt>
                <c:pt idx="14">
                  <c:v>0.66697681085847438</c:v>
                </c:pt>
                <c:pt idx="15">
                  <c:v>0.75483960198900735</c:v>
                </c:pt>
                <c:pt idx="16">
                  <c:v>0.835270211411272</c:v>
                </c:pt>
                <c:pt idx="17">
                  <c:v>0.90370707787319604</c:v>
                </c:pt>
                <c:pt idx="18">
                  <c:v>0.95599748183309996</c:v>
                </c:pt>
                <c:pt idx="19">
                  <c:v>0.98881304461123309</c:v>
                </c:pt>
                <c:pt idx="20">
                  <c:v>1</c:v>
                </c:pt>
                <c:pt idx="21">
                  <c:v>0.98881304461123309</c:v>
                </c:pt>
                <c:pt idx="22">
                  <c:v>0.95599748183309996</c:v>
                </c:pt>
                <c:pt idx="23">
                  <c:v>0.90370707787319604</c:v>
                </c:pt>
                <c:pt idx="24">
                  <c:v>0.835270211411272</c:v>
                </c:pt>
                <c:pt idx="25">
                  <c:v>0.75483960198900735</c:v>
                </c:pt>
                <c:pt idx="26">
                  <c:v>0.66697681085847438</c:v>
                </c:pt>
                <c:pt idx="27">
                  <c:v>0.57622907367179987</c:v>
                </c:pt>
                <c:pt idx="28">
                  <c:v>0.48675225595997168</c:v>
                </c:pt>
                <c:pt idx="29">
                  <c:v>0.40202138309465485</c:v>
                </c:pt>
                <c:pt idx="30">
                  <c:v>0.32465246735834974</c:v>
                </c:pt>
                <c:pt idx="31">
                  <c:v>0.25634015141507366</c:v>
                </c:pt>
                <c:pt idx="32">
                  <c:v>0.19789869908361465</c:v>
                </c:pt>
                <c:pt idx="33">
                  <c:v>0.14938177525041804</c:v>
                </c:pt>
                <c:pt idx="34">
                  <c:v>0.11025052530448522</c:v>
                </c:pt>
                <c:pt idx="35">
                  <c:v>7.9559508718227687E-2</c:v>
                </c:pt>
                <c:pt idx="36">
                  <c:v>5.6134762834133725E-2</c:v>
                </c:pt>
                <c:pt idx="37">
                  <c:v>3.8725770351664364E-2</c:v>
                </c:pt>
                <c:pt idx="38">
                  <c:v>2.6121409853918223E-2</c:v>
                </c:pt>
                <c:pt idx="39">
                  <c:v>1.7227471311635108E-2</c:v>
                </c:pt>
                <c:pt idx="40">
                  <c:v>1.1108996538242306E-2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22A-1249-B83B-ECC53B6FD2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</c:v>
                </c:pt>
              </c:strCache>
            </c:strRef>
          </c:tx>
          <c:spPr>
            <a:ln w="25400" cap="flat">
              <a:solidFill>
                <a:srgbClr val="3C6E7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C6E71"/>
              </a:solidFill>
              <a:ln w="9525" cap="flat">
                <a:solidFill>
                  <a:srgbClr val="3C6E71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0–0.1</c:v>
                </c:pt>
                <c:pt idx="1">
                  <c:v>0.1–0.2</c:v>
                </c:pt>
                <c:pt idx="2">
                  <c:v>0.2–0.3</c:v>
                </c:pt>
                <c:pt idx="3">
                  <c:v>0.3–0.4</c:v>
                </c:pt>
                <c:pt idx="4">
                  <c:v>0.4–0.5</c:v>
                </c:pt>
                <c:pt idx="5">
                  <c:v>0.5–0.6</c:v>
                </c:pt>
                <c:pt idx="6">
                  <c:v>0.6–0.7</c:v>
                </c:pt>
                <c:pt idx="7">
                  <c:v>0.7–0.8</c:v>
                </c:pt>
                <c:pt idx="8">
                  <c:v>0.8–0.9</c:v>
                </c:pt>
                <c:pt idx="9">
                  <c:v>0.9–1.0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0.05</c:v>
                </c:pt>
                <c:pt idx="1">
                  <c:v>0.15</c:v>
                </c:pt>
                <c:pt idx="2">
                  <c:v>0.25</c:v>
                </c:pt>
                <c:pt idx="3">
                  <c:v>0.35</c:v>
                </c:pt>
                <c:pt idx="4">
                  <c:v>0.45</c:v>
                </c:pt>
                <c:pt idx="5">
                  <c:v>0.55000000000000004</c:v>
                </c:pt>
                <c:pt idx="6">
                  <c:v>0.65</c:v>
                </c:pt>
                <c:pt idx="7">
                  <c:v>0.75</c:v>
                </c:pt>
                <c:pt idx="8">
                  <c:v>0.85</c:v>
                </c:pt>
                <c:pt idx="9">
                  <c:v>0.95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5C5-6C4D-9559-D78148F50F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Observed</c:v>
                </c:pt>
              </c:strCache>
            </c:strRef>
          </c:tx>
          <c:spPr>
            <a:ln w="25400" cap="flat">
              <a:solidFill>
                <a:srgbClr val="284B6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4B63"/>
              </a:solidFill>
              <a:ln w="9525" cap="flat">
                <a:solidFill>
                  <a:srgbClr val="284B63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0–0.1</c:v>
                </c:pt>
                <c:pt idx="1">
                  <c:v>0.1–0.2</c:v>
                </c:pt>
                <c:pt idx="2">
                  <c:v>0.2–0.3</c:v>
                </c:pt>
                <c:pt idx="3">
                  <c:v>0.3–0.4</c:v>
                </c:pt>
                <c:pt idx="4">
                  <c:v>0.4–0.5</c:v>
                </c:pt>
                <c:pt idx="5">
                  <c:v>0.5–0.6</c:v>
                </c:pt>
                <c:pt idx="6">
                  <c:v>0.6–0.7</c:v>
                </c:pt>
                <c:pt idx="7">
                  <c:v>0.7–0.8</c:v>
                </c:pt>
                <c:pt idx="8">
                  <c:v>0.8–0.9</c:v>
                </c:pt>
                <c:pt idx="9">
                  <c:v>0.9–1.0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0.03</c:v>
                </c:pt>
                <c:pt idx="1">
                  <c:v>0.14000000000000001</c:v>
                </c:pt>
                <c:pt idx="2">
                  <c:v>0.2</c:v>
                </c:pt>
                <c:pt idx="3">
                  <c:v>0.33</c:v>
                </c:pt>
                <c:pt idx="4">
                  <c:v>0.41</c:v>
                </c:pt>
                <c:pt idx="5">
                  <c:v>0.52</c:v>
                </c:pt>
                <c:pt idx="6">
                  <c:v>0.67</c:v>
                </c:pt>
                <c:pt idx="7">
                  <c:v>0.7</c:v>
                </c:pt>
                <c:pt idx="8">
                  <c:v>0.88</c:v>
                </c:pt>
                <c:pt idx="9">
                  <c:v>0.93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5C5-6C4D-9559-D78148F50F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solidFill>
            <a:schemeClr val="bg1"/>
          </a:solidFill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23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234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solidFill>
          <a:schemeClr val="bg1"/>
        </a:solidFill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Single Model</c:v>
                </c:pt>
              </c:strCache>
            </c:strRef>
          </c:tx>
          <c:spPr>
            <a:solidFill>
              <a:srgbClr val="3C6E71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CRPS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CA-D847-9D7B-5DED65DAA5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Ensemble</c:v>
                </c:pt>
              </c:strCache>
            </c:strRef>
          </c:tx>
          <c:spPr>
            <a:solidFill>
              <a:srgbClr val="284B63"/>
            </a:solidFill>
            <a:effectLst/>
          </c:spPr>
          <c:invertIfNegative val="0"/>
          <c:cat>
            <c:strRef>
              <c:f>Sheet1!$A$2:$A$2</c:f>
              <c:strCache>
                <c:ptCount val="1"/>
                <c:pt idx="0">
                  <c:v>CRPS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CA-D847-9D7B-5DED65DAA5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solidFill>
          <a:schemeClr val="bg1"/>
        </a:solidFill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685EE-3D40-0A4E-BB88-46887330FC0A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52F2A-FA59-1746-ABA5-28C394E5E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5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368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68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60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If you use Mean Absolute Error (MAE) as a loss function, the "optimal" strategy for the model is to predict the </a:t>
            </a:r>
            <a:r>
              <a:rPr lang="en-IE" b="1" dirty="0"/>
              <a:t>median</a:t>
            </a:r>
            <a:r>
              <a:rPr lang="en-IE" dirty="0"/>
              <a:t>. If you use Mean Squared Error (MSE), it predicts the </a:t>
            </a:r>
            <a:r>
              <a:rPr lang="en-IE" b="1" dirty="0"/>
              <a:t>mean</a:t>
            </a:r>
            <a:r>
              <a:rPr lang="en-IE" dirty="0"/>
              <a:t>. Only proper scoring rules like CRPS force the model to estimate the </a:t>
            </a:r>
            <a:r>
              <a:rPr lang="en-IE" b="1" dirty="0"/>
              <a:t>entire distribution</a:t>
            </a:r>
            <a:r>
              <a:rPr lang="en-IE" dirty="0"/>
              <a:t>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32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18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Reasoning: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$(0.5 - 1)^2 = 0.25$</a:t>
            </a:r>
            <a:r>
              <a:rPr lang="en-IE" dirty="0"/>
              <a:t> and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$(0.5 - 0)^2 = 0.25$</a:t>
            </a:r>
            <a:r>
              <a:rPr lang="en-IE" dirty="0"/>
              <a:t>. Since rain happens 50% of the time, the average score is </a:t>
            </a:r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$0.25$</a:t>
            </a:r>
            <a:r>
              <a:rPr lang="en-IE" dirty="0"/>
              <a:t>. This teaches students that a Brier Score can be "okay" while the forecast is still "unsharp" (uninformative).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101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modify the notes in this section to avoid tampering with the Poll Everywhere activity.
More info at </a:t>
            </a:r>
            <a:r>
              <a:rPr lang="en-US" dirty="0" err="1"/>
              <a:t>polleverywhere.com</a:t>
            </a:r>
            <a:r>
              <a:rPr lang="en-US" dirty="0"/>
              <a:t>/support
Suppose a model always predicts a 50% probability of rain ($$p = 0.5$$) for every single day. If it actually rains on exactly 50% of the days, what is the Brier Score of this model, and what does it reveal about the forecast quality?</a:t>
            </a:r>
          </a:p>
          <a:p>
            <a:r>
              <a:rPr lang="en-US" dirty="0"/>
              <a:t>https://</a:t>
            </a:r>
            <a:r>
              <a:rPr lang="en-US" dirty="0" err="1"/>
              <a:t>www.polleverywhere.com</a:t>
            </a:r>
            <a:r>
              <a:rPr lang="en-US" dirty="0"/>
              <a:t>/</a:t>
            </a:r>
            <a:r>
              <a:rPr lang="en-US" dirty="0" err="1"/>
              <a:t>multiple_choice_polls</a:t>
            </a:r>
            <a:r>
              <a:rPr lang="en-US" dirty="0"/>
              <a:t>/vd3UrKUYILga0TJnv0kQ2?state=</a:t>
            </a:r>
            <a:r>
              <a:rPr lang="en-US" dirty="0" err="1"/>
              <a:t>opened&amp;flow</a:t>
            </a:r>
            <a:r>
              <a:rPr lang="en-US" dirty="0"/>
              <a:t>=</a:t>
            </a:r>
            <a:r>
              <a:rPr lang="en-US" dirty="0" err="1"/>
              <a:t>Default&amp;onscreen</a:t>
            </a:r>
            <a:r>
              <a:rPr lang="en-US" dirty="0"/>
              <a:t>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337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15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10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The CRPS is often described as a generalisation of the Mean Absolute Error (MAE). If a model provides a perfectly "sharp" deterministic forecast (where the standard deviation $$\sigma$$ is zero), what does the CRPS value become?</a:t>
            </a:r>
          </a:p>
          <a:p>
            <a:r>
              <a:rPr lang="en-US"/>
              <a:t>https://www.polleverywhere.com/multiple_choice_polls/P3B4HihRUR32bagwfF4v6?state=opened&amp;flow=Default&amp;onscreen=persist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7971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0720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5565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2221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779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7560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5932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0985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502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9447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2358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1312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6966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78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lou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7043C3A-33ED-42EC-99E6-B5FE9049A83B}" type="datetime3">
              <a:rPr lang="en-IE" smtClean="0"/>
              <a:t>2 March 2026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8403D-CA02-EE11-96CC-8E09913F64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5570" y="662410"/>
            <a:ext cx="4921049" cy="302352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CDEDBC2-BC30-A9CA-49BA-CCA6F9CEB8A7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chemeClr val="bg1"/>
                </a:solidFill>
              </a:rPr>
              <a:t>Andrew Parnell</a:t>
            </a:r>
            <a:endParaRPr lang="en-US" sz="3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987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95EAAC-03A2-8D88-C693-5373EC4D99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5570" y="661140"/>
            <a:ext cx="4921049" cy="3023526"/>
          </a:xfrm>
          <a:prstGeom prst="rect">
            <a:avLst/>
          </a:prstGeom>
        </p:spPr>
      </p:pic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A20550B1-742F-4033-AAB7-DC28BBBCACAB}" type="datetime3">
              <a:rPr lang="en-IE" smtClean="0"/>
              <a:t>2 March 2026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BF4638-05BC-68BF-F886-C5874806A86A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chemeClr val="bg1"/>
                </a:solidFill>
              </a:rPr>
              <a:t>Presentation</a:t>
            </a:r>
            <a:r>
              <a:rPr lang="en-GB" sz="3200" b="0" dirty="0">
                <a:solidFill>
                  <a:schemeClr val="bg1"/>
                </a:solidFill>
              </a:rPr>
              <a:t> subtitle</a:t>
            </a:r>
            <a:endParaRPr lang="en-US" sz="3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839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9FE3EDE-25F4-E49F-B1D6-86A03CE1B128}"/>
              </a:ext>
            </a:extLst>
          </p:cNvPr>
          <p:cNvSpPr txBox="1">
            <a:spLocks/>
          </p:cNvSpPr>
          <p:nvPr userDrawn="1"/>
        </p:nvSpPr>
        <p:spPr>
          <a:xfrm>
            <a:off x="775570" y="4975355"/>
            <a:ext cx="9144000" cy="816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b="1" kern="1200">
                <a:solidFill>
                  <a:srgbClr val="00959F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sz="3500" b="0" dirty="0">
                <a:solidFill>
                  <a:srgbClr val="00427A"/>
                </a:solidFill>
              </a:rPr>
              <a:t>Presentation</a:t>
            </a:r>
            <a:r>
              <a:rPr lang="en-GB" sz="3200" b="0" dirty="0">
                <a:solidFill>
                  <a:srgbClr val="00427A"/>
                </a:solidFill>
              </a:rPr>
              <a:t> subtitle</a:t>
            </a:r>
            <a:endParaRPr lang="en-US" sz="3200" b="0" dirty="0">
              <a:solidFill>
                <a:srgbClr val="00427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rgbClr val="00959F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0042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1E91F8A-F806-4B78-A2A3-404C465D9606}" type="datetime3">
              <a:rPr lang="en-IE" smtClean="0"/>
              <a:t>2 March 2026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57DE2-DEBB-B17B-3186-6B7F239D4C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70858" y="764010"/>
            <a:ext cx="4921049" cy="302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66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936AE-C30A-53BD-4925-C496BE6C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265C0-0ACE-3E63-95B9-D176766F2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1563B-497A-31DF-3662-C17ACF7D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0AD6-AAEF-8A4F-2919-ED9A3F9B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90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F2AFB-F4C4-719F-41DE-8454632EB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835495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AA946-8443-8B80-0497-6EB6FAAD0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71E3E-2DD5-AE03-E092-6934E2C4A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E6B2A-3B08-3B49-5EC6-5F1CF60C6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83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0CB63-89BA-5DA1-ABAC-95F644463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EC219-68C6-906B-6B38-F56C88CEA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5E0A4-A8B0-2CA7-E857-19478981F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4EDF8-107F-48D4-9168-408544498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97297-368B-D76D-B573-F2EA9B4F5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90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E21E6-E145-FB62-1B42-F05F62D34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A92D5-85D4-798F-6073-C1BBC39E8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1B856-F9DF-6501-6837-20D15C2F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0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6B62E2-EFD1-BADE-5ADC-CDA692DD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CE0D8-9D28-4B5B-E0D8-6FD104DED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2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Turquio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DF105-7039-1C6D-7FC1-89C7ACEF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8348602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C9D1A-B681-480B-51E4-53A881918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439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mediu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167D2C-5176-1ED3-A328-C37831632F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52165" y="3305069"/>
            <a:ext cx="8928728" cy="35529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83037B-3C53-AD11-3C53-4E910F029F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75" y="0"/>
            <a:ext cx="12188825" cy="685978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433CFB9-3CD0-7249-3875-4CDCC3265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04C136-FB56-3E5C-714E-C7C451450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6193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C7DCCB-0C89-D983-30F6-838DCED371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66117" y="656799"/>
            <a:ext cx="11071312" cy="6201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A480F3-BC76-00B6-24D5-C07DB00D847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179" y="251012"/>
            <a:ext cx="12188821" cy="68597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57DC5C-07B9-1D3E-E60F-4C4449E40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138B3-4A13-4988-0617-30422C752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rgbClr val="00959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0134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8423E0-7FF4-AD5A-A90B-2A9E4134C1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088573" y="1468037"/>
            <a:ext cx="9622971" cy="53899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E33A7B-C77A-0333-901F-1F517FC1279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176" y="0"/>
            <a:ext cx="12188821" cy="685978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AE34A2-289C-9C29-7331-CFD9F1AE7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389" y="1060256"/>
            <a:ext cx="6336026" cy="3668564"/>
          </a:xfrm>
        </p:spPr>
        <p:txBody>
          <a:bodyPr>
            <a:normAutofit/>
          </a:bodyPr>
          <a:lstStyle>
            <a:lvl1pPr marL="0" indent="0" algn="r">
              <a:buNone/>
              <a:defRPr sz="3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6023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F8EE0-63FD-90C7-A8F6-6E35CF6388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6B8AAD-E381-9F48-3A73-7ED346C378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0F77C-8225-FE1C-8BCF-98C1B4A28C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7CDB0-0156-39D4-AA59-E150060B2F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230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340C0-73B3-BCF7-0724-038E70BF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6D448-5D41-D2C8-31F6-3E2418064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8348602" cy="4149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23E6A-37C4-5F0F-726D-1ACD6A231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18356"/>
            <a:ext cx="29759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40BB7-8BAA-0B2D-4F0A-22069252A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5096" y="6118356"/>
            <a:ext cx="19217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44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62" r:id="rId9"/>
    <p:sldLayoutId id="2147483664" r:id="rId10"/>
    <p:sldLayoutId id="2147483665" r:id="rId11"/>
    <p:sldLayoutId id="2147483666" r:id="rId12"/>
    <p:sldLayoutId id="2147483667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959F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E127A-D7C1-984F-9005-D54B2E23A7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Class 8: Probabilistic weather forecasting with NNs via scoring rules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82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15577-5ABC-E8E5-35C3-8F4AB6145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E3CD1-7275-6762-DF32-C1DB3F061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Motivation</a:t>
            </a:r>
          </a:p>
          <a:p>
            <a:r>
              <a:rPr lang="en-US" dirty="0"/>
              <a:t>Proper scoring rules: Brier, Log, CRPS</a:t>
            </a:r>
          </a:p>
          <a:p>
            <a:r>
              <a:rPr lang="en-US" dirty="0"/>
              <a:t>Calibration &amp; sharpness diagnostics</a:t>
            </a:r>
          </a:p>
          <a:p>
            <a:r>
              <a:rPr lang="en-US" dirty="0"/>
              <a:t>CNN architectures for probabilistic outputs</a:t>
            </a:r>
          </a:p>
          <a:p>
            <a:r>
              <a:rPr lang="en-US" dirty="0"/>
              <a:t>LSTM architectures for probabilistic outputs</a:t>
            </a:r>
          </a:p>
          <a:p>
            <a:r>
              <a:rPr lang="en-US" dirty="0"/>
              <a:t>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937FE-864A-13EE-BF1E-C13C4D854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727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CAE16-A3EA-010F-FED0-E73748F27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6E42C-A333-4111-64A2-C59C4CEEC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47852" cy="414929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Deterministic forecasts provide a single point estimate</a:t>
            </a:r>
          </a:p>
          <a:p>
            <a:r>
              <a:rPr lang="en-US" dirty="0"/>
              <a:t>Probabilistic forecasts assign a distribution to the future – essential for risk‑aware decisions</a:t>
            </a:r>
          </a:p>
          <a:p>
            <a:r>
              <a:rPr lang="en-US" dirty="0"/>
              <a:t>Calibration measures statistical consistency between predicted and observed distributions</a:t>
            </a:r>
          </a:p>
          <a:p>
            <a:r>
              <a:rPr lang="en-US" dirty="0"/>
              <a:t>Sharpness reflects the concentration of the predictive distribution; the goal is sharp and calibrated forecasts</a:t>
            </a:r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3A1C4266-C920-BFB8-A3EF-25B9A4CBB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9095247"/>
              </p:ext>
            </p:extLst>
          </p:nvPr>
        </p:nvGraphicFramePr>
        <p:xfrm>
          <a:off x="6489290" y="1459107"/>
          <a:ext cx="451104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>
            <a:extLst>
              <a:ext uri="{FF2B5EF4-FFF2-40B4-BE49-F238E27FC236}">
                <a16:creationId xmlns:a16="http://schemas.microsoft.com/office/drawing/2014/main" id="{44ABD9B1-C545-DBCA-1667-558087E8E57E}"/>
              </a:ext>
            </a:extLst>
          </p:cNvPr>
          <p:cNvSpPr/>
          <p:nvPr/>
        </p:nvSpPr>
        <p:spPr>
          <a:xfrm>
            <a:off x="8440010" y="1459107"/>
            <a:ext cx="12192" cy="3048000"/>
          </a:xfrm>
          <a:prstGeom prst="line">
            <a:avLst/>
          </a:prstGeom>
          <a:noFill/>
          <a:ln w="19050">
            <a:solidFill>
              <a:srgbClr val="284B63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083094C-10A6-24AC-4307-6C8427114A1F}"/>
              </a:ext>
            </a:extLst>
          </p:cNvPr>
          <p:cNvSpPr/>
          <p:nvPr/>
        </p:nvSpPr>
        <p:spPr>
          <a:xfrm>
            <a:off x="9601200" y="2550257"/>
            <a:ext cx="195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3C6E71"/>
                </a:solidFill>
              </a:rPr>
              <a:t>Distribution</a:t>
            </a:r>
            <a:endParaRPr lang="en-US" sz="1067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2A925B1-D5F0-4B17-D7BE-54ADC5334A57}"/>
              </a:ext>
            </a:extLst>
          </p:cNvPr>
          <p:cNvSpPr/>
          <p:nvPr/>
        </p:nvSpPr>
        <p:spPr>
          <a:xfrm>
            <a:off x="8135210" y="1155782"/>
            <a:ext cx="121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284B63"/>
                </a:solidFill>
              </a:rPr>
              <a:t>Point</a:t>
            </a:r>
            <a:endParaRPr lang="en-US" sz="1067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8D6097E-3905-32B2-1A7F-DE2F91D25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86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D6CDA-CD87-3D0B-A80C-AA4D3186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 scoring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D5D13-464D-AE98-22DA-D49E9476B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03236" cy="303677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Scoring rules evaluate probabilistic forecasts by comparing the predicted distribution to the observed value</a:t>
            </a:r>
          </a:p>
          <a:p>
            <a:r>
              <a:rPr lang="en-US" dirty="0"/>
              <a:t>A scoring rule is strictly proper if the expected score is </a:t>
            </a:r>
            <a:r>
              <a:rPr lang="en-US" dirty="0" err="1"/>
              <a:t>minimised</a:t>
            </a:r>
            <a:r>
              <a:rPr lang="en-US" dirty="0"/>
              <a:t> when the forecast distribution equals the true distribution</a:t>
            </a:r>
          </a:p>
          <a:p>
            <a:r>
              <a:rPr lang="en-US" dirty="0"/>
              <a:t>Proper scoring rules encourage calibration and discourage hedging – making too conservative forecasts</a:t>
            </a:r>
          </a:p>
          <a:p>
            <a:r>
              <a:rPr lang="en-US" dirty="0" err="1"/>
              <a:t>Popularised</a:t>
            </a:r>
            <a:r>
              <a:rPr lang="en-US" dirty="0"/>
              <a:t> by Gneiting and Raftery (2007)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EAC8E-2EC7-3C61-07F5-5C66B2B9C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119D037-EE20-1E16-CE3E-E6E1407F9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786701"/>
              </p:ext>
            </p:extLst>
          </p:nvPr>
        </p:nvGraphicFramePr>
        <p:xfrm>
          <a:off x="838200" y="4997332"/>
          <a:ext cx="812800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23965298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81851395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8410477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4211247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54343908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2755399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 b="0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 b="0" dirty="0"/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 b="0" dirty="0"/>
                        <a:t>Std deviation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 b="0"/>
                        <a:t>Observation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 b="0" dirty="0"/>
                        <a:t>Scoring rule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600" b="0" dirty="0"/>
                        <a:t>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8820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027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11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6471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18252-4496-DC1D-C78F-A2FC8216B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Calibration and sharpness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5A2D9-9FB8-EB60-BA99-7771EAD6D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4394" cy="4149290"/>
          </a:xfrm>
        </p:spPr>
        <p:txBody>
          <a:bodyPr>
            <a:normAutofit/>
          </a:bodyPr>
          <a:lstStyle/>
          <a:p>
            <a:r>
              <a:rPr lang="en-US" dirty="0"/>
              <a:t>Reliability: predicted probabilities match observed frequencies</a:t>
            </a:r>
          </a:p>
          <a:p>
            <a:r>
              <a:rPr lang="en-US" dirty="0"/>
              <a:t>Sharpness: predictive distributions are as concentrated as possible</a:t>
            </a:r>
          </a:p>
          <a:p>
            <a:r>
              <a:rPr lang="en-US" dirty="0"/>
              <a:t>Aim: reliability diagrams close to diagonal and narrow prediction intervals</a:t>
            </a:r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64FB3AD5-17A0-490E-2A29-96676CF6A3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2082671"/>
              </p:ext>
            </p:extLst>
          </p:nvPr>
        </p:nvGraphicFramePr>
        <p:xfrm>
          <a:off x="6189408" y="1690688"/>
          <a:ext cx="560832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23F12CFE-3280-D206-9724-E662087EFA2F}"/>
              </a:ext>
            </a:extLst>
          </p:cNvPr>
          <p:cNvSpPr/>
          <p:nvPr/>
        </p:nvSpPr>
        <p:spPr>
          <a:xfrm>
            <a:off x="6189408" y="4705752"/>
            <a:ext cx="560832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0A2342"/>
                </a:solidFill>
              </a:rPr>
              <a:t>Reliability diagram</a:t>
            </a:r>
            <a:endParaRPr lang="en-US" sz="1067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77822-C8CD-9E70-D67D-40EFBC55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932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91F6-5030-A6B2-F910-36C692E13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Brier 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0C8A3F-8063-0A3F-D10F-0AF9E2D6D1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245839" cy="4149290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Measures squared error between predicted probabilities and outcomes for </a:t>
                </a:r>
                <a:r>
                  <a:rPr lang="en-US" b="1" dirty="0"/>
                  <a:t>binary/multiclass </a:t>
                </a:r>
                <a:r>
                  <a:rPr lang="en-US" dirty="0"/>
                  <a:t>events</a:t>
                </a:r>
              </a:p>
              <a:p>
                <a:r>
                  <a:rPr lang="en-US" dirty="0"/>
                  <a:t>For a forecast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and outcome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IE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IE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E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E" b="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IE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E" i="1" dirty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IE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IE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IE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E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IE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  <m:sup>
                        <m:r>
                          <a:rPr lang="en-IE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Mathematically identical to Mean Square Error</a:t>
                </a:r>
              </a:p>
              <a:p>
                <a:r>
                  <a:rPr lang="en-US" dirty="0"/>
                  <a:t>Sometimes term in sum expressed differently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E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IE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E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E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Mathematically very similar but slightly different range</a:t>
                </a:r>
              </a:p>
              <a:p>
                <a:r>
                  <a:rPr lang="en-US" dirty="0">
                    <a:solidFill>
                      <a:srgbClr val="009749"/>
                    </a:solidFill>
                  </a:rPr>
                  <a:t>Example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0C8A3F-8063-0A3F-D10F-0AF9E2D6D1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245839" cy="4149290"/>
              </a:xfrm>
              <a:blipFill>
                <a:blip r:embed="rId3"/>
                <a:stretch>
                  <a:fillRect l="-1231" t="-21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A73973-9450-63B5-1E6E-96E4725F3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809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E7EF1-36CC-A06D-6C24-A10F55CBC0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7ED59A-E32F-BF5D-79BF-AFB3A95A39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C430-45C8-6BFC-56E1-3D819BB0A1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7</a:t>
            </a:fld>
            <a:endParaRPr lang="en-US"/>
          </a:p>
        </p:txBody>
      </p:sp>
      <p:pic>
        <p:nvPicPr>
          <p:cNvPr id="6" name="slide.url=https://www.polleverywhere.com/multiple_choice_polls/vd3UrKUYILga0TJnv0kQ2?state=opened&amp;flow=Default&amp;onscreen=persist">
            <a:extLst>
              <a:ext uri="{FF2B5EF4-FFF2-40B4-BE49-F238E27FC236}">
                <a16:creationId xmlns:a16="http://schemas.microsoft.com/office/drawing/2014/main" id="{67C6EC3F-39CB-A54B-5E46-86AB5C08AF5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725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1E7D-15B6-57AF-71D7-9E03A57B8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Logarithmic 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54AF01-B9A2-E47E-9CBC-245EDDDEE3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518816" cy="414929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Evaluates the (negative) log likelihood of the observation under the predicted distribution</a:t>
                </a:r>
              </a:p>
              <a:p>
                <a:r>
                  <a:rPr lang="en-US" dirty="0"/>
                  <a:t>For a density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),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𝐿𝑜𝑔𝑆𝑐𝑜𝑟𝑒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−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𝑙𝑜𝑔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Sensitive to tail probabilities; encourages accurate distribution tails</a:t>
                </a:r>
              </a:p>
              <a:p>
                <a:r>
                  <a:rPr lang="en-US" dirty="0">
                    <a:solidFill>
                      <a:srgbClr val="009749"/>
                    </a:solidFill>
                  </a:rPr>
                  <a:t>Example: normal distribution with mean </a:t>
                </a:r>
                <a14:m>
                  <m:oMath xmlns:m="http://schemas.openxmlformats.org/officeDocument/2006/math">
                    <m:r>
                      <a:rPr lang="en-IE" b="0" i="1" dirty="0" smtClean="0">
                        <a:solidFill>
                          <a:srgbClr val="009749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>
                    <a:solidFill>
                      <a:srgbClr val="009749"/>
                    </a:solidFill>
                  </a:rPr>
                  <a:t> and </a:t>
                </a:r>
                <a:r>
                  <a:rPr lang="en-US" dirty="0" err="1">
                    <a:solidFill>
                      <a:srgbClr val="009749"/>
                    </a:solidFill>
                  </a:rPr>
                  <a:t>sd</a:t>
                </a:r>
                <a:r>
                  <a:rPr lang="en-US" dirty="0">
                    <a:solidFill>
                      <a:srgbClr val="009749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E" b="0" i="1" dirty="0" smtClean="0">
                        <a:solidFill>
                          <a:srgbClr val="009749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US" dirty="0">
                  <a:solidFill>
                    <a:srgbClr val="009749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54AF01-B9A2-E47E-9CBC-245EDDDEE3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518816" cy="4149290"/>
              </a:xfrm>
              <a:blipFill>
                <a:blip r:embed="rId3"/>
                <a:stretch>
                  <a:fillRect l="-1518" t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323943-2415-5560-74B2-9A8B3F84E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48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06BC0-CDEC-9F7B-3937-9F7BB213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ranked probability score (CRPS)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8044B2-7082-B711-8A37-1378A3E86F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348602" cy="414929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Generalises the MAE to probabilistic forecasts; widely used in meteorology</a:t>
                </a:r>
              </a:p>
              <a:p>
                <a:r>
                  <a:rPr lang="en-US" dirty="0"/>
                  <a:t>Defined for forecast CDF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dirty="0"/>
                  <a:t> and observation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𝐶𝑅𝑃𝑆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) = ∫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i="1" dirty="0"/>
                  <a:t>Heaviside step function </a:t>
                </a:r>
                <a:r>
                  <a:rPr lang="en-US" dirty="0"/>
                  <a:t>(or the unit step function). Equals 0 if argument is negative or 1 if positive</a:t>
                </a:r>
              </a:p>
              <a:p>
                <a:r>
                  <a:rPr lang="en-US" dirty="0"/>
                  <a:t>Available in </a:t>
                </a:r>
                <a:r>
                  <a:rPr lang="en-US" dirty="0">
                    <a:solidFill>
                      <a:srgbClr val="009749"/>
                    </a:solidFill>
                  </a:rPr>
                  <a:t>closed form </a:t>
                </a:r>
                <a:r>
                  <a:rPr lang="en-US" dirty="0"/>
                  <a:t>for the normal distribution</a:t>
                </a:r>
              </a:p>
              <a:p>
                <a:r>
                  <a:rPr lang="en-US" dirty="0">
                    <a:solidFill>
                      <a:srgbClr val="009749"/>
                    </a:solidFill>
                  </a:rPr>
                  <a:t>But also pretty easy for forecast ensemble approaches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8044B2-7082-B711-8A37-1378A3E86F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348602" cy="4149290"/>
              </a:xfrm>
              <a:blipFill>
                <a:blip r:embed="rId3"/>
                <a:stretch>
                  <a:fillRect l="-1368" t="-3354" r="-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2C590-7A05-6231-3D96-96990D33B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361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A49FE-EF90-3053-3A08-4678306235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1CF4D-CEC6-CA99-82A8-F3F614032F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87DC9-AA02-BA08-7377-62AEB3742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10</a:t>
            </a:fld>
            <a:endParaRPr lang="en-US"/>
          </a:p>
        </p:txBody>
      </p:sp>
      <p:pic>
        <p:nvPicPr>
          <p:cNvPr id="6" name="slide.url=https://www.polleverywhere.com/multiple_choice_polls/P3B4HihRUR32bagwfF4v6?state=opened&amp;flow=Default&amp;onscreen=persist">
            <a:extLst>
              <a:ext uri="{FF2B5EF4-FFF2-40B4-BE49-F238E27FC236}">
                <a16:creationId xmlns:a16="http://schemas.microsoft.com/office/drawing/2014/main" id="{6C21136E-A004-C727-B08D-44AFD1BA02B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309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96095-CD8A-4D90-90FC-FA4C837E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Probabilistic Output Layers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2E4312-FB78-2B38-8E70-759BE6ABE7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Use a proper scoring rule as the loss function</a:t>
                </a:r>
              </a:p>
              <a:p>
                <a:r>
                  <a:rPr lang="en-US" dirty="0"/>
                  <a:t>For Gaussian outputs: the NN outputs e.g.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𝑠𝑜𝑓𝑡𝑝𝑙𝑢𝑠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so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E" i="1" dirty="0">
                        <a:latin typeface="Cambria Math" panose="02040503050406030204" pitchFamily="18" charset="0"/>
                      </a:rPr>
                      <m:t>(1+</m:t>
                    </m:r>
                    <m:sSup>
                      <m:sSupPr>
                        <m:ctrlPr>
                          <a:rPr lang="en-IE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E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acc>
                          <m:accPr>
                            <m:chr m:val="̂"/>
                            <m:ctrlPr>
                              <a:rPr lang="en-IE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E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sup>
                    </m:sSup>
                    <m:r>
                      <a:rPr lang="en-IE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Negative log-likelihood (NLL) loss =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0.5 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E" b="0" i="1" dirty="0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num>
                              <m:den>
                                <m:r>
                                  <a:rPr lang="en-IE" b="0" i="1" dirty="0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𝑙𝑜𝑔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𝑐𝑜𝑛𝑠𝑡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CRPS loss can be computed in closed form for Gaussian distributions</a:t>
                </a:r>
              </a:p>
              <a:p>
                <a:r>
                  <a:rPr lang="en-US" dirty="0">
                    <a:solidFill>
                      <a:srgbClr val="009749"/>
                    </a:solidFill>
                  </a:rPr>
                  <a:t>Go through forward pass on the board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2E4312-FB78-2B38-8E70-759BE6ABE7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68" t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85E25-64A7-C03B-AE84-49713C566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68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CEBB4-D6E4-BBDA-3C9E-C93B1CB59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forecasting in </a:t>
            </a:r>
            <a:r>
              <a:rPr lang="en-US" dirty="0" err="1"/>
              <a:t>PyTorch</a:t>
            </a:r>
            <a:endParaRPr lang="en-I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CF8011-6CF1-7DDB-E338-1EA4EEBC57A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1" y="1825625"/>
                <a:ext cx="2792104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Very simple to implement</a:t>
                </a:r>
              </a:p>
              <a:p>
                <a:r>
                  <a:rPr lang="en-US" dirty="0"/>
                  <a:t>Just have e.g. two outputs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) instead of one</a:t>
                </a:r>
              </a:p>
              <a:p>
                <a:r>
                  <a:rPr lang="en-US" dirty="0"/>
                  <a:t>…and a different loss function which includes them both…</a:t>
                </a:r>
                <a:endParaRPr lang="en-I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CF8011-6CF1-7DDB-E338-1EA4EEBC57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1" y="1825625"/>
                <a:ext cx="2792104" cy="4351338"/>
              </a:xfrm>
              <a:blipFill>
                <a:blip r:embed="rId3"/>
                <a:stretch>
                  <a:fillRect l="-4072" t="-2326" r="-6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F69071-AE05-134B-3FEC-02C9CBC3E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80430" y="1825625"/>
            <a:ext cx="7573370" cy="435133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TinyProbNN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nn.Module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__(self):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super().__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self.h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nn.Linear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(1, 1)      # one hidden neuron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self.out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nn.Linear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(1, 2)    # [mu,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raw_sigma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forward(self, x):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h =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F.relu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self.h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(x))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mu,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raw_sigma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self.out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(h).chunk(2, dim=1)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# ensure positivity;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softplus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is numerically stable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sigma =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F.softplus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raw_sigma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+ 1e-6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mu, sigma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98D46E-DCA3-0456-CE63-BC2669B9E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701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B07D56D-632A-863F-7B29-113A6FAEF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 err="1"/>
              <a:t>PyTorch</a:t>
            </a:r>
            <a:r>
              <a:rPr lang="en-IE" dirty="0"/>
              <a:t> part 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878E94-9154-78EE-66FC-D7EC9C87D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731991" cy="41492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gaussian_nll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(y, mu, sigma):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# NLL = 0.5*log(2</a:t>
            </a:r>
            <a:r>
              <a:rPr lang="el-G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πσ^2) + (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y-</a:t>
            </a:r>
            <a:r>
              <a:rPr lang="el-G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μ)^2 / (2σ^2)</a:t>
            </a:r>
          </a:p>
          <a:p>
            <a:pPr marL="0" indent="0">
              <a:buNone/>
            </a:pPr>
            <a:r>
              <a:rPr lang="el-G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return 0.5*torch.log(2*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math.pi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*sigma**2) + 0.5*((y - mu)**2)/(sigma**2)</a:t>
            </a:r>
          </a:p>
          <a:p>
            <a:pPr marL="0" indent="0">
              <a:buNone/>
            </a:pPr>
            <a:endParaRPr lang="en-IE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 epoch in range(1000):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mu, sigma = model(x)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loss =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gaussian_nll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(y, mu, sigma).mean()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opt.zero_grad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loss.backward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IE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opt.step</a:t>
            </a:r>
            <a:r>
              <a:rPr lang="en-IE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IE" sz="16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8F041-01E2-1774-4DD7-82EF85A01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503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C7630-51FB-9C53-1F4C-610DAC825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probabilistic forecasting to other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91E03-A694-81CD-EB9C-4B2CB5683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348602" cy="4149290"/>
          </a:xfrm>
        </p:spPr>
        <p:txBody>
          <a:bodyPr>
            <a:normAutofit/>
          </a:bodyPr>
          <a:lstStyle/>
          <a:p>
            <a:r>
              <a:rPr lang="en-US" dirty="0"/>
              <a:t>We can use this with LSTMs or Transformers to produce probabilistic forecasts of the next time step</a:t>
            </a:r>
          </a:p>
          <a:p>
            <a:r>
              <a:rPr lang="en-US" dirty="0"/>
              <a:t>Just add the extra layers to the head and adjust the loss function to a proper scoring rule</a:t>
            </a:r>
          </a:p>
          <a:p>
            <a:r>
              <a:rPr lang="en-US" dirty="0"/>
              <a:t>Be sure to check that your output makes sense</a:t>
            </a:r>
          </a:p>
          <a:p>
            <a:r>
              <a:rPr lang="en-US" dirty="0"/>
              <a:t>Can be applied to all the other models we have met (and many more that we haven’t)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0660E-81FE-1F95-357F-D7BDB2A24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986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FF6CB-15F9-CE74-AE04-C1F636413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77196-E6DE-84CE-6AE0-841646F5E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simple ANN with </a:t>
            </a:r>
            <a:r>
              <a:rPr lang="en-US" dirty="0" err="1"/>
              <a:t>PyTorch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4912427-4F54-7049-AD18-CDD650418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67345" y="1825625"/>
            <a:ext cx="6690372" cy="41497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1C2EB-F6BA-7E78-DD62-234BA76CB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99274A-9F6A-CA0F-90DC-997101F9FF2B}"/>
              </a:ext>
            </a:extLst>
          </p:cNvPr>
          <p:cNvSpPr txBox="1"/>
          <p:nvPr/>
        </p:nvSpPr>
        <p:spPr>
          <a:xfrm>
            <a:off x="838200" y="5889009"/>
            <a:ext cx="7753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00427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via</a:t>
            </a:r>
            <a:r>
              <a:rPr lang="en-IE" dirty="0"/>
              <a:t> </a:t>
            </a:r>
            <a:r>
              <a:rPr lang="en-I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Super_simple_probabilistic_ANN.ipynb</a:t>
            </a:r>
            <a:endParaRPr lang="en-I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782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4E401-C542-BB6E-832B-E6D07406B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AB04D-F495-0692-DFEB-8D11A453B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Pytorch</a:t>
            </a:r>
            <a:r>
              <a:rPr lang="en-US" dirty="0"/>
              <a:t> results from CRPS fit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500C028-9FE2-65D5-DBD3-FB091E558A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61787" y="1825625"/>
            <a:ext cx="6501488" cy="41497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6A157-5AFE-34AB-EC95-A86DDB624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106920-2D3C-5CAE-CC38-37526D9F10B0}"/>
              </a:ext>
            </a:extLst>
          </p:cNvPr>
          <p:cNvSpPr txBox="1"/>
          <p:nvPr/>
        </p:nvSpPr>
        <p:spPr>
          <a:xfrm>
            <a:off x="838200" y="5889009"/>
            <a:ext cx="7753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00427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via </a:t>
            </a:r>
            <a:r>
              <a:rPr lang="en-US" dirty="0" err="1">
                <a:solidFill>
                  <a:srgbClr val="00427A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Super_simple_CRPS_ANN.ipynb</a:t>
            </a:r>
            <a:endParaRPr lang="en-I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326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B5092-BFE8-312F-311F-8F243D563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The Probability Integral Transform (PIT) Histogram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92819D-6B35-0582-0E32-81DBAADA6E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IE" dirty="0"/>
                  <a:t>For each case compute </a:t>
                </a:r>
                <a14:m>
                  <m:oMath xmlns:m="http://schemas.openxmlformats.org/officeDocument/2006/math">
                    <m:r>
                      <a:rPr lang="en-IE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m:rPr>
                            <m:nor/>
                          </m:rPr>
                          <a:rPr lang="en-IE" i="1"/>
                          <m:t>forecast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ar-AE" dirty="0"/>
                  <a:t>. </a:t>
                </a:r>
                <a:r>
                  <a:rPr lang="en-IE" dirty="0"/>
                  <a:t>If forecasts are correctly calibrated, </a:t>
                </a:r>
                <a14:m>
                  <m:oMath xmlns:m="http://schemas.openxmlformats.org/officeDocument/2006/math">
                    <m:r>
                      <a:rPr lang="en-IE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E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nor/>
                      </m:rPr>
                      <a:rPr lang="en-IE" i="1"/>
                      <m:t>U</m:t>
                    </m:r>
                    <m:r>
                      <a:rPr lang="en-IE" b="0" i="1" smtClean="0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ar-AE" dirty="0"/>
                  <a:t>→ </a:t>
                </a:r>
                <a:r>
                  <a:rPr lang="en-IE" dirty="0"/>
                  <a:t>histogram should be flat</a:t>
                </a:r>
              </a:p>
              <a:p>
                <a:r>
                  <a:rPr lang="en-US" dirty="0"/>
                  <a:t>Look for:</a:t>
                </a:r>
              </a:p>
              <a:p>
                <a:pPr lvl="1"/>
                <a:r>
                  <a:rPr lang="en-US" dirty="0"/>
                  <a:t>U-shape: under-dispersed (intervals too narrow)</a:t>
                </a:r>
              </a:p>
              <a:p>
                <a:pPr lvl="1"/>
                <a:r>
                  <a:rPr lang="en-US" dirty="0"/>
                  <a:t>Hump: over-dispersed (intervals too wide)</a:t>
                </a:r>
              </a:p>
              <a:p>
                <a:pPr lvl="1"/>
                <a:r>
                  <a:rPr lang="en-US" dirty="0"/>
                  <a:t>Left/Right skew: negative/positive bias</a:t>
                </a:r>
              </a:p>
              <a:p>
                <a:pPr lvl="1"/>
                <a:r>
                  <a:rPr lang="en-US" dirty="0"/>
                  <a:t>Spikes at 0 or 1: support/tails mis-specified</a:t>
                </a:r>
              </a:p>
              <a:p>
                <a:pPr lvl="1"/>
                <a:r>
                  <a:rPr lang="en-US" b="1" dirty="0"/>
                  <a:t>Flat is good!</a:t>
                </a:r>
              </a:p>
              <a:p>
                <a:r>
                  <a:rPr lang="en-US" dirty="0"/>
                  <a:t>Checks calibration across the full CDF; complements single-number scores like CRPS/NLL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92819D-6B35-0582-0E32-81DBAADA6E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6" t="-1829" r="-912" b="-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86080-F92F-2862-3A8F-88D26A2AC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085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8FE05-4C35-37C5-8BE9-493D09726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72418-E6E9-02CD-B729-AD0ECCD06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The Probability Integral Transform (PIT) Histogram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5A2E78-123A-93AE-D374-284F797602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IE" dirty="0"/>
                  <a:t>For an ensemble of size </a:t>
                </a:r>
                <a14:m>
                  <m:oMath xmlns:m="http://schemas.openxmlformats.org/officeDocument/2006/math">
                    <m:r>
                      <a:rPr lang="en-IE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IE" dirty="0"/>
                  <a:t> and an observation </a:t>
                </a:r>
                <a14:m>
                  <m:oMath xmlns:m="http://schemas.openxmlformats.org/officeDocument/2006/math">
                    <m:r>
                      <a:rPr lang="en-IE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E" dirty="0"/>
                  <a:t>, we follow these steps: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IE" dirty="0"/>
                  <a:t>Sort the ensemble members in ascending order: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E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E" i="1" dirty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I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E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&lt;…</m:t>
                    </m:r>
                    <m:r>
                      <a:rPr lang="en-IE" i="1" dirty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IE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E" i="1" dirty="0" err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endParaRPr lang="en-IE" dirty="0"/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IE" dirty="0"/>
                  <a:t>Determine the rank </a:t>
                </a:r>
                <a14:m>
                  <m:oMath xmlns:m="http://schemas.openxmlformats.org/officeDocument/2006/math">
                    <m:r>
                      <a:rPr lang="en-IE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IE" dirty="0"/>
                  <a:t> of the observation </a:t>
                </a:r>
                <a14:m>
                  <m:oMath xmlns:m="http://schemas.openxmlformats.org/officeDocument/2006/math">
                    <m:r>
                      <a:rPr lang="en-IE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E" dirty="0"/>
                  <a:t> within this sorted list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IE" dirty="0"/>
                  <a:t>If </a:t>
                </a:r>
                <a14:m>
                  <m:oMath xmlns:m="http://schemas.openxmlformats.org/officeDocument/2006/math">
                    <m:r>
                      <a:rPr lang="en-IE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E" dirty="0"/>
                  <a:t> is smaller than all members, </a:t>
                </a:r>
                <a14:m>
                  <m:oMath xmlns:m="http://schemas.openxmlformats.org/officeDocument/2006/math">
                    <m:r>
                      <a:rPr lang="en-IE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E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E" dirty="0"/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IE" dirty="0"/>
                  <a:t>If </a:t>
                </a:r>
                <a14:m>
                  <m:oMath xmlns:m="http://schemas.openxmlformats.org/officeDocument/2006/math">
                    <m:r>
                      <a:rPr lang="en-IE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E" dirty="0"/>
                  <a:t> is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E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E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E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IE" dirty="0"/>
                  <a:t>, </a:t>
                </a:r>
                <a14:m>
                  <m:oMath xmlns:m="http://schemas.openxmlformats.org/officeDocument/2006/math">
                    <m:r>
                      <a:rPr lang="en-IE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E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E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E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E" dirty="0"/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IE" dirty="0"/>
                  <a:t>If </a:t>
                </a:r>
                <a14:m>
                  <m:oMath xmlns:m="http://schemas.openxmlformats.org/officeDocument/2006/math">
                    <m:r>
                      <a:rPr lang="en-IE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E" dirty="0"/>
                  <a:t> is larger than all members, </a:t>
                </a:r>
                <a14:m>
                  <m:oMath xmlns:m="http://schemas.openxmlformats.org/officeDocument/2006/math">
                    <m:r>
                      <a:rPr lang="en-IE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E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E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E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IE" dirty="0"/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IE" dirty="0"/>
                  <a:t>(Optional) Standardise the rank to the interval </a:t>
                </a:r>
                <a14:m>
                  <m:oMath xmlns:m="http://schemas.openxmlformats.org/officeDocument/2006/math">
                    <m:r>
                      <a:rPr lang="en-IE" i="1" dirty="0" smtClean="0">
                        <a:latin typeface="Cambria Math" panose="02040503050406030204" pitchFamily="18" charset="0"/>
                      </a:rPr>
                      <m:t>[0, 1]</m:t>
                    </m:r>
                  </m:oMath>
                </a14:m>
                <a:r>
                  <a:rPr lang="en-IE" dirty="0"/>
                  <a:t> for the PIT value</a:t>
                </a:r>
              </a:p>
              <a:p>
                <a:r>
                  <a:rPr lang="en-IE" dirty="0">
                    <a:solidFill>
                      <a:srgbClr val="00427A"/>
                    </a:solidFill>
                  </a:rPr>
                  <a:t>Repeat for all </a:t>
                </a:r>
                <a14:m>
                  <m:oMath xmlns:m="http://schemas.openxmlformats.org/officeDocument/2006/math">
                    <m:r>
                      <a:rPr lang="en-IE" i="1" dirty="0" smtClean="0">
                        <a:solidFill>
                          <a:srgbClr val="00427A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IE" dirty="0">
                  <a:solidFill>
                    <a:srgbClr val="00427A"/>
                  </a:solidFill>
                </a:endParaRPr>
              </a:p>
              <a:p>
                <a:r>
                  <a:rPr lang="en-IE" dirty="0">
                    <a:solidFill>
                      <a:srgbClr val="009749"/>
                    </a:solidFill>
                  </a:rPr>
                  <a:t>Numerical example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5A2E78-123A-93AE-D374-284F797602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6" t="-3659" r="-1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2E251-1E1C-232F-68AD-9A185B4AB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971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AFDFF-5D40-E83A-E71B-D6A4BCC06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PIT for our data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D85B9EB-0B81-5C6C-E0D3-EFE0F787F99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1903760"/>
            <a:ext cx="5181600" cy="419506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591E77F-05A2-BF0E-E5CD-C4D440E1B17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E" dirty="0"/>
              <a:t>A bit skewed</a:t>
            </a:r>
          </a:p>
          <a:p>
            <a:r>
              <a:rPr lang="en-IE" dirty="0"/>
              <a:t>Might need a richer model?</a:t>
            </a:r>
          </a:p>
          <a:p>
            <a:r>
              <a:rPr lang="en-IE" dirty="0"/>
              <a:t>Increase the number of hidden layers or the complexity of the NN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BE08F-F32B-4543-0DEF-6F88C0DE3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587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01CF0-CBA6-526A-EEE5-30E8D8010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12A90-F05B-F8D2-896B-5307C11A3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Mixture Density Networks (MDN): output mixture weights, means &amp; variances</a:t>
            </a:r>
          </a:p>
          <a:p>
            <a:r>
              <a:rPr lang="en-US" dirty="0"/>
              <a:t>Quantile Regression Networks: output specific quantiles using pinball loss</a:t>
            </a:r>
          </a:p>
          <a:p>
            <a:r>
              <a:rPr lang="en-US" dirty="0"/>
              <a:t>Generative models (GANs/VAEs): sample entire distributions</a:t>
            </a:r>
          </a:p>
          <a:p>
            <a:r>
              <a:rPr lang="en-US" dirty="0"/>
              <a:t>Diffusion models: sample structured output from random inputs</a:t>
            </a:r>
          </a:p>
          <a:p>
            <a:r>
              <a:rPr lang="en-US" dirty="0"/>
              <a:t>Bayesian neural networks: place priors over weights to capture uncertainty</a:t>
            </a:r>
          </a:p>
          <a:p>
            <a:r>
              <a:rPr lang="en-US" dirty="0"/>
              <a:t>Prior data fitted networks (PFNs): use transformers to fit probabilistic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5B1DA-8E7D-C708-6434-7A1FD16F1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4747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58BD6-BE71-2202-6A4A-4A98E856D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averaging and ensembles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2633B-84D3-B320-B3AE-F6C605939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63497" cy="414929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Averaging multiple models can improve calibration and sharpness</a:t>
            </a:r>
          </a:p>
          <a:p>
            <a:r>
              <a:rPr lang="en-US" dirty="0"/>
              <a:t>Use ensembles of CNNs/LSTMs trained with different </a:t>
            </a:r>
            <a:r>
              <a:rPr lang="en-US" dirty="0" err="1"/>
              <a:t>initialisations</a:t>
            </a:r>
            <a:endParaRPr lang="en-US" dirty="0"/>
          </a:p>
          <a:p>
            <a:r>
              <a:rPr lang="en-US" dirty="0"/>
              <a:t>Alternatively combine models (including deterministic models) with probabilistic postprocessing (e.g., quantile regression)</a:t>
            </a:r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6B4805CC-2862-F481-4ADB-1B38E94518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2911812"/>
              </p:ext>
            </p:extLst>
          </p:nvPr>
        </p:nvGraphicFramePr>
        <p:xfrm>
          <a:off x="6711008" y="1825625"/>
          <a:ext cx="4389120" cy="2682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>
            <a:extLst>
              <a:ext uri="{FF2B5EF4-FFF2-40B4-BE49-F238E27FC236}">
                <a16:creationId xmlns:a16="http://schemas.microsoft.com/office/drawing/2014/main" id="{6BCA318C-09B0-160A-2546-7399723ECA9D}"/>
              </a:ext>
            </a:extLst>
          </p:cNvPr>
          <p:cNvSpPr/>
          <p:nvPr/>
        </p:nvSpPr>
        <p:spPr>
          <a:xfrm>
            <a:off x="6711008" y="4497051"/>
            <a:ext cx="4389120" cy="4876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0A2342"/>
                </a:solidFill>
              </a:rPr>
              <a:t>Average CRPS (lower is better)</a:t>
            </a:r>
            <a:endParaRPr lang="en-US" sz="1067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59BC5-143A-52F7-290C-331B739DC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14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D10AE-68F4-B105-D1DD-3C2B58FA4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probabilistic forecasting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6D03E-CB00-C601-62A6-CE6F8D537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Heavy tails and extreme events are difficult to model accurately</a:t>
            </a:r>
          </a:p>
          <a:p>
            <a:r>
              <a:rPr lang="en-US" dirty="0"/>
              <a:t>Probabilistic calibration may fail under distributional shift</a:t>
            </a:r>
          </a:p>
          <a:p>
            <a:r>
              <a:rPr lang="en-US" dirty="0"/>
              <a:t>Large computational cost of training CRPS/NLL losses for large models</a:t>
            </a:r>
          </a:p>
          <a:p>
            <a:r>
              <a:rPr lang="en-US" dirty="0"/>
              <a:t>Can be harder to interpret and communicate probabilistic forecasts to stakeholders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998A9-B427-E3F8-443E-397AA8B30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761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E3C7-E02A-F443-93FF-99B0D128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1495C-38DD-F9F0-478E-D16C6E4C6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Probabilistic forecasts quantify uncertainty and enable risk‑aware decisions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Proper scoring rules (Brier, Log, CRPS) provide objective loss functions that encourage calibration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CNNs and LSTMs can be extended to output distribution parameters and trained with these scoring rules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Calibration diagnostics (reliability diagrams, PIT histograms) are essential to evaluate forecasts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Ensembles, proper hyperparameter tuning, and advanced models further improve probabilistic forecasts</a:t>
            </a:r>
          </a:p>
        </p:txBody>
      </p:sp>
    </p:spTree>
    <p:extLst>
      <p:ext uri="{BB962C8B-B14F-4D97-AF65-F5344CB8AC3E}">
        <p14:creationId xmlns:p14="http://schemas.microsoft.com/office/powerpoint/2010/main" val="29023752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96EB7C-273C-1DEF-37B2-B8997301D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we haven’t covered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08FEB1-5BC9-76C5-B7F7-9B61C65D4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348602" cy="414929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Reinforcement learning: Learns policies via trial and error to potentially change how the model produces forecasts</a:t>
            </a:r>
          </a:p>
          <a:p>
            <a:r>
              <a:rPr lang="en-US" dirty="0"/>
              <a:t>Diffusion models: a generative approach that maps noise to e.g. realistic atmospheric states; enable ensemble generation, downscaling, and calibrated post-processing</a:t>
            </a:r>
          </a:p>
          <a:p>
            <a:r>
              <a:rPr lang="en-US" dirty="0"/>
              <a:t>Transfer learning: Leverages pretrained models or neighboring regions to boost weather forecasts when e.g. station data are scarce</a:t>
            </a:r>
          </a:p>
          <a:p>
            <a:r>
              <a:rPr lang="en-US" dirty="0"/>
              <a:t>Extremal NNs: Changing the loss function to match either univariate or (even better) multivariate extreme value models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19983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imsir_template_2" id="{885FC850-5704-7C40-B0D5-B2BE1CAB90DE}" vid="{17F42F5C-6F7C-FD4F-918A-67665F080F4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1469</TotalTime>
  <Words>1758</Words>
  <Application>Microsoft Macintosh PowerPoint</Application>
  <PresentationFormat>Widescreen</PresentationFormat>
  <Paragraphs>203</Paragraphs>
  <Slides>24</Slides>
  <Notes>23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Calibri</vt:lpstr>
      <vt:lpstr>Cambria Math</vt:lpstr>
      <vt:lpstr>Courier New</vt:lpstr>
      <vt:lpstr>Office Theme</vt:lpstr>
      <vt:lpstr>Class 8: Probabilistic weather forecasting with NNs via scoring rules</vt:lpstr>
      <vt:lpstr>Outline</vt:lpstr>
      <vt:lpstr>Motivation</vt:lpstr>
      <vt:lpstr>Proper scoring rules</vt:lpstr>
      <vt:lpstr>Calibration and sharpness</vt:lpstr>
      <vt:lpstr>Brier score</vt:lpstr>
      <vt:lpstr>PowerPoint Presentation</vt:lpstr>
      <vt:lpstr>Logarithmic score</vt:lpstr>
      <vt:lpstr>Continuous ranked probability score (CRPS)</vt:lpstr>
      <vt:lpstr>PowerPoint Presentation</vt:lpstr>
      <vt:lpstr>Probabilistic Output Layers</vt:lpstr>
      <vt:lpstr>Probabilistic forecasting in PyTorch</vt:lpstr>
      <vt:lpstr>PyTorch part 2</vt:lpstr>
      <vt:lpstr>Adding probabilistic forecasting to other models</vt:lpstr>
      <vt:lpstr>Example: simple ANN with PyTorch</vt:lpstr>
      <vt:lpstr>Pytorch results from CRPS fit</vt:lpstr>
      <vt:lpstr>The Probability Integral Transform (PIT) Histogram</vt:lpstr>
      <vt:lpstr>The Probability Integral Transform (PIT) Histogram</vt:lpstr>
      <vt:lpstr>The PIT for our data</vt:lpstr>
      <vt:lpstr>Other approaches</vt:lpstr>
      <vt:lpstr>Model averaging and ensembles</vt:lpstr>
      <vt:lpstr>Limitations of probabilistic forecasting</vt:lpstr>
      <vt:lpstr>Summary</vt:lpstr>
      <vt:lpstr>Topics we haven’t covered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Parnell</dc:creator>
  <cp:lastModifiedBy>Andrew Parnell</cp:lastModifiedBy>
  <cp:revision>127</cp:revision>
  <dcterms:created xsi:type="dcterms:W3CDTF">2025-09-24T09:34:21Z</dcterms:created>
  <dcterms:modified xsi:type="dcterms:W3CDTF">2026-03-02T11:40:12Z</dcterms:modified>
</cp:coreProperties>
</file>